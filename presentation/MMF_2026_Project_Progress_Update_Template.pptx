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71E031-FB84-471F-B90F-305205B68F89}">
  <a:tblStyle styleId="{B171E031-FB84-471F-B90F-305205B68F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30 seconds. State the project title, project number, and the single question the work is designed to answer. Replace every bracketed prompt before presenting.</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Explain the question in plain language, then identify the unit, universe, frequency, and sample. State clearly whether the slide shows motivation, a fixed design, or preliminary evidence.</a:t>
            </a:r>
            <a:endParaRPr/>
          </a:p>
        </p:txBody>
      </p:sp>
      <p:sp>
        <p:nvSpPr>
          <p:cNvPr id="29" name="Google Shape;2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Define the outcome, signal or exposure, comparison, sample, and main specification. Flag any proposed scientific change rather than silently implementing it.</a:t>
            </a:r>
            <a:endParaRPr/>
          </a:p>
        </p:txBody>
      </p:sp>
      <p:sp>
        <p:nvSpPr>
          <p:cNvPr id="50" name="Google Shape;5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Include all required data, not only the difficult fields. Distinguish a file that exists from a field that is ready for the intended design.</a:t>
            </a:r>
            <a:endParaRPr/>
          </a:p>
        </p:txBody>
      </p:sp>
      <p:sp>
        <p:nvSpPr>
          <p:cNvPr id="65" name="Google Shape;6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Cite exact dataset IDs or paths. Quantify the date and entity coverage, then state what preparation remains. Do not describe a present file as research-ready without validating it.</a:t>
            </a:r>
            <a:endParaRPr/>
          </a:p>
        </p:txBody>
      </p:sp>
      <p:sp>
        <p:nvSpPr>
          <p:cNvPr id="88" name="Google Shape;8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Present only planned non-intraday Bloomberg requests. Show the exact field mnemonics and identifiers. For intraday requirements, use the existing First Rate archive in the local intraday_data folder.</a:t>
            </a:r>
            <a:endParaRPr/>
          </a:p>
        </p:txBody>
      </p:sp>
      <p:sp>
        <p:nvSpPr>
          <p:cNvPr id="107" name="Google Shape;10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Show concrete evidence from the pilot or download. Do not expose usernames, passwords, API keys, or other credentials in screenshots or code.</a:t>
            </a:r>
            <a:endParaRPr/>
          </a:p>
        </p:txBody>
      </p:sp>
      <p:sp>
        <p:nvSpPr>
          <p:cNvPr id="125" name="Google Shape;125;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Replace the sample chart data. Explain the denominator, show coverage before and after retrieval, and identify any systematic gaps by field, date, or entity.</a:t>
            </a:r>
            <a:endParaRPr/>
          </a:p>
        </p:txBody>
      </p:sp>
      <p:sp>
        <p:nvSpPr>
          <p:cNvPr id="146" name="Google Shape;14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Show at least one concrete diagnostic from each relevant stage. Report how many observations and entities were lost and why.</a:t>
            </a:r>
            <a:endParaRPr/>
          </a:p>
        </p:txBody>
      </p:sp>
      <p:sp>
        <p:nvSpPr>
          <p:cNvPr id="163" name="Google Shape;16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Show the exact notebook or script paths and the last successful run. Demonstrate that outputs are regenerated from source data rather than manually edited.</a:t>
            </a:r>
            <a:endParaRPr/>
          </a:p>
        </p:txBody>
      </p:sp>
      <p:sp>
        <p:nvSpPr>
          <p:cNvPr id="203" name="Google Shape;20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one to two minutes. Use a figure exported by the current code. State the sample, units, specification, and uncertainty. Explain what the result does and does not establish.</a:t>
            </a:r>
            <a:endParaRPr/>
          </a:p>
        </p:txBody>
      </p:sp>
      <p:sp>
        <p:nvSpPr>
          <p:cNvPr id="234" name="Google Shape;2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Timing: about one minute. End with one clear request for feedback and three concrete actions for the next checkpoint. Each action should have an owner, date, and visible proof of completion.</a:t>
            </a:r>
            <a:endParaRPr/>
          </a:p>
        </p:txBody>
      </p:sp>
      <p:sp>
        <p:nvSpPr>
          <p:cNvPr id="251" name="Google Shape;25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this as an appendix or working ledger. Keep one row per source delivery or failed retrieval. The objective is to make every analytical input traceable to its original source and request parameters.</a:t>
            </a:r>
            <a:endParaRPr/>
          </a:p>
        </p:txBody>
      </p:sp>
      <p:sp>
        <p:nvSpPr>
          <p:cNvPr id="273" name="Google Shape;273;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A43"/>
        </a:solidFill>
      </p:bgPr>
    </p:bg>
    <p:spTree>
      <p:nvGrpSpPr>
        <p:cNvPr id="15" name="Shape 15"/>
        <p:cNvGrpSpPr/>
        <p:nvPr/>
      </p:nvGrpSpPr>
      <p:grpSpPr>
        <a:xfrm>
          <a:off x="0" y="0"/>
          <a:ext cx="0" cy="0"/>
          <a:chOff x="0" y="0"/>
          <a:chExt cx="0" cy="0"/>
        </a:xfrm>
      </p:grpSpPr>
      <p:sp>
        <p:nvSpPr>
          <p:cNvPr id="16" name="Google Shape;16;p3"/>
          <p:cNvSpPr/>
          <p:nvPr/>
        </p:nvSpPr>
        <p:spPr>
          <a:xfrm>
            <a:off x="0" y="0"/>
            <a:ext cx="17145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09600" y="876300"/>
            <a:ext cx="1104900" cy="571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09600" y="1200150"/>
            <a:ext cx="6096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A9DADD"/>
                </a:solidFill>
                <a:latin typeface="Arial"/>
                <a:ea typeface="Arial"/>
                <a:cs typeface="Arial"/>
                <a:sym typeface="Arial"/>
              </a:rPr>
              <a:t>MMF 1941   PROJECT PROGRESS UPDATE</a:t>
            </a:r>
            <a:endParaRPr/>
          </a:p>
        </p:txBody>
      </p:sp>
      <p:sp>
        <p:nvSpPr>
          <p:cNvPr id="19" name="Google Shape;19;p3"/>
          <p:cNvSpPr/>
          <p:nvPr/>
        </p:nvSpPr>
        <p:spPr>
          <a:xfrm>
            <a:off x="609600" y="1695450"/>
            <a:ext cx="9906000" cy="971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350">
                <a:solidFill>
                  <a:srgbClr val="FFFFFF"/>
                </a:solidFill>
                <a:latin typeface="Arial"/>
                <a:ea typeface="Arial"/>
                <a:cs typeface="Arial"/>
                <a:sym typeface="Arial"/>
              </a:rPr>
              <a:t>[Project title]</a:t>
            </a:r>
            <a:endParaRPr/>
          </a:p>
        </p:txBody>
      </p:sp>
      <p:sp>
        <p:nvSpPr>
          <p:cNvPr id="20" name="Google Shape;20;p3"/>
          <p:cNvSpPr/>
          <p:nvPr/>
        </p:nvSpPr>
        <p:spPr>
          <a:xfrm>
            <a:off x="647700" y="2838450"/>
            <a:ext cx="904875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D9E4EC"/>
                </a:solidFill>
                <a:latin typeface="Arial"/>
                <a:ea typeface="Arial"/>
                <a:cs typeface="Arial"/>
                <a:sym typeface="Arial"/>
              </a:rPr>
              <a:t>[One-sentence project question or objective]</a:t>
            </a:r>
            <a:endParaRPr/>
          </a:p>
        </p:txBody>
      </p:sp>
      <p:sp>
        <p:nvSpPr>
          <p:cNvPr id="21" name="Google Shape;21;p3"/>
          <p:cNvSpPr/>
          <p:nvPr/>
        </p:nvSpPr>
        <p:spPr>
          <a:xfrm>
            <a:off x="609600" y="3981450"/>
            <a:ext cx="10287000" cy="9525"/>
          </a:xfrm>
          <a:prstGeom prst="rect">
            <a:avLst/>
          </a:prstGeom>
          <a:solidFill>
            <a:srgbClr val="4966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609600" y="4305300"/>
            <a:ext cx="41910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FFFFFF"/>
                </a:solidFill>
                <a:latin typeface="Arial"/>
                <a:ea typeface="Arial"/>
                <a:cs typeface="Arial"/>
                <a:sym typeface="Arial"/>
              </a:rPr>
              <a:t>[Student name]</a:t>
            </a:r>
            <a:endParaRPr/>
          </a:p>
        </p:txBody>
      </p:sp>
      <p:sp>
        <p:nvSpPr>
          <p:cNvPr id="23" name="Google Shape;23;p3"/>
          <p:cNvSpPr/>
          <p:nvPr/>
        </p:nvSpPr>
        <p:spPr>
          <a:xfrm>
            <a:off x="609600" y="4810125"/>
            <a:ext cx="7620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D9E4EC"/>
                </a:solidFill>
                <a:latin typeface="Arial"/>
                <a:ea typeface="Arial"/>
                <a:cs typeface="Arial"/>
                <a:sym typeface="Arial"/>
              </a:rPr>
              <a:t>Project [1 or 2]      Proposal ID [____]      Checkpoint [__]</a:t>
            </a:r>
            <a:endParaRPr/>
          </a:p>
        </p:txBody>
      </p:sp>
      <p:sp>
        <p:nvSpPr>
          <p:cNvPr id="24" name="Google Shape;24;p3"/>
          <p:cNvSpPr/>
          <p:nvPr/>
        </p:nvSpPr>
        <p:spPr>
          <a:xfrm>
            <a:off x="609600" y="5257800"/>
            <a:ext cx="3429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A9DADD"/>
                </a:solidFill>
                <a:latin typeface="Arial"/>
                <a:ea typeface="Arial"/>
                <a:cs typeface="Arial"/>
                <a:sym typeface="Arial"/>
              </a:rPr>
              <a:t>[Presentation date]</a:t>
            </a:r>
            <a:endParaRPr/>
          </a:p>
        </p:txBody>
      </p:sp>
      <p:sp>
        <p:nvSpPr>
          <p:cNvPr id="25" name="Google Shape;25;p3"/>
          <p:cNvSpPr/>
          <p:nvPr/>
        </p:nvSpPr>
        <p:spPr>
          <a:xfrm>
            <a:off x="609600" y="6324600"/>
            <a:ext cx="5715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25">
                <a:solidFill>
                  <a:srgbClr val="A9BBC9"/>
                </a:solidFill>
                <a:latin typeface="Arial"/>
                <a:ea typeface="Arial"/>
                <a:cs typeface="Arial"/>
                <a:sym typeface="Arial"/>
              </a:rPr>
              <a:t>Replace every bracketed prompt before presenting.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30" name="Shape 30"/>
        <p:cNvGrpSpPr/>
        <p:nvPr/>
      </p:nvGrpSpPr>
      <p:grpSpPr>
        <a:xfrm>
          <a:off x="0" y="0"/>
          <a:ext cx="0" cy="0"/>
          <a:chOff x="0" y="0"/>
          <a:chExt cx="0" cy="0"/>
        </a:xfrm>
      </p:grpSpPr>
      <p:sp>
        <p:nvSpPr>
          <p:cNvPr id="31" name="Google Shape;31;p4"/>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PROJECT INTRODUCTION</a:t>
            </a:r>
            <a:endParaRPr/>
          </a:p>
        </p:txBody>
      </p:sp>
      <p:sp>
        <p:nvSpPr>
          <p:cNvPr id="33" name="Google Shape;33;p4"/>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project tests [core relationship] in [setting]</a:t>
            </a:r>
            <a:endParaRPr/>
          </a:p>
        </p:txBody>
      </p:sp>
      <p:sp>
        <p:nvSpPr>
          <p:cNvPr id="34" name="Google Shape;34;p4"/>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Introduce the research question before discussing data or code.</a:t>
            </a:r>
            <a:endParaRPr/>
          </a:p>
        </p:txBody>
      </p:sp>
      <p:sp>
        <p:nvSpPr>
          <p:cNvPr id="35" name="Google Shape;35;p4"/>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37" name="Google Shape;37;p4"/>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02</a:t>
            </a:r>
            <a:endParaRPr/>
          </a:p>
        </p:txBody>
      </p:sp>
      <p:sp>
        <p:nvSpPr>
          <p:cNvPr id="38" name="Google Shape;38;p4"/>
          <p:cNvSpPr/>
          <p:nvPr/>
        </p:nvSpPr>
        <p:spPr>
          <a:xfrm>
            <a:off x="609600" y="1971675"/>
            <a:ext cx="520065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609600" y="1676400"/>
            <a:ext cx="52006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RESEARCH QUESTION</a:t>
            </a:r>
            <a:endParaRPr/>
          </a:p>
        </p:txBody>
      </p:sp>
      <p:sp>
        <p:nvSpPr>
          <p:cNvPr id="40" name="Google Shape;40;p4"/>
          <p:cNvSpPr/>
          <p:nvPr/>
        </p:nvSpPr>
        <p:spPr>
          <a:xfrm>
            <a:off x="609600" y="2114550"/>
            <a:ext cx="5200650" cy="990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172B3A"/>
                </a:solidFill>
                <a:latin typeface="Arial"/>
                <a:ea typeface="Arial"/>
                <a:cs typeface="Arial"/>
                <a:sym typeface="Arial"/>
              </a:rPr>
              <a:t>[Write one precise, testable question. Identify the outcome, explanatory variable or treatment, population, and horizon.]</a:t>
            </a:r>
            <a:endParaRPr/>
          </a:p>
        </p:txBody>
      </p:sp>
      <p:sp>
        <p:nvSpPr>
          <p:cNvPr id="41" name="Google Shape;41;p4"/>
          <p:cNvSpPr/>
          <p:nvPr/>
        </p:nvSpPr>
        <p:spPr>
          <a:xfrm>
            <a:off x="609600" y="3724275"/>
            <a:ext cx="5200650" cy="19050"/>
          </a:xfrm>
          <a:prstGeom prst="rect">
            <a:avLst/>
          </a:prstGeom>
          <a:solidFill>
            <a:srgbClr val="246B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609600" y="3429000"/>
            <a:ext cx="52006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246BCE"/>
                </a:solidFill>
                <a:latin typeface="Arial"/>
                <a:ea typeface="Arial"/>
                <a:cs typeface="Arial"/>
                <a:sym typeface="Arial"/>
              </a:rPr>
              <a:t>EXPECTED CONTRIBUTION</a:t>
            </a:r>
            <a:endParaRPr/>
          </a:p>
        </p:txBody>
      </p:sp>
      <p:sp>
        <p:nvSpPr>
          <p:cNvPr id="43" name="Google Shape;43;p4"/>
          <p:cNvSpPr/>
          <p:nvPr/>
        </p:nvSpPr>
        <p:spPr>
          <a:xfrm>
            <a:off x="609600" y="3867150"/>
            <a:ext cx="520065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725">
                <a:solidFill>
                  <a:srgbClr val="172B3A"/>
                </a:solidFill>
                <a:latin typeface="Arial"/>
                <a:ea typeface="Arial"/>
                <a:cs typeface="Arial"/>
                <a:sym typeface="Arial"/>
              </a:rPr>
              <a:t>[Explain what is new: setting, data, measurement, mechanism, comparison, or validation. Keep this to two sentences.]</a:t>
            </a:r>
            <a:endParaRPr/>
          </a:p>
        </p:txBody>
      </p:sp>
      <p:graphicFrame>
        <p:nvGraphicFramePr>
          <p:cNvPr id="44" name="Google Shape;44;p4"/>
          <p:cNvGraphicFramePr/>
          <p:nvPr/>
        </p:nvGraphicFramePr>
        <p:xfrm>
          <a:off x="6286500" y="1695450"/>
          <a:ext cx="3000000" cy="3000000"/>
        </p:xfrm>
        <a:graphic>
          <a:graphicData uri="http://schemas.openxmlformats.org/drawingml/2006/table">
            <a:tbl>
              <a:tblPr>
                <a:noFill/>
                <a:tableStyleId>{B171E031-FB84-471F-B90F-305205B68F89}</a:tableStyleId>
              </a:tblPr>
              <a:tblGrid>
                <a:gridCol w="1809750"/>
                <a:gridCol w="3448050"/>
              </a:tblGrid>
              <a:tr h="487125">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Project field</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Replace with project-specific information</a:t>
                      </a:r>
                      <a:endParaRPr/>
                    </a:p>
                  </a:txBody>
                  <a:tcPr marT="57150" marB="57150" marR="76200" marL="76200" anchor="ctr">
                    <a:solidFill>
                      <a:srgbClr val="102A43"/>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Proposal ID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[ID]</a:t>
                      </a:r>
                      <a:endParaRPr/>
                    </a:p>
                  </a:txBody>
                  <a:tcPr marT="57150" marB="57150" marR="76200" marL="76200" anchor="ctr">
                    <a:solidFill>
                      <a:srgbClr val="FFFFFF"/>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Research area</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[Approved category]</a:t>
                      </a:r>
                      <a:endParaRPr/>
                    </a:p>
                  </a:txBody>
                  <a:tcPr marT="57150" marB="57150" marR="76200" marL="76200" anchor="ctr">
                    <a:solidFill>
                      <a:srgbClr val="F2F5F7"/>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Unit of observation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[Security-day, firm-quarter, event, ...]</a:t>
                      </a:r>
                      <a:endParaRPr/>
                    </a:p>
                  </a:txBody>
                  <a:tcPr marT="57150" marB="57150" marR="76200" marL="76200" anchor="ctr">
                    <a:solidFill>
                      <a:srgbClr val="FFFFFF"/>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Universe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[Markets, securities, firms, countries, ...]</a:t>
                      </a:r>
                      <a:endParaRPr/>
                    </a:p>
                  </a:txBody>
                  <a:tcPr marT="57150" marB="57150" marR="76200" marL="76200" anchor="ctr">
                    <a:solidFill>
                      <a:srgbClr val="F2F5F7"/>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Frequency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[Daily, monthly, quarterly, ...]</a:t>
                      </a:r>
                      <a:endParaRPr/>
                    </a:p>
                  </a:txBody>
                  <a:tcPr marT="57150" marB="57150" marR="76200" marL="76200" anchor="ctr">
                    <a:solidFill>
                      <a:srgbClr val="FFFFFF"/>
                    </a:solidFill>
                  </a:tcPr>
                </a:tc>
              </a:tr>
              <a:tr h="487125">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Sample window</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75"/>
                        <a:buFont typeface="Arial"/>
                        <a:buNone/>
                      </a:pPr>
                      <a:r>
                        <a:rPr b="0" lang="en-US" sz="1275" u="none" cap="none" strike="noStrike">
                          <a:solidFill>
                            <a:srgbClr val="172B3A"/>
                          </a:solidFill>
                          <a:latin typeface="Arial"/>
                          <a:ea typeface="Arial"/>
                          <a:cs typeface="Arial"/>
                          <a:sym typeface="Arial"/>
                        </a:rPr>
                        <a:t>[Start date to end date]</a:t>
                      </a:r>
                      <a:endParaRPr/>
                    </a:p>
                  </a:txBody>
                  <a:tcPr marT="57150" marB="57150" marR="76200" marL="76200" anchor="ctr">
                    <a:solidFill>
                      <a:srgbClr val="F2F5F7"/>
                    </a:solidFill>
                  </a:tcPr>
                </a:tc>
              </a:tr>
            </a:tbl>
          </a:graphicData>
        </a:graphic>
      </p:graphicFrame>
      <p:sp>
        <p:nvSpPr>
          <p:cNvPr id="45" name="Google Shape;45;p4"/>
          <p:cNvSpPr/>
          <p:nvPr/>
        </p:nvSpPr>
        <p:spPr>
          <a:xfrm>
            <a:off x="609600" y="5772150"/>
            <a:ext cx="57150" cy="400050"/>
          </a:xfrm>
          <a:prstGeom prst="rect">
            <a:avLst/>
          </a:prstGeom>
          <a:solidFill>
            <a:srgbClr val="C56A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781050" y="578167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Current claim status: [motivation only / design fixed / preliminary evidence]. Do not present a preliminary association as a finished finding.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51" name="Shape 51"/>
        <p:cNvGrpSpPr/>
        <p:nvPr/>
      </p:nvGrpSpPr>
      <p:grpSpPr>
        <a:xfrm>
          <a:off x="0" y="0"/>
          <a:ext cx="0" cy="0"/>
          <a:chOff x="0" y="0"/>
          <a:chExt cx="0" cy="0"/>
        </a:xfrm>
      </p:grpSpPr>
      <p:sp>
        <p:nvSpPr>
          <p:cNvPr id="52" name="Google Shape;52;p5"/>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RESEARCH DESIGN</a:t>
            </a:r>
            <a:endParaRPr/>
          </a:p>
        </p:txBody>
      </p:sp>
      <p:sp>
        <p:nvSpPr>
          <p:cNvPr id="54" name="Google Shape;54;p5"/>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question becomes a testable specification</a:t>
            </a:r>
            <a:endParaRPr/>
          </a:p>
        </p:txBody>
      </p:sp>
      <p:sp>
        <p:nvSpPr>
          <p:cNvPr id="55" name="Google Shape;55;p5"/>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Show exactly how constructs, sample rules, and methods connect to the question.</a:t>
            </a:r>
            <a:endParaRPr/>
          </a:p>
        </p:txBody>
      </p:sp>
      <p:sp>
        <p:nvSpPr>
          <p:cNvPr id="56" name="Google Shape;56;p5"/>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58" name="Google Shape;58;p5"/>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03</a:t>
            </a:r>
            <a:endParaRPr/>
          </a:p>
        </p:txBody>
      </p:sp>
      <p:graphicFrame>
        <p:nvGraphicFramePr>
          <p:cNvPr id="59" name="Google Shape;59;p5"/>
          <p:cNvGraphicFramePr/>
          <p:nvPr/>
        </p:nvGraphicFramePr>
        <p:xfrm>
          <a:off x="609600" y="1695450"/>
          <a:ext cx="3000000" cy="3000000"/>
        </p:xfrm>
        <a:graphic>
          <a:graphicData uri="http://schemas.openxmlformats.org/drawingml/2006/table">
            <a:tbl>
              <a:tblPr>
                <a:noFill/>
                <a:tableStyleId>{B171E031-FB84-471F-B90F-305205B68F89}</a:tableStyleId>
              </a:tblPr>
              <a:tblGrid>
                <a:gridCol w="2057400"/>
                <a:gridCol w="4267200"/>
                <a:gridCol w="4610100"/>
              </a:tblGrid>
              <a:tr h="473875">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Design element</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Project definition</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Evidence or implementation</a:t>
                      </a:r>
                      <a:endParaRPr/>
                    </a:p>
                  </a:txBody>
                  <a:tcPr marT="57150" marB="57150" marR="76200" marL="76200" anchor="ctr">
                    <a:solidFill>
                      <a:srgbClr val="102A43"/>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Primary outcome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[Exact variable and horizon]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[Construction rule and source]</a:t>
                      </a:r>
                      <a:endParaRPr/>
                    </a:p>
                  </a:txBody>
                  <a:tcPr marT="57150" marB="57150" marR="76200" marL="76200" anchor="ctr">
                    <a:solidFill>
                      <a:srgbClr val="FFFFFF"/>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Main signal or exposure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[Exact definition]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[Timing, lag, and source]</a:t>
                      </a:r>
                      <a:endParaRPr/>
                    </a:p>
                  </a:txBody>
                  <a:tcPr marT="57150" marB="57150" marR="76200" marL="76200" anchor="ctr">
                    <a:solidFill>
                      <a:srgbClr val="F2F5F7"/>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Benchmark or comparison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[Market, peer group, control, ...]</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[Why it is appropriate]</a:t>
                      </a:r>
                      <a:endParaRPr/>
                    </a:p>
                  </a:txBody>
                  <a:tcPr marT="57150" marB="57150" marR="76200" marL="76200" anchor="ctr">
                    <a:solidFill>
                      <a:srgbClr val="FFFFFF"/>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Main specification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[Model or portfolio design]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[Estimator, weighting, fixed effects, ...]</a:t>
                      </a:r>
                      <a:endParaRPr/>
                    </a:p>
                  </a:txBody>
                  <a:tcPr marT="57150" marB="57150" marR="76200" marL="76200" anchor="ctr">
                    <a:solidFill>
                      <a:srgbClr val="F2F5F7"/>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Sample and exclusions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[Inclusion and exclusion rules]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[Avoid look-ahead and survivorship bias]</a:t>
                      </a:r>
                      <a:endParaRPr/>
                    </a:p>
                  </a:txBody>
                  <a:tcPr marT="57150" marB="57150" marR="76200" marL="76200" anchor="ctr">
                    <a:solidFill>
                      <a:srgbClr val="FFFFFF"/>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Validation plan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[Robustness, placebo, holdout, ...]</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[Pre-specified diagnostic]</a:t>
                      </a:r>
                      <a:endParaRPr/>
                    </a:p>
                  </a:txBody>
                  <a:tcPr marT="57150" marB="57150" marR="76200" marL="76200" anchor="ctr">
                    <a:solidFill>
                      <a:srgbClr val="F2F5F7"/>
                    </a:solidFill>
                  </a:tcPr>
                </a:tc>
              </a:tr>
              <a:tr h="4738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Success criterion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[What evidence would support the claim?]</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[Magnitude, uncertainty, stability]</a:t>
                      </a:r>
                      <a:endParaRPr/>
                    </a:p>
                  </a:txBody>
                  <a:tcPr marT="57150" marB="57150" marR="76200" marL="76200" anchor="ctr">
                    <a:solidFill>
                      <a:srgbClr val="FFFFFF"/>
                    </a:solidFill>
                  </a:tcPr>
                </a:tc>
              </a:tr>
            </a:tbl>
          </a:graphicData>
        </a:graphic>
      </p:graphicFrame>
      <p:sp>
        <p:nvSpPr>
          <p:cNvPr id="60" name="Google Shape;60;p5"/>
          <p:cNvSpPr/>
          <p:nvPr/>
        </p:nvSpPr>
        <p:spPr>
          <a:xfrm>
            <a:off x="609600" y="5772150"/>
            <a:ext cx="57150" cy="400050"/>
          </a:xfrm>
          <a:prstGeom prst="rect">
            <a:avLst/>
          </a:prstGeom>
          <a:solidFill>
            <a:srgbClr val="B547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781050" y="578167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Request approval before changing the research question, estimand, model family, decision rule, data scope, or interpretation of evidence.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66" name="Shape 66"/>
        <p:cNvGrpSpPr/>
        <p:nvPr/>
      </p:nvGrpSpPr>
      <p:grpSpPr>
        <a:xfrm>
          <a:off x="0" y="0"/>
          <a:ext cx="0" cy="0"/>
          <a:chOff x="0" y="0"/>
          <a:chExt cx="0" cy="0"/>
        </a:xfrm>
      </p:grpSpPr>
      <p:sp>
        <p:nvSpPr>
          <p:cNvPr id="67" name="Google Shape;67;p6"/>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DATA REQUIREMENTS</a:t>
            </a:r>
            <a:endParaRPr/>
          </a:p>
        </p:txBody>
      </p:sp>
      <p:sp>
        <p:nvSpPr>
          <p:cNvPr id="69" name="Google Shape;69;p6"/>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study needs [N] data components</a:t>
            </a:r>
            <a:endParaRPr/>
          </a:p>
        </p:txBody>
      </p:sp>
      <p:sp>
        <p:nvSpPr>
          <p:cNvPr id="70" name="Google Shape;70;p6"/>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List every input required to reproduce the design, including controls and benchmarks.</a:t>
            </a:r>
            <a:endParaRPr/>
          </a:p>
        </p:txBody>
      </p:sp>
      <p:sp>
        <p:nvSpPr>
          <p:cNvPr id="71" name="Google Shape;71;p6"/>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73" name="Google Shape;73;p6"/>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04</a:t>
            </a:r>
            <a:endParaRPr/>
          </a:p>
        </p:txBody>
      </p:sp>
      <p:graphicFrame>
        <p:nvGraphicFramePr>
          <p:cNvPr id="74" name="Google Shape;74;p6"/>
          <p:cNvGraphicFramePr/>
          <p:nvPr/>
        </p:nvGraphicFramePr>
        <p:xfrm>
          <a:off x="457200" y="1695450"/>
          <a:ext cx="3000000" cy="3000000"/>
        </p:xfrm>
        <a:graphic>
          <a:graphicData uri="http://schemas.openxmlformats.org/drawingml/2006/table">
            <a:tbl>
              <a:tblPr>
                <a:noFill/>
                <a:tableStyleId>{B171E031-FB84-471F-B90F-305205B68F89}</a:tableStyleId>
              </a:tblPr>
              <a:tblGrid>
                <a:gridCol w="1600200"/>
                <a:gridCol w="1847850"/>
                <a:gridCol w="1285875"/>
                <a:gridCol w="1066800"/>
                <a:gridCol w="1724025"/>
                <a:gridCol w="1905000"/>
                <a:gridCol w="1809750"/>
              </a:tblGrid>
              <a:tr h="555625">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Component</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Exact variable or field</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Role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Frequency</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Required period</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Preferred source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Status</a:t>
                      </a:r>
                      <a:endParaRPr/>
                    </a:p>
                  </a:txBody>
                  <a:tcPr marT="57150" marB="57150" marR="76200" marL="76200" anchor="ctr">
                    <a:solidFill>
                      <a:srgbClr val="102A43"/>
                    </a:solidFill>
                  </a:tcPr>
                </a:tc>
              </a:tr>
              <a:tr h="555625">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[Prices or returns]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[e.g., PX_LAST]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[Outcome / input]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[Daily]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[YYYY-MM-DD to YYYY-MM-DD]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[RiskLab / Bloomberg]</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[Local ready]</a:t>
                      </a:r>
                      <a:endParaRPr/>
                    </a:p>
                  </a:txBody>
                  <a:tcPr marT="57150" marB="57150" marR="76200" marL="76200" anchor="ctr">
                    <a:solidFill>
                      <a:srgbClr val="E3F3EB"/>
                    </a:solidFill>
                  </a:tcPr>
                </a:tc>
              </a:tr>
              <a:tr h="555625">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[Volume or liquidity]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or construction]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[Signal / cost]</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[Daily]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[RiskLab / Bloomberg]</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[Local prep]</a:t>
                      </a:r>
                      <a:endParaRPr/>
                    </a:p>
                  </a:txBody>
                  <a:tcPr marT="57150" marB="57150" marR="76200" marL="76200" anchor="ctr">
                    <a:solidFill>
                      <a:srgbClr val="E7F0FC"/>
                    </a:solidFill>
                  </a:tcPr>
                </a:tc>
              </a:tr>
              <a:tr h="555625">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[Characteristics]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list]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[Sort / control]</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[Monthly]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[RiskLab / Bloomberg]</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[Bloomberg]</a:t>
                      </a:r>
                      <a:endParaRPr/>
                    </a:p>
                  </a:txBody>
                  <a:tcPr marT="57150" marB="57150" marR="76200" marL="76200" anchor="ctr">
                    <a:solidFill>
                      <a:srgbClr val="FFF1DD"/>
                    </a:solidFill>
                  </a:tcPr>
                </a:tc>
              </a:tr>
              <a:tr h="555625">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[Benchmark or factors]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[Series IDs]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[Comparison]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[Daily / monthly]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[RiskLab / public]</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[Local ready]</a:t>
                      </a:r>
                      <a:endParaRPr/>
                    </a:p>
                  </a:txBody>
                  <a:tcPr marT="57150" marB="57150" marR="76200" marL="76200" anchor="ctr">
                    <a:solidFill>
                      <a:srgbClr val="E3F3EB"/>
                    </a:solidFill>
                  </a:tcPr>
                </a:tc>
              </a:tr>
              <a:tr h="555625">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[Events or controls]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[Variable list]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[Control / mechanism]</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[As required]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[Preferred source]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[Unresolved]</a:t>
                      </a:r>
                      <a:endParaRPr/>
                    </a:p>
                  </a:txBody>
                  <a:tcPr marT="57150" marB="57150" marR="76200" marL="76200" anchor="ctr">
                    <a:solidFill>
                      <a:srgbClr val="FBE9E7"/>
                    </a:solidFill>
                  </a:tcPr>
                </a:tc>
              </a:tr>
            </a:tbl>
          </a:graphicData>
        </a:graphic>
      </p:graphicFrame>
      <p:sp>
        <p:nvSpPr>
          <p:cNvPr id="75" name="Google Shape;75;p6"/>
          <p:cNvSpPr/>
          <p:nvPr/>
        </p:nvSpPr>
        <p:spPr>
          <a:xfrm>
            <a:off x="609600" y="5572125"/>
            <a:ext cx="1093470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09600" y="5276850"/>
            <a:ext cx="10934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STATUS DEFINITIONS</a:t>
            </a:r>
            <a:endParaRPr/>
          </a:p>
        </p:txBody>
      </p:sp>
      <p:sp>
        <p:nvSpPr>
          <p:cNvPr id="77" name="Google Shape;77;p6"/>
          <p:cNvSpPr/>
          <p:nvPr/>
        </p:nvSpPr>
        <p:spPr>
          <a:xfrm>
            <a:off x="609600" y="5676900"/>
            <a:ext cx="25146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E7D5A"/>
                </a:solidFill>
                <a:latin typeface="Arial"/>
                <a:ea typeface="Arial"/>
                <a:cs typeface="Arial"/>
                <a:sym typeface="Arial"/>
              </a:rPr>
              <a:t>LOCAL READY</a:t>
            </a:r>
            <a:endParaRPr/>
          </a:p>
        </p:txBody>
      </p:sp>
      <p:sp>
        <p:nvSpPr>
          <p:cNvPr id="78" name="Google Shape;78;p6"/>
          <p:cNvSpPr/>
          <p:nvPr/>
        </p:nvSpPr>
        <p:spPr>
          <a:xfrm>
            <a:off x="609600" y="5905500"/>
            <a:ext cx="2514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B3A"/>
                </a:solidFill>
                <a:latin typeface="Arial"/>
                <a:ea typeface="Arial"/>
                <a:cs typeface="Arial"/>
                <a:sym typeface="Arial"/>
              </a:rPr>
              <a:t>Usable as-is</a:t>
            </a:r>
            <a:endParaRPr/>
          </a:p>
        </p:txBody>
      </p:sp>
      <p:sp>
        <p:nvSpPr>
          <p:cNvPr id="79" name="Google Shape;79;p6"/>
          <p:cNvSpPr/>
          <p:nvPr/>
        </p:nvSpPr>
        <p:spPr>
          <a:xfrm>
            <a:off x="3333750" y="5676900"/>
            <a:ext cx="25146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46BCE"/>
                </a:solidFill>
                <a:latin typeface="Arial"/>
                <a:ea typeface="Arial"/>
                <a:cs typeface="Arial"/>
                <a:sym typeface="Arial"/>
              </a:rPr>
              <a:t>LOCAL PREP</a:t>
            </a:r>
            <a:endParaRPr/>
          </a:p>
        </p:txBody>
      </p:sp>
      <p:sp>
        <p:nvSpPr>
          <p:cNvPr id="80" name="Google Shape;80;p6"/>
          <p:cNvSpPr/>
          <p:nvPr/>
        </p:nvSpPr>
        <p:spPr>
          <a:xfrm>
            <a:off x="3333750" y="5905500"/>
            <a:ext cx="2514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B3A"/>
                </a:solidFill>
                <a:latin typeface="Arial"/>
                <a:ea typeface="Arial"/>
                <a:cs typeface="Arial"/>
                <a:sym typeface="Arial"/>
              </a:rPr>
              <a:t>Cleaning or construction needed</a:t>
            </a:r>
            <a:endParaRPr/>
          </a:p>
        </p:txBody>
      </p:sp>
      <p:sp>
        <p:nvSpPr>
          <p:cNvPr id="81" name="Google Shape;81;p6"/>
          <p:cNvSpPr/>
          <p:nvPr/>
        </p:nvSpPr>
        <p:spPr>
          <a:xfrm>
            <a:off x="6057900" y="5676900"/>
            <a:ext cx="25146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C56A11"/>
                </a:solidFill>
                <a:latin typeface="Arial"/>
                <a:ea typeface="Arial"/>
                <a:cs typeface="Arial"/>
                <a:sym typeface="Arial"/>
              </a:rPr>
              <a:t>BLOOMBERG</a:t>
            </a:r>
            <a:endParaRPr/>
          </a:p>
        </p:txBody>
      </p:sp>
      <p:sp>
        <p:nvSpPr>
          <p:cNvPr id="82" name="Google Shape;82;p6"/>
          <p:cNvSpPr/>
          <p:nvPr/>
        </p:nvSpPr>
        <p:spPr>
          <a:xfrm>
            <a:off x="6057900" y="5905500"/>
            <a:ext cx="2514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B3A"/>
                </a:solidFill>
                <a:latin typeface="Arial"/>
                <a:ea typeface="Arial"/>
                <a:cs typeface="Arial"/>
                <a:sym typeface="Arial"/>
              </a:rPr>
              <a:t>Non-intraday pull required</a:t>
            </a:r>
            <a:endParaRPr/>
          </a:p>
        </p:txBody>
      </p:sp>
      <p:sp>
        <p:nvSpPr>
          <p:cNvPr id="83" name="Google Shape;83;p6"/>
          <p:cNvSpPr/>
          <p:nvPr/>
        </p:nvSpPr>
        <p:spPr>
          <a:xfrm>
            <a:off x="8782050" y="5676900"/>
            <a:ext cx="25146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B5473C"/>
                </a:solidFill>
                <a:latin typeface="Arial"/>
                <a:ea typeface="Arial"/>
                <a:cs typeface="Arial"/>
                <a:sym typeface="Arial"/>
              </a:rPr>
              <a:t>UNRESOLVED</a:t>
            </a:r>
            <a:endParaRPr/>
          </a:p>
        </p:txBody>
      </p:sp>
      <p:sp>
        <p:nvSpPr>
          <p:cNvPr id="84" name="Google Shape;84;p6"/>
          <p:cNvSpPr/>
          <p:nvPr/>
        </p:nvSpPr>
        <p:spPr>
          <a:xfrm>
            <a:off x="8782050" y="5905500"/>
            <a:ext cx="2514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172B3A"/>
                </a:solidFill>
                <a:latin typeface="Arial"/>
                <a:ea typeface="Arial"/>
                <a:cs typeface="Arial"/>
                <a:sym typeface="Arial"/>
              </a:rPr>
              <a:t>Source or field not confirmed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89" name="Shape 89"/>
        <p:cNvGrpSpPr/>
        <p:nvPr/>
      </p:nvGrpSpPr>
      <p:grpSpPr>
        <a:xfrm>
          <a:off x="0" y="0"/>
          <a:ext cx="0" cy="0"/>
          <a:chOff x="0" y="0"/>
          <a:chExt cx="0" cy="0"/>
        </a:xfrm>
      </p:grpSpPr>
      <p:sp>
        <p:nvSpPr>
          <p:cNvPr id="90" name="Google Shape;90;p7"/>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LOCAL DATA</a:t>
            </a:r>
            <a:endParaRPr/>
          </a:p>
        </p:txBody>
      </p:sp>
      <p:sp>
        <p:nvSpPr>
          <p:cNvPr id="92" name="Google Shape;92;p7"/>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RiskLab currently covers [X%] of the required data</a:t>
            </a:r>
            <a:endParaRPr/>
          </a:p>
        </p:txBody>
      </p:sp>
      <p:sp>
        <p:nvSpPr>
          <p:cNvPr id="93" name="Google Shape;93;p7"/>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Report exact catalog IDs or paths, fields, date coverage, entities, and readiness.</a:t>
            </a:r>
            <a:endParaRPr/>
          </a:p>
        </p:txBody>
      </p:sp>
      <p:sp>
        <p:nvSpPr>
          <p:cNvPr id="94" name="Google Shape;94;p7"/>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96" name="Google Shape;96;p7"/>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05</a:t>
            </a:r>
            <a:endParaRPr/>
          </a:p>
        </p:txBody>
      </p:sp>
      <p:graphicFrame>
        <p:nvGraphicFramePr>
          <p:cNvPr id="97" name="Google Shape;97;p7"/>
          <p:cNvGraphicFramePr/>
          <p:nvPr/>
        </p:nvGraphicFramePr>
        <p:xfrm>
          <a:off x="457200" y="1676400"/>
          <a:ext cx="3000000" cy="3000000"/>
        </p:xfrm>
        <a:graphic>
          <a:graphicData uri="http://schemas.openxmlformats.org/drawingml/2006/table">
            <a:tbl>
              <a:tblPr>
                <a:noFill/>
                <a:tableStyleId>{B171E031-FB84-471F-B90F-305205B68F89}</a:tableStyleId>
              </a:tblPr>
              <a:tblGrid>
                <a:gridCol w="1524000"/>
                <a:gridCol w="2895600"/>
                <a:gridCol w="1524000"/>
                <a:gridCol w="1619250"/>
                <a:gridCol w="1390650"/>
                <a:gridCol w="2286000"/>
              </a:tblGrid>
              <a:tr h="571500">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Component</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Catalog ID or exact path</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Fields</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Coverage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Readiness</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Issue to resolve</a:t>
                      </a:r>
                      <a:endParaRPr/>
                    </a:p>
                  </a:txBody>
                  <a:tcPr marT="57150" marB="57150" marR="76200" marL="76200" anchor="ctr">
                    <a:solidFill>
                      <a:srgbClr val="102A43"/>
                    </a:solidFill>
                  </a:tcPr>
                </a:tc>
              </a:tr>
              <a:tr h="57150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[Component 1]</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[dataset_id or C:\risklab\data\...]</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list]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[dates × entities]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[Ready / partial]</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[None or issue]</a:t>
                      </a:r>
                      <a:endParaRPr/>
                    </a:p>
                  </a:txBody>
                  <a:tcPr marT="57150" marB="57150" marR="76200" marL="76200" anchor="ctr">
                    <a:solidFill>
                      <a:srgbClr val="FFFFFF"/>
                    </a:solidFill>
                  </a:tcPr>
                </a:tc>
              </a:tr>
              <a:tr h="57150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[Component 2]</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[dataset_id or exact path]</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list]</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[dates × entities]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[Ready / partial]</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[Cleaning, IDs, gaps, ...]</a:t>
                      </a:r>
                      <a:endParaRPr/>
                    </a:p>
                  </a:txBody>
                  <a:tcPr marT="57150" marB="57150" marR="76200" marL="76200" anchor="ctr">
                    <a:solidFill>
                      <a:srgbClr val="F2F5F7"/>
                    </a:solidFill>
                  </a:tcPr>
                </a:tc>
              </a:tr>
              <a:tr h="57150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[Component 3]</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[dataset_id or exact path]</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list]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[dates × entities]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[Ready / partial]</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[Adjustment, unit, licence, ...]</a:t>
                      </a:r>
                      <a:endParaRPr/>
                    </a:p>
                  </a:txBody>
                  <a:tcPr marT="57150" marB="57150" marR="76200" marL="76200" anchor="ctr">
                    <a:solidFill>
                      <a:srgbClr val="FFFFFF"/>
                    </a:solidFill>
                  </a:tcPr>
                </a:tc>
              </a:tr>
              <a:tr h="57150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[Component 4]</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[dataset_id or exact path]</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 list]</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[dates × entities]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[Ready / partial]</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[Point-in-time or survivorship]</a:t>
                      </a:r>
                      <a:endParaRPr/>
                    </a:p>
                  </a:txBody>
                  <a:tcPr marT="57150" marB="57150" marR="76200" marL="76200" anchor="ctr">
                    <a:solidFill>
                      <a:srgbClr val="F2F5F7"/>
                    </a:solidFill>
                  </a:tcPr>
                </a:tc>
              </a:tr>
            </a:tbl>
          </a:graphicData>
        </a:graphic>
      </p:graphicFrame>
      <p:sp>
        <p:nvSpPr>
          <p:cNvPr id="98" name="Google Shape;98;p7"/>
          <p:cNvSpPr/>
          <p:nvPr/>
        </p:nvSpPr>
        <p:spPr>
          <a:xfrm>
            <a:off x="609600" y="5153025"/>
            <a:ext cx="520065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609600" y="4857750"/>
            <a:ext cx="52006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START WITH THESE RECORDS</a:t>
            </a:r>
            <a:endParaRPr/>
          </a:p>
        </p:txBody>
      </p:sp>
      <p:sp>
        <p:nvSpPr>
          <p:cNvPr id="100" name="Google Shape;100;p7"/>
          <p:cNvSpPr/>
          <p:nvPr/>
        </p:nvSpPr>
        <p:spPr>
          <a:xfrm>
            <a:off x="609600" y="5257800"/>
            <a:ext cx="5200650" cy="106680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C:\risklab\data\_catalog\CATALOG.md</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C:\risklab\data\_catalog\catalog.csv</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C:\risklab\data\&lt;provider&gt;\inventory.csv</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Provider README files and the collection report</a:t>
            </a:r>
            <a:endParaRPr/>
          </a:p>
        </p:txBody>
      </p:sp>
      <p:sp>
        <p:nvSpPr>
          <p:cNvPr id="101" name="Google Shape;101;p7"/>
          <p:cNvSpPr/>
          <p:nvPr/>
        </p:nvSpPr>
        <p:spPr>
          <a:xfrm>
            <a:off x="6286500" y="5153025"/>
            <a:ext cx="5257800" cy="19050"/>
          </a:xfrm>
          <a:prstGeom prst="rect">
            <a:avLst/>
          </a:prstGeom>
          <a:solidFill>
            <a:srgbClr val="B547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p:nvPr/>
        </p:nvSpPr>
        <p:spPr>
          <a:xfrm>
            <a:off x="6286500" y="4857750"/>
            <a:ext cx="52578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B5473C"/>
                </a:solidFill>
                <a:latin typeface="Arial"/>
                <a:ea typeface="Arial"/>
                <a:cs typeface="Arial"/>
                <a:sym typeface="Arial"/>
              </a:rPr>
              <a:t>A LOCAL FILE DOES NOT PROVE</a:t>
            </a:r>
            <a:endParaRPr/>
          </a:p>
        </p:txBody>
      </p:sp>
      <p:sp>
        <p:nvSpPr>
          <p:cNvPr id="103" name="Google Shape;103;p7"/>
          <p:cNvSpPr/>
          <p:nvPr/>
        </p:nvSpPr>
        <p:spPr>
          <a:xfrm>
            <a:off x="6286500" y="5257800"/>
            <a:ext cx="5257800" cy="106680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Point-in-time validity or survivorship control</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Correct adjustments, currencies, units, or timestamps</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Complete coverage for the required universe and period</a:t>
            </a:r>
            <a:endParaRPr/>
          </a:p>
          <a:p>
            <a:pPr indent="-101600" lvl="0" marL="215900" marR="0" rtl="0" algn="l">
              <a:spcBef>
                <a:spcPts val="400"/>
              </a:spcBef>
              <a:spcAft>
                <a:spcPts val="0"/>
              </a:spcAft>
              <a:buClr>
                <a:srgbClr val="172B3A"/>
              </a:buClr>
              <a:buSzPts val="1275"/>
              <a:buFont typeface="Arial"/>
              <a:buChar char="•"/>
            </a:pPr>
            <a:r>
              <a:rPr b="0" lang="en-US" sz="1275">
                <a:solidFill>
                  <a:srgbClr val="172B3A"/>
                </a:solidFill>
                <a:latin typeface="Arial"/>
                <a:ea typeface="Arial"/>
                <a:cs typeface="Arial"/>
                <a:sym typeface="Arial"/>
              </a:rPr>
              <a:t>Permission to redistribute licensed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08" name="Shape 108"/>
        <p:cNvGrpSpPr/>
        <p:nvPr/>
      </p:nvGrpSpPr>
      <p:grpSpPr>
        <a:xfrm>
          <a:off x="0" y="0"/>
          <a:ext cx="0" cy="0"/>
          <a:chOff x="0" y="0"/>
          <a:chExt cx="0" cy="0"/>
        </a:xfrm>
      </p:grpSpPr>
      <p:sp>
        <p:nvSpPr>
          <p:cNvPr id="109" name="Google Shape;109;p8"/>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BLOOMBERG PLAN</a:t>
            </a:r>
            <a:endParaRPr/>
          </a:p>
        </p:txBody>
      </p:sp>
      <p:sp>
        <p:nvSpPr>
          <p:cNvPr id="111" name="Google Shape;111;p8"/>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Bloomberg must fill [Y%] of the requirement</a:t>
            </a:r>
            <a:endParaRPr/>
          </a:p>
        </p:txBody>
      </p:sp>
      <p:sp>
        <p:nvSpPr>
          <p:cNvPr id="112" name="Google Shape;112;p8"/>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Specify the security identifiers, fields, frequency, period, and pilot result before a bulk request.</a:t>
            </a:r>
            <a:endParaRPr/>
          </a:p>
        </p:txBody>
      </p:sp>
      <p:sp>
        <p:nvSpPr>
          <p:cNvPr id="113" name="Google Shape;113;p8"/>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15" name="Google Shape;115;p8"/>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06</a:t>
            </a:r>
            <a:endParaRPr/>
          </a:p>
        </p:txBody>
      </p:sp>
      <p:graphicFrame>
        <p:nvGraphicFramePr>
          <p:cNvPr id="116" name="Google Shape;116;p8"/>
          <p:cNvGraphicFramePr/>
          <p:nvPr/>
        </p:nvGraphicFramePr>
        <p:xfrm>
          <a:off x="457200" y="1676400"/>
          <a:ext cx="3000000" cy="3000000"/>
        </p:xfrm>
        <a:graphic>
          <a:graphicData uri="http://schemas.openxmlformats.org/drawingml/2006/table">
            <a:tbl>
              <a:tblPr>
                <a:noFill/>
                <a:tableStyleId>{B171E031-FB84-471F-B90F-305205B68F89}</a:tableStyleId>
              </a:tblPr>
              <a:tblGrid>
                <a:gridCol w="1676400"/>
                <a:gridCol w="2609850"/>
                <a:gridCol w="1866900"/>
                <a:gridCol w="1238250"/>
                <a:gridCol w="1600200"/>
                <a:gridCol w="2247900"/>
              </a:tblGrid>
              <a:tr h="556250">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Component</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Bloomberg security or universe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Field mnemonic(s)</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Frequency</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Date range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Pilot result or status</a:t>
                      </a:r>
                      <a:endParaRPr/>
                    </a:p>
                  </a:txBody>
                  <a:tcPr marT="57150" marB="57150" marR="76200" marL="76200" anchor="ctr">
                    <a:solidFill>
                      <a:srgbClr val="102A43"/>
                    </a:solidFill>
                  </a:tcPr>
                </a:tc>
              </a:tr>
              <a:tr h="5562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[Missing component 1]</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ticker(s) / index / screen]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fields]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[Daily / monthly]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[YYYY-MM-DD to YYYY-MM-DD]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[Verified / N/A / pending]</a:t>
                      </a:r>
                      <a:endParaRPr/>
                    </a:p>
                  </a:txBody>
                  <a:tcPr marT="57150" marB="57150" marR="76200" marL="76200" anchor="ctr">
                    <a:solidFill>
                      <a:srgbClr val="FFFFFF"/>
                    </a:solidFill>
                  </a:tcPr>
                </a:tc>
              </a:tr>
              <a:tr h="5562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[Missing component 2]</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identifiers]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fields]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[Daily / quarterly]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[Verified / N/A / pending]</a:t>
                      </a:r>
                      <a:endParaRPr/>
                    </a:p>
                  </a:txBody>
                  <a:tcPr marT="57150" marB="57150" marR="76200" marL="76200" anchor="ctr">
                    <a:solidFill>
                      <a:srgbClr val="F2F5F7"/>
                    </a:solidFill>
                  </a:tcPr>
                </a:tc>
              </a:tr>
              <a:tr h="5562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[Missing component 3]</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identifiers]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fields]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frequency]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[Verified / N/A / pending]</a:t>
                      </a:r>
                      <a:endParaRPr/>
                    </a:p>
                  </a:txBody>
                  <a:tcPr marT="57150" marB="57150" marR="76200" marL="76200" anchor="ctr">
                    <a:solidFill>
                      <a:srgbClr val="FFFFFF"/>
                    </a:solidFill>
                  </a:tcPr>
                </a:tc>
              </a:tr>
              <a:tr h="5562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[Missing component 4]</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identifiers]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fields]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frequency]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[Required span]</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[Verified / N/A / pending]</a:t>
                      </a:r>
                      <a:endParaRPr/>
                    </a:p>
                  </a:txBody>
                  <a:tcPr marT="57150" marB="57150" marR="76200" marL="76200" anchor="ctr">
                    <a:solidFill>
                      <a:srgbClr val="F2F5F7"/>
                    </a:solidFill>
                  </a:tcPr>
                </a:tc>
              </a:tr>
            </a:tbl>
          </a:graphicData>
        </a:graphic>
      </p:graphicFrame>
      <p:sp>
        <p:nvSpPr>
          <p:cNvPr id="117" name="Google Shape;117;p8"/>
          <p:cNvSpPr/>
          <p:nvPr/>
        </p:nvSpPr>
        <p:spPr>
          <a:xfrm>
            <a:off x="609600" y="4762500"/>
            <a:ext cx="10934700" cy="685800"/>
          </a:xfrm>
          <a:prstGeom prst="roundRect">
            <a:avLst>
              <a:gd fmla="val 11111" name="adj"/>
            </a:avLst>
          </a:prstGeom>
          <a:solidFill>
            <a:srgbClr val="FFF1DD"/>
          </a:solidFill>
          <a:ln cap="flat" cmpd="sng" w="9525">
            <a:solidFill>
              <a:srgbClr val="E2B2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p:nvPr/>
        </p:nvSpPr>
        <p:spPr>
          <a:xfrm>
            <a:off x="800100" y="4905375"/>
            <a:ext cx="19431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C56A11"/>
                </a:solidFill>
                <a:latin typeface="Arial"/>
                <a:ea typeface="Arial"/>
                <a:cs typeface="Arial"/>
                <a:sym typeface="Arial"/>
              </a:rPr>
              <a:t>NON-INTRADAY RULE</a:t>
            </a:r>
            <a:endParaRPr/>
          </a:p>
        </p:txBody>
      </p:sp>
      <p:sp>
        <p:nvSpPr>
          <p:cNvPr id="119" name="Google Shape;119;p8"/>
          <p:cNvSpPr/>
          <p:nvPr/>
        </p:nvSpPr>
        <p:spPr>
          <a:xfrm>
            <a:off x="2781300" y="4857750"/>
            <a:ext cx="851535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425">
                <a:solidFill>
                  <a:srgbClr val="172B3A"/>
                </a:solidFill>
                <a:latin typeface="Arial"/>
                <a:ea typeface="Arial"/>
                <a:cs typeface="Arial"/>
                <a:sym typeface="Arial"/>
              </a:rPr>
              <a:t>Bloomberg retrieval for these projects must be daily, weekly, monthly, quarterly, or annual. Use C:\risklab\data\intraday_data for every required intraday series.</a:t>
            </a:r>
            <a:endParaRPr/>
          </a:p>
        </p:txBody>
      </p:sp>
      <p:sp>
        <p:nvSpPr>
          <p:cNvPr id="120" name="Google Shape;120;p8"/>
          <p:cNvSpPr/>
          <p:nvPr/>
        </p:nvSpPr>
        <p:spPr>
          <a:xfrm>
            <a:off x="609600" y="5715000"/>
            <a:ext cx="57150" cy="400050"/>
          </a:xfrm>
          <a:prstGeom prst="rect">
            <a:avLst/>
          </a:prstGeom>
          <a:solidFill>
            <a:srgbClr val="B547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781050" y="572452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If Bloomberg cannot provide a field or universe, preserve the exact N/A or error evidence and request a decision before substituting another source.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26" name="Shape 126"/>
        <p:cNvGrpSpPr/>
        <p:nvPr/>
      </p:nvGrpSpPr>
      <p:grpSpPr>
        <a:xfrm>
          <a:off x="0" y="0"/>
          <a:ext cx="0" cy="0"/>
          <a:chOff x="0" y="0"/>
          <a:chExt cx="0" cy="0"/>
        </a:xfrm>
      </p:grpSpPr>
      <p:sp>
        <p:nvSpPr>
          <p:cNvPr id="127" name="Google Shape;127;p9"/>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DATA ACQUISITION</a:t>
            </a:r>
            <a:endParaRPr/>
          </a:p>
        </p:txBody>
      </p:sp>
      <p:sp>
        <p:nvSpPr>
          <p:cNvPr id="129" name="Google Shape;129;p9"/>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download process leaves a reproducible audit trail</a:t>
            </a:r>
            <a:endParaRPr/>
          </a:p>
        </p:txBody>
      </p:sp>
      <p:sp>
        <p:nvSpPr>
          <p:cNvPr id="130" name="Google Shape;130;p9"/>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Show what was requested, how it was retrieved, and what evidence was preserved.</a:t>
            </a:r>
            <a:endParaRPr/>
          </a:p>
        </p:txBody>
      </p:sp>
      <p:sp>
        <p:nvSpPr>
          <p:cNvPr id="131" name="Google Shape;131;p9"/>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33" name="Google Shape;133;p9"/>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07</a:t>
            </a:r>
            <a:endParaRPr/>
          </a:p>
        </p:txBody>
      </p:sp>
      <p:graphicFrame>
        <p:nvGraphicFramePr>
          <p:cNvPr id="134" name="Google Shape;134;p9"/>
          <p:cNvGraphicFramePr/>
          <p:nvPr/>
        </p:nvGraphicFramePr>
        <p:xfrm>
          <a:off x="609600" y="1676400"/>
          <a:ext cx="3000000" cy="3000000"/>
        </p:xfrm>
        <a:graphic>
          <a:graphicData uri="http://schemas.openxmlformats.org/drawingml/2006/table">
            <a:tbl>
              <a:tblPr>
                <a:noFill/>
                <a:tableStyleId>{B171E031-FB84-471F-B90F-305205B68F89}</a:tableStyleId>
              </a:tblPr>
              <a:tblGrid>
                <a:gridCol w="685800"/>
                <a:gridCol w="5657850"/>
                <a:gridCol w="4591050"/>
              </a:tblGrid>
              <a:tr h="481700">
                <a:tc>
                  <a:txBody>
                    <a:bodyPr/>
                    <a:lstStyle/>
                    <a:p>
                      <a:pPr indent="0" lvl="0" marL="0" marR="0" rtl="0" algn="ctr">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Step</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Action</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Evidence to show in class</a:t>
                      </a:r>
                      <a:endParaRPr/>
                    </a:p>
                  </a:txBody>
                  <a:tcPr marT="57150" marB="57150" marR="76200" marL="76200" anchor="ctr">
                    <a:solidFill>
                      <a:srgbClr val="102A43"/>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1</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Check the catalog and provider inventories before requesting data.</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Catalog search result and local coverage table</a:t>
                      </a:r>
                      <a:endParaRPr/>
                    </a:p>
                  </a:txBody>
                  <a:tcPr marT="57150" marB="57150" marR="76200" marL="76200" anchor="ctr">
                    <a:solidFill>
                      <a:srgbClr val="FFFFFF"/>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2</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Fix the universe, Bloomberg identifiers, fields, frequency, period, currency, and adjustments.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Request specification or field map</a:t>
                      </a:r>
                      <a:endParaRPr/>
                    </a:p>
                  </a:txBody>
                  <a:tcPr marT="57150" marB="57150" marR="76200" marL="76200" anchor="ctr">
                    <a:solidFill>
                      <a:srgbClr val="F2F5F7"/>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3</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Run a small pilot through the Excel Add-in or Python API.</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Formula or script, sample output, exact errors</a:t>
                      </a:r>
                      <a:endParaRPr/>
                    </a:p>
                  </a:txBody>
                  <a:tcPr marT="57150" marB="57150" marR="76200" marL="76200" anchor="ctr">
                    <a:solidFill>
                      <a:srgbClr val="FFFFFF"/>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4</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Run the non-intraday bulk pull on a Bloomberg terminal.</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Request parameters, retrieval date, row count</a:t>
                      </a:r>
                      <a:endParaRPr/>
                    </a:p>
                  </a:txBody>
                  <a:tcPr marT="57150" marB="57150" marR="76200" marL="76200" anchor="ctr">
                    <a:solidFill>
                      <a:srgbClr val="F2F5F7"/>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5</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Preserve the original delivery without editing it.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Raw file name, size, checksum or source log</a:t>
                      </a:r>
                      <a:endParaRPr/>
                    </a:p>
                  </a:txBody>
                  <a:tcPr marT="57150" marB="57150" marR="76200" marL="76200" anchor="ctr">
                    <a:solidFill>
                      <a:srgbClr val="FFFFFF"/>
                    </a:solidFill>
                  </a:tcPr>
                </a:tc>
              </a:tr>
              <a:tr h="481700">
                <a:tc>
                  <a:txBody>
                    <a:bodyPr/>
                    <a:lstStyle/>
                    <a:p>
                      <a:pPr indent="0" lvl="0" marL="0" marR="0" rtl="0" algn="ctr">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6</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Validate coverage, duplicates, units, dates, and anomalies before analysis.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Validation report and list of unresolved gaps</a:t>
                      </a:r>
                      <a:endParaRPr/>
                    </a:p>
                  </a:txBody>
                  <a:tcPr marT="57150" marB="57150" marR="76200" marL="76200" anchor="ctr">
                    <a:solidFill>
                      <a:srgbClr val="F2F5F7"/>
                    </a:solidFill>
                  </a:tcPr>
                </a:tc>
              </a:tr>
            </a:tbl>
          </a:graphicData>
        </a:graphic>
      </p:graphicFrame>
      <p:sp>
        <p:nvSpPr>
          <p:cNvPr id="135" name="Google Shape;135;p9"/>
          <p:cNvSpPr/>
          <p:nvPr/>
        </p:nvSpPr>
        <p:spPr>
          <a:xfrm>
            <a:off x="609600" y="5572125"/>
            <a:ext cx="1093470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609600" y="5276850"/>
            <a:ext cx="10934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EVIDENCE PACKAGE</a:t>
            </a:r>
            <a:endParaRPr/>
          </a:p>
        </p:txBody>
      </p:sp>
      <p:sp>
        <p:nvSpPr>
          <p:cNvPr id="137" name="Google Shape;137;p9"/>
          <p:cNvSpPr/>
          <p:nvPr/>
        </p:nvSpPr>
        <p:spPr>
          <a:xfrm>
            <a:off x="609600" y="56769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[Screenshot or formula]</a:t>
            </a:r>
            <a:endParaRPr/>
          </a:p>
        </p:txBody>
      </p:sp>
      <p:sp>
        <p:nvSpPr>
          <p:cNvPr id="138" name="Google Shape;138;p9"/>
          <p:cNvSpPr/>
          <p:nvPr/>
        </p:nvSpPr>
        <p:spPr>
          <a:xfrm>
            <a:off x="4248150" y="56769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[Download script or notebook]</a:t>
            </a:r>
            <a:endParaRPr/>
          </a:p>
        </p:txBody>
      </p:sp>
      <p:sp>
        <p:nvSpPr>
          <p:cNvPr id="139" name="Google Shape;139;p9"/>
          <p:cNvSpPr/>
          <p:nvPr/>
        </p:nvSpPr>
        <p:spPr>
          <a:xfrm>
            <a:off x="7886700" y="56769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[Request specification]</a:t>
            </a:r>
            <a:endParaRPr/>
          </a:p>
        </p:txBody>
      </p:sp>
      <p:sp>
        <p:nvSpPr>
          <p:cNvPr id="140" name="Google Shape;140;p9"/>
          <p:cNvSpPr/>
          <p:nvPr/>
        </p:nvSpPr>
        <p:spPr>
          <a:xfrm>
            <a:off x="609600" y="59817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[Untouched raw file]</a:t>
            </a:r>
            <a:endParaRPr/>
          </a:p>
        </p:txBody>
      </p:sp>
      <p:sp>
        <p:nvSpPr>
          <p:cNvPr id="141" name="Google Shape;141;p9"/>
          <p:cNvSpPr/>
          <p:nvPr/>
        </p:nvSpPr>
        <p:spPr>
          <a:xfrm>
            <a:off x="4248150" y="59817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[Source and error log]</a:t>
            </a:r>
            <a:endParaRPr/>
          </a:p>
        </p:txBody>
      </p:sp>
      <p:sp>
        <p:nvSpPr>
          <p:cNvPr id="142" name="Google Shape;142;p9"/>
          <p:cNvSpPr/>
          <p:nvPr/>
        </p:nvSpPr>
        <p:spPr>
          <a:xfrm>
            <a:off x="7886700" y="5981700"/>
            <a:ext cx="33718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[Validation output]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47" name="Shape 147"/>
        <p:cNvGrpSpPr/>
        <p:nvPr/>
      </p:nvGrpSpPr>
      <p:grpSpPr>
        <a:xfrm>
          <a:off x="0" y="0"/>
          <a:ext cx="0" cy="0"/>
          <a:chOff x="0" y="0"/>
          <a:chExt cx="0" cy="0"/>
        </a:xfrm>
      </p:grpSpPr>
      <p:sp>
        <p:nvSpPr>
          <p:cNvPr id="148" name="Google Shape;148;p10"/>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COVERAGE DIAGNOSTICS</a:t>
            </a:r>
            <a:endParaRPr/>
          </a:p>
        </p:txBody>
      </p:sp>
      <p:sp>
        <p:nvSpPr>
          <p:cNvPr id="150" name="Google Shape;150;p10"/>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Coverage is measured after retrieval, not assumed</a:t>
            </a:r>
            <a:endParaRPr/>
          </a:p>
        </p:txBody>
      </p:sp>
      <p:sp>
        <p:nvSpPr>
          <p:cNvPr id="151" name="Google Shape;151;p10"/>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Replace the illustrative chart and table with your pre-download and post-download coverage results.</a:t>
            </a:r>
            <a:endParaRPr/>
          </a:p>
        </p:txBody>
      </p:sp>
      <p:sp>
        <p:nvSpPr>
          <p:cNvPr id="152" name="Google Shape;152;p10"/>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54" name="Google Shape;154;p10"/>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08</a:t>
            </a:r>
            <a:endParaRPr/>
          </a:p>
        </p:txBody>
      </p:sp>
      <p:sp>
        <p:nvSpPr>
          <p:cNvPr id="155" name="Google Shape;155;p10"/>
          <p:cNvSpPr/>
          <p:nvPr/>
        </p:nvSpPr>
        <p:spPr>
          <a:xfrm>
            <a:off x="666750" y="1619250"/>
            <a:ext cx="57150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B5473C"/>
                </a:solidFill>
                <a:latin typeface="Arial"/>
                <a:ea typeface="Arial"/>
                <a:cs typeface="Arial"/>
                <a:sym typeface="Arial"/>
              </a:rPr>
              <a:t>ILLUSTRATIVE PLACEHOLDER: REPLACE ALL VALUES</a:t>
            </a:r>
            <a:endParaRPr/>
          </a:p>
        </p:txBody>
      </p:sp>
      <p:pic>
        <p:nvPicPr>
          <p:cNvPr id="156" name="Google Shape;156;p10"/>
          <p:cNvPicPr preferRelativeResize="0"/>
          <p:nvPr/>
        </p:nvPicPr>
        <p:blipFill rotWithShape="1">
          <a:blip r:embed="rId3">
            <a:alphaModFix/>
          </a:blip>
          <a:srcRect b="0" l="0" r="0" t="0"/>
          <a:stretch/>
        </p:blipFill>
        <p:spPr>
          <a:xfrm>
            <a:off x="571500" y="1905000"/>
            <a:ext cx="6477000" cy="3714750"/>
          </a:xfrm>
          <a:prstGeom prst="rect">
            <a:avLst/>
          </a:prstGeom>
          <a:noFill/>
          <a:ln>
            <a:noFill/>
          </a:ln>
        </p:spPr>
      </p:pic>
      <p:graphicFrame>
        <p:nvGraphicFramePr>
          <p:cNvPr id="157" name="Google Shape;157;p10"/>
          <p:cNvGraphicFramePr/>
          <p:nvPr/>
        </p:nvGraphicFramePr>
        <p:xfrm>
          <a:off x="7410450" y="1866900"/>
          <a:ext cx="3000000" cy="3000000"/>
        </p:xfrm>
        <a:graphic>
          <a:graphicData uri="http://schemas.openxmlformats.org/drawingml/2006/table">
            <a:tbl>
              <a:tblPr>
                <a:noFill/>
                <a:tableStyleId>{B171E031-FB84-471F-B90F-305205B68F89}</a:tableStyleId>
              </a:tblPr>
              <a:tblGrid>
                <a:gridCol w="2724150"/>
                <a:gridCol w="1409700"/>
              </a:tblGrid>
              <a:tr h="478975">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Coverage metric</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Value</a:t>
                      </a:r>
                      <a:endParaRPr/>
                    </a:p>
                  </a:txBody>
                  <a:tcPr marT="57150" marB="57150" marR="76200" marL="76200" anchor="ctr">
                    <a:solidFill>
                      <a:srgbClr val="102A43"/>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Required entity × date × field cells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a:t>
                      </a:r>
                      <a:endParaRPr/>
                    </a:p>
                  </a:txBody>
                  <a:tcPr marT="57150" marB="57150" marR="76200" marL="76200" anchor="ctr">
                    <a:solidFill>
                      <a:srgbClr val="FFFFFF"/>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Usable local cells before download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 and %]</a:t>
                      </a:r>
                      <a:endParaRPr/>
                    </a:p>
                  </a:txBody>
                  <a:tcPr marT="57150" marB="57150" marR="76200" marL="76200" anchor="ctr">
                    <a:solidFill>
                      <a:srgbClr val="F2F5F7"/>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Usable cells after Bloomberg download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 and %]</a:t>
                      </a:r>
                      <a:endParaRPr/>
                    </a:p>
                  </a:txBody>
                  <a:tcPr marT="57150" marB="57150" marR="76200" marL="76200" anchor="ctr">
                    <a:solidFill>
                      <a:srgbClr val="FFFFFF"/>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Still missing or excluded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 and %]</a:t>
                      </a:r>
                      <a:endParaRPr/>
                    </a:p>
                  </a:txBody>
                  <a:tcPr marT="57150" marB="57150" marR="76200" marL="76200" anchor="ctr">
                    <a:solidFill>
                      <a:srgbClr val="F2F5F7"/>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Earliest / latest usable date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[Dates]</a:t>
                      </a:r>
                      <a:endParaRPr/>
                    </a:p>
                  </a:txBody>
                  <a:tcPr marT="57150" marB="57150" marR="76200" marL="76200" anchor="ctr">
                    <a:solidFill>
                      <a:srgbClr val="FFFFFF"/>
                    </a:solidFill>
                  </a:tcPr>
                </a:tc>
              </a:tr>
              <a:tr h="478975">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Entities retained / excluded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 / N]</a:t>
                      </a:r>
                      <a:endParaRPr/>
                    </a:p>
                  </a:txBody>
                  <a:tcPr marT="57150" marB="57150" marR="76200" marL="76200" anchor="ctr">
                    <a:solidFill>
                      <a:srgbClr val="F2F5F7"/>
                    </a:solidFill>
                  </a:tcPr>
                </a:tc>
              </a:tr>
            </a:tbl>
          </a:graphicData>
        </a:graphic>
      </p:graphicFrame>
      <p:sp>
        <p:nvSpPr>
          <p:cNvPr id="158" name="Google Shape;158;p10"/>
          <p:cNvSpPr/>
          <p:nvPr/>
        </p:nvSpPr>
        <p:spPr>
          <a:xfrm>
            <a:off x="609600" y="5791200"/>
            <a:ext cx="57150" cy="400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781050" y="580072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Report coverage at the observation level and by component. A single overall percentage can hide missing fields, short histories, or thin entity coverage.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164" name="Shape 164"/>
        <p:cNvGrpSpPr/>
        <p:nvPr/>
      </p:nvGrpSpPr>
      <p:grpSpPr>
        <a:xfrm>
          <a:off x="0" y="0"/>
          <a:ext cx="0" cy="0"/>
          <a:chOff x="0" y="0"/>
          <a:chExt cx="0" cy="0"/>
        </a:xfrm>
      </p:grpSpPr>
      <p:sp>
        <p:nvSpPr>
          <p:cNvPr id="165" name="Google Shape;165;p11"/>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DATA PREPARATION</a:t>
            </a:r>
            <a:endParaRPr/>
          </a:p>
        </p:txBody>
      </p:sp>
      <p:sp>
        <p:nvSpPr>
          <p:cNvPr id="167" name="Google Shape;167;p11"/>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panel must pass quality checks</a:t>
            </a:r>
            <a:endParaRPr/>
          </a:p>
        </p:txBody>
      </p:sp>
      <p:sp>
        <p:nvSpPr>
          <p:cNvPr id="168" name="Google Shape;168;p11"/>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Show the transformations and diagnostics between raw delivery and analysis sample.</a:t>
            </a:r>
            <a:endParaRPr/>
          </a:p>
        </p:txBody>
      </p:sp>
      <p:sp>
        <p:nvSpPr>
          <p:cNvPr id="169" name="Google Shape;169;p11"/>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171" name="Google Shape;171;p11"/>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09</a:t>
            </a:r>
            <a:endParaRPr/>
          </a:p>
        </p:txBody>
      </p:sp>
      <p:sp>
        <p:nvSpPr>
          <p:cNvPr id="172" name="Google Shape;172;p11"/>
          <p:cNvSpPr/>
          <p:nvPr/>
        </p:nvSpPr>
        <p:spPr>
          <a:xfrm>
            <a:off x="609600" y="1752600"/>
            <a:ext cx="2000250" cy="1104900"/>
          </a:xfrm>
          <a:prstGeom prst="roundRect">
            <a:avLst>
              <a:gd fmla="val 8621" name="adj"/>
            </a:avLst>
          </a:prstGeom>
          <a:solidFill>
            <a:srgbClr val="FFFFFF"/>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742950" y="186690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01</a:t>
            </a:r>
            <a:endParaRPr/>
          </a:p>
        </p:txBody>
      </p:sp>
      <p:sp>
        <p:nvSpPr>
          <p:cNvPr id="174" name="Google Shape;174;p11"/>
          <p:cNvSpPr/>
          <p:nvPr/>
        </p:nvSpPr>
        <p:spPr>
          <a:xfrm>
            <a:off x="1162050" y="1847850"/>
            <a:ext cx="13144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Raw deliveries</a:t>
            </a:r>
            <a:endParaRPr/>
          </a:p>
        </p:txBody>
      </p:sp>
      <p:sp>
        <p:nvSpPr>
          <p:cNvPr id="175" name="Google Shape;175;p11"/>
          <p:cNvSpPr/>
          <p:nvPr/>
        </p:nvSpPr>
        <p:spPr>
          <a:xfrm>
            <a:off x="762000" y="2238375"/>
            <a:ext cx="16954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Preserved source files and retrieval logs</a:t>
            </a:r>
            <a:endParaRPr/>
          </a:p>
        </p:txBody>
      </p:sp>
      <p:sp>
        <p:nvSpPr>
          <p:cNvPr id="176" name="Google Shape;176;p11"/>
          <p:cNvSpPr/>
          <p:nvPr/>
        </p:nvSpPr>
        <p:spPr>
          <a:xfrm>
            <a:off x="2800350" y="1752600"/>
            <a:ext cx="2000250" cy="1104900"/>
          </a:xfrm>
          <a:prstGeom prst="roundRect">
            <a:avLst>
              <a:gd fmla="val 8621" name="adj"/>
            </a:avLst>
          </a:prstGeom>
          <a:solidFill>
            <a:srgbClr val="E7F0FC"/>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2933700" y="186690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02</a:t>
            </a:r>
            <a:endParaRPr/>
          </a:p>
        </p:txBody>
      </p:sp>
      <p:sp>
        <p:nvSpPr>
          <p:cNvPr id="178" name="Google Shape;178;p11"/>
          <p:cNvSpPr/>
          <p:nvPr/>
        </p:nvSpPr>
        <p:spPr>
          <a:xfrm>
            <a:off x="3352800" y="1847850"/>
            <a:ext cx="13144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Schema and IDs</a:t>
            </a:r>
            <a:endParaRPr/>
          </a:p>
        </p:txBody>
      </p:sp>
      <p:sp>
        <p:nvSpPr>
          <p:cNvPr id="179" name="Google Shape;179;p11"/>
          <p:cNvSpPr/>
          <p:nvPr/>
        </p:nvSpPr>
        <p:spPr>
          <a:xfrm>
            <a:off x="2952750" y="2238375"/>
            <a:ext cx="16954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Types, keys, identifiers, and duplicate checks</a:t>
            </a:r>
            <a:endParaRPr/>
          </a:p>
        </p:txBody>
      </p:sp>
      <p:sp>
        <p:nvSpPr>
          <p:cNvPr id="180" name="Google Shape;180;p11"/>
          <p:cNvSpPr/>
          <p:nvPr/>
        </p:nvSpPr>
        <p:spPr>
          <a:xfrm>
            <a:off x="4991100" y="1752600"/>
            <a:ext cx="2000250" cy="1104900"/>
          </a:xfrm>
          <a:prstGeom prst="roundRect">
            <a:avLst>
              <a:gd fmla="val 8621" name="adj"/>
            </a:avLst>
          </a:prstGeom>
          <a:solidFill>
            <a:srgbClr val="DDF2F3"/>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5124450" y="186690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03</a:t>
            </a:r>
            <a:endParaRPr/>
          </a:p>
        </p:txBody>
      </p:sp>
      <p:sp>
        <p:nvSpPr>
          <p:cNvPr id="182" name="Google Shape;182;p11"/>
          <p:cNvSpPr/>
          <p:nvPr/>
        </p:nvSpPr>
        <p:spPr>
          <a:xfrm>
            <a:off x="5543550" y="1847850"/>
            <a:ext cx="13144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Dates and units</a:t>
            </a:r>
            <a:endParaRPr/>
          </a:p>
        </p:txBody>
      </p:sp>
      <p:sp>
        <p:nvSpPr>
          <p:cNvPr id="183" name="Google Shape;183;p11"/>
          <p:cNvSpPr/>
          <p:nvPr/>
        </p:nvSpPr>
        <p:spPr>
          <a:xfrm>
            <a:off x="5143500" y="2238375"/>
            <a:ext cx="16954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Calendars, time zones, currencies, and scales</a:t>
            </a:r>
            <a:endParaRPr/>
          </a:p>
        </p:txBody>
      </p:sp>
      <p:sp>
        <p:nvSpPr>
          <p:cNvPr id="184" name="Google Shape;184;p11"/>
          <p:cNvSpPr/>
          <p:nvPr/>
        </p:nvSpPr>
        <p:spPr>
          <a:xfrm>
            <a:off x="7181850" y="1752600"/>
            <a:ext cx="2000250" cy="1104900"/>
          </a:xfrm>
          <a:prstGeom prst="roundRect">
            <a:avLst>
              <a:gd fmla="val 8621" name="adj"/>
            </a:avLst>
          </a:prstGeom>
          <a:solidFill>
            <a:srgbClr val="FFF1DD"/>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7315200" y="186690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04</a:t>
            </a:r>
            <a:endParaRPr/>
          </a:p>
        </p:txBody>
      </p:sp>
      <p:sp>
        <p:nvSpPr>
          <p:cNvPr id="186" name="Google Shape;186;p11"/>
          <p:cNvSpPr/>
          <p:nvPr/>
        </p:nvSpPr>
        <p:spPr>
          <a:xfrm>
            <a:off x="7734300" y="1847850"/>
            <a:ext cx="13144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Merge and build</a:t>
            </a:r>
            <a:endParaRPr/>
          </a:p>
        </p:txBody>
      </p:sp>
      <p:sp>
        <p:nvSpPr>
          <p:cNvPr id="187" name="Google Shape;187;p11"/>
          <p:cNvSpPr/>
          <p:nvPr/>
        </p:nvSpPr>
        <p:spPr>
          <a:xfrm>
            <a:off x="7334250" y="2238375"/>
            <a:ext cx="16954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Point-in-time joins, lags, adjustments, and signals</a:t>
            </a:r>
            <a:endParaRPr/>
          </a:p>
        </p:txBody>
      </p:sp>
      <p:sp>
        <p:nvSpPr>
          <p:cNvPr id="188" name="Google Shape;188;p11"/>
          <p:cNvSpPr/>
          <p:nvPr/>
        </p:nvSpPr>
        <p:spPr>
          <a:xfrm>
            <a:off x="9372600" y="1752600"/>
            <a:ext cx="2000250" cy="1104900"/>
          </a:xfrm>
          <a:prstGeom prst="roundRect">
            <a:avLst>
              <a:gd fmla="val 8621" name="adj"/>
            </a:avLst>
          </a:prstGeom>
          <a:solidFill>
            <a:srgbClr val="E3F3EB"/>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9505950" y="186690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05</a:t>
            </a:r>
            <a:endParaRPr/>
          </a:p>
        </p:txBody>
      </p:sp>
      <p:sp>
        <p:nvSpPr>
          <p:cNvPr id="190" name="Google Shape;190;p11"/>
          <p:cNvSpPr/>
          <p:nvPr/>
        </p:nvSpPr>
        <p:spPr>
          <a:xfrm>
            <a:off x="9925050" y="1847850"/>
            <a:ext cx="13144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Analysis panel</a:t>
            </a:r>
            <a:endParaRPr/>
          </a:p>
        </p:txBody>
      </p:sp>
      <p:sp>
        <p:nvSpPr>
          <p:cNvPr id="191" name="Google Shape;191;p11"/>
          <p:cNvSpPr/>
          <p:nvPr/>
        </p:nvSpPr>
        <p:spPr>
          <a:xfrm>
            <a:off x="9525000" y="2238375"/>
            <a:ext cx="16954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Frozen sample plus quality and exclusion reports</a:t>
            </a:r>
            <a:endParaRPr/>
          </a:p>
        </p:txBody>
      </p:sp>
      <p:sp>
        <p:nvSpPr>
          <p:cNvPr id="192" name="Google Shape;192;p11"/>
          <p:cNvSpPr/>
          <p:nvPr/>
        </p:nvSpPr>
        <p:spPr>
          <a:xfrm>
            <a:off x="609600" y="3514725"/>
            <a:ext cx="520065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609600" y="3219450"/>
            <a:ext cx="52006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VALIDATION EVIDENCE</a:t>
            </a:r>
            <a:endParaRPr/>
          </a:p>
        </p:txBody>
      </p:sp>
      <p:sp>
        <p:nvSpPr>
          <p:cNvPr id="194" name="Google Shape;194;p11"/>
          <p:cNvSpPr/>
          <p:nvPr/>
        </p:nvSpPr>
        <p:spPr>
          <a:xfrm>
            <a:off x="609600" y="3638550"/>
            <a:ext cx="5200650" cy="180975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Missingness by field, date, and entity</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Duplicate and invalid key counts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Date range, frequency, and calendar checks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Units, currencies, splits, and adjustment conventions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Merge rates and unmatched identifier report</a:t>
            </a:r>
            <a:endParaRPr/>
          </a:p>
        </p:txBody>
      </p:sp>
      <p:sp>
        <p:nvSpPr>
          <p:cNvPr id="195" name="Google Shape;195;p11"/>
          <p:cNvSpPr/>
          <p:nvPr/>
        </p:nvSpPr>
        <p:spPr>
          <a:xfrm>
            <a:off x="6286500" y="3514725"/>
            <a:ext cx="5257800" cy="19050"/>
          </a:xfrm>
          <a:prstGeom prst="rect">
            <a:avLst/>
          </a:prstGeom>
          <a:solidFill>
            <a:srgbClr val="B547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6286500" y="3219450"/>
            <a:ext cx="52578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B5473C"/>
                </a:solidFill>
                <a:latin typeface="Arial"/>
                <a:ea typeface="Arial"/>
                <a:cs typeface="Arial"/>
                <a:sym typeface="Arial"/>
              </a:rPr>
              <a:t>BIAS AND INTEGRITY CHECKS</a:t>
            </a:r>
            <a:endParaRPr/>
          </a:p>
        </p:txBody>
      </p:sp>
      <p:sp>
        <p:nvSpPr>
          <p:cNvPr id="197" name="Google Shape;197;p11"/>
          <p:cNvSpPr/>
          <p:nvPr/>
        </p:nvSpPr>
        <p:spPr>
          <a:xfrm>
            <a:off x="6286500" y="3638550"/>
            <a:ext cx="5257800" cy="180975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Point-in-time availability and look-ahead risk</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Survivorship, delistings, and universe changes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Outliers, stale values, and implausible jumps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Coverage changes around the sample boundaries</a:t>
            </a:r>
            <a:endParaRPr/>
          </a:p>
          <a:p>
            <a:pPr indent="-101600" lvl="0" marL="215900" marR="0" rtl="0" algn="l">
              <a:spcBef>
                <a:spcPts val="5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Raw-to-final row counts and exclusion reasons</a:t>
            </a:r>
            <a:endParaRPr/>
          </a:p>
        </p:txBody>
      </p:sp>
      <p:sp>
        <p:nvSpPr>
          <p:cNvPr id="198" name="Google Shape;198;p11"/>
          <p:cNvSpPr/>
          <p:nvPr/>
        </p:nvSpPr>
        <p:spPr>
          <a:xfrm>
            <a:off x="609600" y="5810250"/>
            <a:ext cx="57150" cy="400050"/>
          </a:xfrm>
          <a:prstGeom prst="rect">
            <a:avLst/>
          </a:prstGeom>
          <a:solidFill>
            <a:srgbClr val="C56A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781050" y="581977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If the project uses intraday data, report bar coverage, timestamps, time zone, trading calendar, and aggregation rule. Use only the local intraday archive.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04" name="Shape 204"/>
        <p:cNvGrpSpPr/>
        <p:nvPr/>
      </p:nvGrpSpPr>
      <p:grpSpPr>
        <a:xfrm>
          <a:off x="0" y="0"/>
          <a:ext cx="0" cy="0"/>
          <a:chOff x="0" y="0"/>
          <a:chExt cx="0" cy="0"/>
        </a:xfrm>
      </p:grpSpPr>
      <p:sp>
        <p:nvSpPr>
          <p:cNvPr id="205" name="Google Shape;205;p12"/>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CODE AND REPRODUCIBILITY</a:t>
            </a:r>
            <a:endParaRPr/>
          </a:p>
        </p:txBody>
      </p:sp>
      <p:sp>
        <p:nvSpPr>
          <p:cNvPr id="207" name="Google Shape;207;p12"/>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The code reproduces every result from raw inputs</a:t>
            </a:r>
            <a:endParaRPr/>
          </a:p>
        </p:txBody>
      </p:sp>
      <p:sp>
        <p:nvSpPr>
          <p:cNvPr id="208" name="Google Shape;208;p12"/>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Present the executable workflow, current status, and proof of a successful run.</a:t>
            </a:r>
            <a:endParaRPr/>
          </a:p>
        </p:txBody>
      </p:sp>
      <p:sp>
        <p:nvSpPr>
          <p:cNvPr id="209" name="Google Shape;209;p12"/>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11" name="Google Shape;211;p12"/>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10</a:t>
            </a:r>
            <a:endParaRPr/>
          </a:p>
        </p:txBody>
      </p:sp>
      <p:sp>
        <p:nvSpPr>
          <p:cNvPr id="212" name="Google Shape;212;p12"/>
          <p:cNvSpPr/>
          <p:nvPr/>
        </p:nvSpPr>
        <p:spPr>
          <a:xfrm>
            <a:off x="609600" y="1695450"/>
            <a:ext cx="2686050" cy="1104900"/>
          </a:xfrm>
          <a:prstGeom prst="roundRect">
            <a:avLst>
              <a:gd fmla="val 8621" name="adj"/>
            </a:avLst>
          </a:prstGeom>
          <a:solidFill>
            <a:srgbClr val="FFFFFF"/>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2"/>
          <p:cNvSpPr/>
          <p:nvPr/>
        </p:nvSpPr>
        <p:spPr>
          <a:xfrm>
            <a:off x="742950" y="180975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01</a:t>
            </a:r>
            <a:endParaRPr/>
          </a:p>
        </p:txBody>
      </p:sp>
      <p:sp>
        <p:nvSpPr>
          <p:cNvPr id="214" name="Google Shape;214;p12"/>
          <p:cNvSpPr/>
          <p:nvPr/>
        </p:nvSpPr>
        <p:spPr>
          <a:xfrm>
            <a:off x="1162050" y="1790700"/>
            <a:ext cx="20002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Import</a:t>
            </a:r>
            <a:endParaRPr/>
          </a:p>
        </p:txBody>
      </p:sp>
      <p:sp>
        <p:nvSpPr>
          <p:cNvPr id="215" name="Google Shape;215;p12"/>
          <p:cNvSpPr/>
          <p:nvPr/>
        </p:nvSpPr>
        <p:spPr>
          <a:xfrm>
            <a:off x="762000" y="2181225"/>
            <a:ext cx="23812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Read local files and Bloomberg deliveries without altering raw data</a:t>
            </a:r>
            <a:endParaRPr/>
          </a:p>
        </p:txBody>
      </p:sp>
      <p:sp>
        <p:nvSpPr>
          <p:cNvPr id="216" name="Google Shape;216;p12"/>
          <p:cNvSpPr/>
          <p:nvPr/>
        </p:nvSpPr>
        <p:spPr>
          <a:xfrm>
            <a:off x="3467100" y="1695450"/>
            <a:ext cx="2686050" cy="1104900"/>
          </a:xfrm>
          <a:prstGeom prst="roundRect">
            <a:avLst>
              <a:gd fmla="val 8621" name="adj"/>
            </a:avLst>
          </a:prstGeom>
          <a:solidFill>
            <a:srgbClr val="E7F0FC"/>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2"/>
          <p:cNvSpPr/>
          <p:nvPr/>
        </p:nvSpPr>
        <p:spPr>
          <a:xfrm>
            <a:off x="3600450" y="180975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02</a:t>
            </a:r>
            <a:endParaRPr/>
          </a:p>
        </p:txBody>
      </p:sp>
      <p:sp>
        <p:nvSpPr>
          <p:cNvPr id="218" name="Google Shape;218;p12"/>
          <p:cNvSpPr/>
          <p:nvPr/>
        </p:nvSpPr>
        <p:spPr>
          <a:xfrm>
            <a:off x="4019550" y="1790700"/>
            <a:ext cx="20002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Clean and validate</a:t>
            </a:r>
            <a:endParaRPr/>
          </a:p>
        </p:txBody>
      </p:sp>
      <p:sp>
        <p:nvSpPr>
          <p:cNvPr id="219" name="Google Shape;219;p12"/>
          <p:cNvSpPr/>
          <p:nvPr/>
        </p:nvSpPr>
        <p:spPr>
          <a:xfrm>
            <a:off x="3619500" y="2181225"/>
            <a:ext cx="23812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Normalize schema, dates, identifiers, units, and missing values</a:t>
            </a:r>
            <a:endParaRPr/>
          </a:p>
        </p:txBody>
      </p:sp>
      <p:sp>
        <p:nvSpPr>
          <p:cNvPr id="220" name="Google Shape;220;p12"/>
          <p:cNvSpPr/>
          <p:nvPr/>
        </p:nvSpPr>
        <p:spPr>
          <a:xfrm>
            <a:off x="6324600" y="1695450"/>
            <a:ext cx="2686050" cy="1104900"/>
          </a:xfrm>
          <a:prstGeom prst="roundRect">
            <a:avLst>
              <a:gd fmla="val 8621" name="adj"/>
            </a:avLst>
          </a:prstGeom>
          <a:solidFill>
            <a:srgbClr val="DDF2F3"/>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2"/>
          <p:cNvSpPr/>
          <p:nvPr/>
        </p:nvSpPr>
        <p:spPr>
          <a:xfrm>
            <a:off x="6457950" y="180975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03</a:t>
            </a:r>
            <a:endParaRPr/>
          </a:p>
        </p:txBody>
      </p:sp>
      <p:sp>
        <p:nvSpPr>
          <p:cNvPr id="222" name="Google Shape;222;p12"/>
          <p:cNvSpPr/>
          <p:nvPr/>
        </p:nvSpPr>
        <p:spPr>
          <a:xfrm>
            <a:off x="6877050" y="1790700"/>
            <a:ext cx="20002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Build and estimate</a:t>
            </a:r>
            <a:endParaRPr/>
          </a:p>
        </p:txBody>
      </p:sp>
      <p:sp>
        <p:nvSpPr>
          <p:cNvPr id="223" name="Google Shape;223;p12"/>
          <p:cNvSpPr/>
          <p:nvPr/>
        </p:nvSpPr>
        <p:spPr>
          <a:xfrm>
            <a:off x="6477000" y="2181225"/>
            <a:ext cx="23812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Construct signals, merge panels, and run the approved specification</a:t>
            </a:r>
            <a:endParaRPr/>
          </a:p>
        </p:txBody>
      </p:sp>
      <p:sp>
        <p:nvSpPr>
          <p:cNvPr id="224" name="Google Shape;224;p12"/>
          <p:cNvSpPr/>
          <p:nvPr/>
        </p:nvSpPr>
        <p:spPr>
          <a:xfrm>
            <a:off x="9182100" y="1695450"/>
            <a:ext cx="2686050" cy="1104900"/>
          </a:xfrm>
          <a:prstGeom prst="roundRect">
            <a:avLst>
              <a:gd fmla="val 8621" name="adj"/>
            </a:avLst>
          </a:prstGeom>
          <a:solidFill>
            <a:srgbClr val="E3F3EB"/>
          </a:solidFill>
          <a:ln cap="flat" cmpd="sng" w="9525">
            <a:solidFill>
              <a:srgbClr val="CFD8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9315450" y="1809750"/>
            <a:ext cx="419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087E8B"/>
                </a:solidFill>
                <a:latin typeface="Arial"/>
                <a:ea typeface="Arial"/>
                <a:cs typeface="Arial"/>
                <a:sym typeface="Arial"/>
              </a:rPr>
              <a:t>04</a:t>
            </a:r>
            <a:endParaRPr/>
          </a:p>
        </p:txBody>
      </p:sp>
      <p:sp>
        <p:nvSpPr>
          <p:cNvPr id="226" name="Google Shape;226;p12"/>
          <p:cNvSpPr/>
          <p:nvPr/>
        </p:nvSpPr>
        <p:spPr>
          <a:xfrm>
            <a:off x="9734550" y="1790700"/>
            <a:ext cx="20002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102A43"/>
                </a:solidFill>
                <a:latin typeface="Arial"/>
                <a:ea typeface="Arial"/>
                <a:cs typeface="Arial"/>
                <a:sym typeface="Arial"/>
              </a:rPr>
              <a:t>Export</a:t>
            </a:r>
            <a:endParaRPr/>
          </a:p>
        </p:txBody>
      </p:sp>
      <p:sp>
        <p:nvSpPr>
          <p:cNvPr id="227" name="Google Shape;227;p12"/>
          <p:cNvSpPr/>
          <p:nvPr/>
        </p:nvSpPr>
        <p:spPr>
          <a:xfrm>
            <a:off x="9334500" y="2181225"/>
            <a:ext cx="238125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75">
                <a:solidFill>
                  <a:srgbClr val="172B3A"/>
                </a:solidFill>
                <a:latin typeface="Arial"/>
                <a:ea typeface="Arial"/>
                <a:cs typeface="Arial"/>
                <a:sym typeface="Arial"/>
              </a:rPr>
              <a:t>Write publication-ready figures, tables, and diagnostic logs</a:t>
            </a:r>
            <a:endParaRPr/>
          </a:p>
        </p:txBody>
      </p:sp>
      <p:graphicFrame>
        <p:nvGraphicFramePr>
          <p:cNvPr id="228" name="Google Shape;228;p12"/>
          <p:cNvGraphicFramePr/>
          <p:nvPr/>
        </p:nvGraphicFramePr>
        <p:xfrm>
          <a:off x="609600" y="3124200"/>
          <a:ext cx="3000000" cy="3000000"/>
        </p:xfrm>
        <a:graphic>
          <a:graphicData uri="http://schemas.openxmlformats.org/drawingml/2006/table">
            <a:tbl>
              <a:tblPr>
                <a:noFill/>
                <a:tableStyleId>{B171E031-FB84-471F-B90F-305205B68F89}</a:tableStyleId>
              </a:tblPr>
              <a:tblGrid>
                <a:gridCol w="2038350"/>
                <a:gridCol w="2628900"/>
                <a:gridCol w="2190750"/>
                <a:gridCol w="1866900"/>
                <a:gridCol w="2209800"/>
              </a:tblGrid>
              <a:tr h="468625">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Artifact</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Exact path</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Status</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Last successful run</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Evidence</a:t>
                      </a:r>
                      <a:endParaRPr/>
                    </a:p>
                  </a:txBody>
                  <a:tcPr marT="57150" marB="57150" marR="76200" marL="76200" anchor="ctr">
                    <a:solidFill>
                      <a:srgbClr val="102A43"/>
                    </a:solidFill>
                  </a:tcPr>
                </a:tc>
              </a:tr>
              <a:tr h="468625">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Download or import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[notebook or script]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[Not started / working / complete]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[Date and time]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[Rows, files, log]</a:t>
                      </a:r>
                      <a:endParaRPr/>
                    </a:p>
                  </a:txBody>
                  <a:tcPr marT="57150" marB="57150" marR="76200" marL="76200" anchor="ctr">
                    <a:solidFill>
                      <a:srgbClr val="FFFFFF"/>
                    </a:solidFill>
                  </a:tcPr>
                </a:tc>
              </a:tr>
              <a:tr h="468625">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Cleaning and panel build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[module or notebook]</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[Status]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[Date and time]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[Checks passed]</a:t>
                      </a:r>
                      <a:endParaRPr/>
                    </a:p>
                  </a:txBody>
                  <a:tcPr marT="57150" marB="57150" marR="76200" marL="76200" anchor="ctr">
                    <a:solidFill>
                      <a:srgbClr val="F2F5F7"/>
                    </a:solidFill>
                  </a:tcPr>
                </a:tc>
              </a:tr>
              <a:tr h="468625">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Estimation or backtest</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[module or notebook]</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[Status]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[Date and time]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[Spec ID and output]</a:t>
                      </a:r>
                      <a:endParaRPr/>
                    </a:p>
                  </a:txBody>
                  <a:tcPr marT="57150" marB="57150" marR="76200" marL="76200" anchor="ctr">
                    <a:solidFill>
                      <a:srgbClr val="FFFFFF"/>
                    </a:solidFill>
                  </a:tcPr>
                </a:tc>
              </a:tr>
              <a:tr h="468625">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Figures and tables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[output folder]</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[Status]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[Date and time]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[Saved filenames]</a:t>
                      </a:r>
                      <a:endParaRPr/>
                    </a:p>
                  </a:txBody>
                  <a:tcPr marT="57150" marB="57150" marR="76200" marL="76200" anchor="ctr">
                    <a:solidFill>
                      <a:srgbClr val="F2F5F7"/>
                    </a:solidFill>
                  </a:tcPr>
                </a:tc>
              </a:tr>
            </a:tbl>
          </a:graphicData>
        </a:graphic>
      </p:graphicFrame>
      <p:sp>
        <p:nvSpPr>
          <p:cNvPr id="229" name="Google Shape;229;p12"/>
          <p:cNvSpPr/>
          <p:nvPr/>
        </p:nvSpPr>
        <p:spPr>
          <a:xfrm>
            <a:off x="609600" y="5791200"/>
            <a:ext cx="57150" cy="400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781050" y="580072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Readiness: Data [__%]     Code [__%]     Analysis [__%]     Documentation [__%]. Record package versions, parameters, and random seeds where applicable.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35" name="Shape 235"/>
        <p:cNvGrpSpPr/>
        <p:nvPr/>
      </p:nvGrpSpPr>
      <p:grpSpPr>
        <a:xfrm>
          <a:off x="0" y="0"/>
          <a:ext cx="0" cy="0"/>
          <a:chOff x="0" y="0"/>
          <a:chExt cx="0" cy="0"/>
        </a:xfrm>
      </p:grpSpPr>
      <p:sp>
        <p:nvSpPr>
          <p:cNvPr id="236" name="Google Shape;236;p13"/>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PRELIMINARY RESULTS</a:t>
            </a:r>
            <a:endParaRPr/>
          </a:p>
        </p:txBody>
      </p:sp>
      <p:sp>
        <p:nvSpPr>
          <p:cNvPr id="238" name="Google Shape;238;p13"/>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Current code produces [main preliminary result]</a:t>
            </a:r>
            <a:endParaRPr/>
          </a:p>
        </p:txBody>
      </p:sp>
      <p:sp>
        <p:nvSpPr>
          <p:cNvPr id="239" name="Google Shape;239;p13"/>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Replace the example chart and table with the most decision-relevant output from your code.</a:t>
            </a:r>
            <a:endParaRPr/>
          </a:p>
        </p:txBody>
      </p:sp>
      <p:sp>
        <p:nvSpPr>
          <p:cNvPr id="240" name="Google Shape;240;p13"/>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42" name="Google Shape;242;p13"/>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11</a:t>
            </a:r>
            <a:endParaRPr/>
          </a:p>
        </p:txBody>
      </p:sp>
      <p:sp>
        <p:nvSpPr>
          <p:cNvPr id="243" name="Google Shape;243;p13"/>
          <p:cNvSpPr/>
          <p:nvPr/>
        </p:nvSpPr>
        <p:spPr>
          <a:xfrm>
            <a:off x="666750" y="1619250"/>
            <a:ext cx="5905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B5473C"/>
                </a:solidFill>
                <a:latin typeface="Arial"/>
                <a:ea typeface="Arial"/>
                <a:cs typeface="Arial"/>
                <a:sym typeface="Arial"/>
              </a:rPr>
              <a:t>ILLUSTRATIVE PLACEHOLDER: REPLACE CHART AND VALUES</a:t>
            </a:r>
            <a:endParaRPr/>
          </a:p>
        </p:txBody>
      </p:sp>
      <p:pic>
        <p:nvPicPr>
          <p:cNvPr id="244" name="Google Shape;244;p13"/>
          <p:cNvPicPr preferRelativeResize="0"/>
          <p:nvPr/>
        </p:nvPicPr>
        <p:blipFill rotWithShape="1">
          <a:blip r:embed="rId3">
            <a:alphaModFix/>
          </a:blip>
          <a:srcRect b="0" l="0" r="0" t="0"/>
          <a:stretch/>
        </p:blipFill>
        <p:spPr>
          <a:xfrm>
            <a:off x="571500" y="1924050"/>
            <a:ext cx="6667500" cy="3333750"/>
          </a:xfrm>
          <a:prstGeom prst="rect">
            <a:avLst/>
          </a:prstGeom>
          <a:noFill/>
          <a:ln>
            <a:noFill/>
          </a:ln>
        </p:spPr>
      </p:pic>
      <p:graphicFrame>
        <p:nvGraphicFramePr>
          <p:cNvPr id="245" name="Google Shape;245;p13"/>
          <p:cNvGraphicFramePr/>
          <p:nvPr/>
        </p:nvGraphicFramePr>
        <p:xfrm>
          <a:off x="7524750" y="1847850"/>
          <a:ext cx="3000000" cy="3000000"/>
        </p:xfrm>
        <a:graphic>
          <a:graphicData uri="http://schemas.openxmlformats.org/drawingml/2006/table">
            <a:tbl>
              <a:tblPr>
                <a:noFill/>
                <a:tableStyleId>{B171E031-FB84-471F-B90F-305205B68F89}</a:tableStyleId>
              </a:tblPr>
              <a:tblGrid>
                <a:gridCol w="1790700"/>
                <a:gridCol w="2228850"/>
              </a:tblGrid>
              <a:tr h="43815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Result field</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Value</a:t>
                      </a:r>
                      <a:endParaRPr/>
                    </a:p>
                  </a:txBody>
                  <a:tcPr marT="57150" marB="57150" marR="76200" marL="76200" anchor="ctr">
                    <a:solidFill>
                      <a:srgbClr val="102A43"/>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Outcome or metric</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[Name and units]</a:t>
                      </a:r>
                      <a:endParaRPr/>
                    </a:p>
                  </a:txBody>
                  <a:tcPr marT="57150" marB="57150" marR="76200" marL="76200" anchor="ctr">
                    <a:solidFill>
                      <a:srgbClr val="FFFFFF"/>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Estimate or performance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[Value]</a:t>
                      </a:r>
                      <a:endParaRPr/>
                    </a:p>
                  </a:txBody>
                  <a:tcPr marT="57150" marB="57150" marR="76200" marL="76200" anchor="ctr">
                    <a:solidFill>
                      <a:srgbClr val="F2F5F7"/>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Uncertainty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[SE / CI / dispersion]</a:t>
                      </a:r>
                      <a:endParaRPr/>
                    </a:p>
                  </a:txBody>
                  <a:tcPr marT="57150" marB="57150" marR="76200" marL="76200" anchor="ctr">
                    <a:solidFill>
                      <a:srgbClr val="FFFFFF"/>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Sample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[N, entities, dates]</a:t>
                      </a:r>
                      <a:endParaRPr/>
                    </a:p>
                  </a:txBody>
                  <a:tcPr marT="57150" marB="57150" marR="76200" marL="76200" anchor="ctr">
                    <a:solidFill>
                      <a:srgbClr val="F2F5F7"/>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Specification</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[Model / sort / weighting]</a:t>
                      </a:r>
                      <a:endParaRPr/>
                    </a:p>
                  </a:txBody>
                  <a:tcPr marT="57150" marB="57150" marR="76200" marL="76200" anchor="ctr">
                    <a:solidFill>
                      <a:srgbClr val="FFFFFF"/>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Costs or frictions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[Gross / net / assumptions]</a:t>
                      </a:r>
                      <a:endParaRPr/>
                    </a:p>
                  </a:txBody>
                  <a:tcPr marT="57150" marB="57150" marR="76200" marL="76200" anchor="ctr">
                    <a:solidFill>
                      <a:srgbClr val="F2F5F7"/>
                    </a:solidFill>
                  </a:tcPr>
                </a:tc>
              </a:tr>
              <a:tr h="438150">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Status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125"/>
                        <a:buFont typeface="Arial"/>
                        <a:buNone/>
                      </a:pPr>
                      <a:r>
                        <a:rPr b="0" lang="en-US" sz="1125" u="none" cap="none" strike="noStrike">
                          <a:solidFill>
                            <a:srgbClr val="172B3A"/>
                          </a:solidFill>
                          <a:latin typeface="Arial"/>
                          <a:ea typeface="Arial"/>
                          <a:cs typeface="Arial"/>
                          <a:sym typeface="Arial"/>
                        </a:rPr>
                        <a:t>[Preliminary / robustness pending]</a:t>
                      </a:r>
                      <a:endParaRPr/>
                    </a:p>
                  </a:txBody>
                  <a:tcPr marT="57150" marB="57150" marR="76200" marL="76200" anchor="ctr">
                    <a:solidFill>
                      <a:srgbClr val="FFFFFF"/>
                    </a:solidFill>
                  </a:tcPr>
                </a:tc>
              </a:tr>
            </a:tbl>
          </a:graphicData>
        </a:graphic>
      </p:graphicFrame>
      <p:sp>
        <p:nvSpPr>
          <p:cNvPr id="246" name="Google Shape;246;p13"/>
          <p:cNvSpPr/>
          <p:nvPr/>
        </p:nvSpPr>
        <p:spPr>
          <a:xfrm>
            <a:off x="609600" y="5791200"/>
            <a:ext cx="57150" cy="400050"/>
          </a:xfrm>
          <a:prstGeom prst="rect">
            <a:avLst/>
          </a:prstGeom>
          <a:solidFill>
            <a:srgbClr val="C56A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781050" y="580072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350">
                <a:solidFill>
                  <a:srgbClr val="172B3A"/>
                </a:solidFill>
                <a:latin typeface="Arial"/>
                <a:ea typeface="Arial"/>
                <a:cs typeface="Arial"/>
                <a:sym typeface="Arial"/>
              </a:rPr>
              <a:t>One-sentence reading: [direction, magnitude, uncertainty, and scope]. Keep null, unstable, and failed results in the research record.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52" name="Shape 252"/>
        <p:cNvGrpSpPr/>
        <p:nvPr/>
      </p:nvGrpSpPr>
      <p:grpSpPr>
        <a:xfrm>
          <a:off x="0" y="0"/>
          <a:ext cx="0" cy="0"/>
          <a:chOff x="0" y="0"/>
          <a:chExt cx="0" cy="0"/>
        </a:xfrm>
      </p:grpSpPr>
      <p:sp>
        <p:nvSpPr>
          <p:cNvPr id="253" name="Google Shape;253;p14"/>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DECISION AND NEXT STEPS</a:t>
            </a:r>
            <a:endParaRPr/>
          </a:p>
        </p:txBody>
      </p:sp>
      <p:sp>
        <p:nvSpPr>
          <p:cNvPr id="255" name="Google Shape;255;p14"/>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Next checkpoint: resolve [highest-priority uncertainty]</a:t>
            </a:r>
            <a:endParaRPr/>
          </a:p>
        </p:txBody>
      </p:sp>
      <p:sp>
        <p:nvSpPr>
          <p:cNvPr id="256" name="Google Shape;256;p14"/>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Separate current evidence, unresolved decisions, and concrete next deliverables.</a:t>
            </a:r>
            <a:endParaRPr/>
          </a:p>
        </p:txBody>
      </p:sp>
      <p:sp>
        <p:nvSpPr>
          <p:cNvPr id="257" name="Google Shape;257;p14"/>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59" name="Google Shape;259;p14"/>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12</a:t>
            </a:r>
            <a:endParaRPr/>
          </a:p>
        </p:txBody>
      </p:sp>
      <p:sp>
        <p:nvSpPr>
          <p:cNvPr id="260" name="Google Shape;260;p14"/>
          <p:cNvSpPr/>
          <p:nvPr/>
        </p:nvSpPr>
        <p:spPr>
          <a:xfrm>
            <a:off x="609600" y="1990725"/>
            <a:ext cx="3219450" cy="19050"/>
          </a:xfrm>
          <a:prstGeom prst="rect">
            <a:avLst/>
          </a:prstGeom>
          <a:solidFill>
            <a:srgbClr val="2E7D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609600" y="1695450"/>
            <a:ext cx="32194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2E7D5A"/>
                </a:solidFill>
                <a:latin typeface="Arial"/>
                <a:ea typeface="Arial"/>
                <a:cs typeface="Arial"/>
                <a:sym typeface="Arial"/>
              </a:rPr>
              <a:t>EVIDENCE SO FAR</a:t>
            </a:r>
            <a:endParaRPr/>
          </a:p>
        </p:txBody>
      </p:sp>
      <p:sp>
        <p:nvSpPr>
          <p:cNvPr id="262" name="Google Shape;262;p14"/>
          <p:cNvSpPr/>
          <p:nvPr/>
        </p:nvSpPr>
        <p:spPr>
          <a:xfrm>
            <a:off x="609600" y="2114550"/>
            <a:ext cx="3219450" cy="177165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[What is verified about data coverage?]</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[What code runs end to end?]</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[What preliminary result is stable?]</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[What result remains descriptive only?]</a:t>
            </a:r>
            <a:endParaRPr/>
          </a:p>
        </p:txBody>
      </p:sp>
      <p:sp>
        <p:nvSpPr>
          <p:cNvPr id="263" name="Google Shape;263;p14"/>
          <p:cNvSpPr/>
          <p:nvPr/>
        </p:nvSpPr>
        <p:spPr>
          <a:xfrm>
            <a:off x="4476750" y="1990725"/>
            <a:ext cx="3219450" cy="19050"/>
          </a:xfrm>
          <a:prstGeom prst="rect">
            <a:avLst/>
          </a:prstGeom>
          <a:solidFill>
            <a:srgbClr val="B547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4476750" y="1695450"/>
            <a:ext cx="32194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B5473C"/>
                </a:solidFill>
                <a:latin typeface="Arial"/>
                <a:ea typeface="Arial"/>
                <a:cs typeface="Arial"/>
                <a:sym typeface="Arial"/>
              </a:rPr>
              <a:t>OPEN BLOCKERS OR DECISIONS</a:t>
            </a:r>
            <a:endParaRPr/>
          </a:p>
        </p:txBody>
      </p:sp>
      <p:sp>
        <p:nvSpPr>
          <p:cNvPr id="265" name="Google Shape;265;p14"/>
          <p:cNvSpPr/>
          <p:nvPr/>
        </p:nvSpPr>
        <p:spPr>
          <a:xfrm>
            <a:off x="4476750" y="2114550"/>
            <a:ext cx="3219450" cy="177165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[Missing field, universe, or date coverage]</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[Identifier, adjustment, or point-in-time issue]</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[Methodological decision requiring approval]</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[Compute, code, or validation problem]</a:t>
            </a:r>
            <a:endParaRPr/>
          </a:p>
        </p:txBody>
      </p:sp>
      <p:sp>
        <p:nvSpPr>
          <p:cNvPr id="266" name="Google Shape;266;p14"/>
          <p:cNvSpPr/>
          <p:nvPr/>
        </p:nvSpPr>
        <p:spPr>
          <a:xfrm>
            <a:off x="8324850" y="1990725"/>
            <a:ext cx="3219450" cy="19050"/>
          </a:xfrm>
          <a:prstGeom prst="rect">
            <a:avLst/>
          </a:prstGeom>
          <a:solidFill>
            <a:srgbClr val="C56A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8324850" y="1695450"/>
            <a:ext cx="32194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C56A11"/>
                </a:solidFill>
                <a:latin typeface="Arial"/>
                <a:ea typeface="Arial"/>
                <a:cs typeface="Arial"/>
                <a:sym typeface="Arial"/>
              </a:rPr>
              <a:t>FEEDBACK REQUESTED</a:t>
            </a:r>
            <a:endParaRPr/>
          </a:p>
        </p:txBody>
      </p:sp>
      <p:sp>
        <p:nvSpPr>
          <p:cNvPr id="268" name="Google Shape;268;p14"/>
          <p:cNvSpPr/>
          <p:nvPr/>
        </p:nvSpPr>
        <p:spPr>
          <a:xfrm>
            <a:off x="8324850" y="2114550"/>
            <a:ext cx="3219450" cy="1771650"/>
          </a:xfrm>
          <a:prstGeom prst="rect">
            <a:avLst/>
          </a:prstGeom>
          <a:noFill/>
          <a:ln>
            <a:noFill/>
          </a:ln>
        </p:spPr>
        <p:txBody>
          <a:bodyPr anchorCtr="0" anchor="t" bIns="0" lIns="0" spcFirstLastPara="1" rIns="0" wrap="square" tIns="0">
            <a:noAutofit/>
          </a:bodyPr>
          <a:lstStyle/>
          <a:p>
            <a:pPr indent="-101600" lvl="0" marL="215900" marR="0" rtl="0" algn="l">
              <a:spcBef>
                <a:spcPts val="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[One specific decision for the instructor]</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[One technical question for the class]</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[One assumption to confirm]</a:t>
            </a:r>
            <a:endParaRPr/>
          </a:p>
          <a:p>
            <a:pPr indent="-101600" lvl="0" marL="215900" marR="0" rtl="0" algn="l">
              <a:spcBef>
                <a:spcPts val="600"/>
              </a:spcBef>
              <a:spcAft>
                <a:spcPts val="0"/>
              </a:spcAft>
              <a:buClr>
                <a:srgbClr val="172B3A"/>
              </a:buClr>
              <a:buSzPts val="1500"/>
              <a:buFont typeface="Arial"/>
              <a:buChar char="•"/>
            </a:pPr>
            <a:r>
              <a:rPr b="0" lang="en-US" sz="1500">
                <a:solidFill>
                  <a:srgbClr val="172B3A"/>
                </a:solidFill>
                <a:latin typeface="Arial"/>
                <a:ea typeface="Arial"/>
                <a:cs typeface="Arial"/>
                <a:sym typeface="Arial"/>
              </a:rPr>
              <a:t>[One risk to monitor]</a:t>
            </a:r>
            <a:endParaRPr/>
          </a:p>
        </p:txBody>
      </p:sp>
      <p:graphicFrame>
        <p:nvGraphicFramePr>
          <p:cNvPr id="269" name="Google Shape;269;p14"/>
          <p:cNvGraphicFramePr/>
          <p:nvPr/>
        </p:nvGraphicFramePr>
        <p:xfrm>
          <a:off x="609600" y="4267200"/>
          <a:ext cx="3000000" cy="3000000"/>
        </p:xfrm>
        <a:graphic>
          <a:graphicData uri="http://schemas.openxmlformats.org/drawingml/2006/table">
            <a:tbl>
              <a:tblPr>
                <a:noFill/>
                <a:tableStyleId>{B171E031-FB84-471F-B90F-305205B68F89}</a:tableStyleId>
              </a:tblPr>
              <a:tblGrid>
                <a:gridCol w="4267200"/>
                <a:gridCol w="1619250"/>
                <a:gridCol w="1695450"/>
                <a:gridCol w="3352800"/>
              </a:tblGrid>
              <a:tr h="395300">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Next action</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Owner</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Target date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275"/>
                        <a:buFont typeface="Arial"/>
                        <a:buNone/>
                      </a:pPr>
                      <a:r>
                        <a:rPr b="1" lang="en-US" sz="1275" u="none" cap="none" strike="noStrike">
                          <a:solidFill>
                            <a:srgbClr val="FFFFFF"/>
                          </a:solidFill>
                          <a:latin typeface="Arial"/>
                          <a:ea typeface="Arial"/>
                          <a:cs typeface="Arial"/>
                          <a:sym typeface="Arial"/>
                        </a:rPr>
                        <a:t>Proof of completion</a:t>
                      </a:r>
                      <a:endParaRPr/>
                    </a:p>
                  </a:txBody>
                  <a:tcPr marT="57150" marB="57150" marR="76200" marL="76200" anchor="ctr">
                    <a:solidFill>
                      <a:srgbClr val="102A43"/>
                    </a:solidFill>
                  </a:tcPr>
                </a:tc>
              </a:tr>
              <a:tr h="395300">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[Highest-priority task]</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[Name]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[Date]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[File, log, figure, or diagnostic]</a:t>
                      </a:r>
                      <a:endParaRPr/>
                    </a:p>
                  </a:txBody>
                  <a:tcPr marT="57150" marB="57150" marR="76200" marL="76200" anchor="ctr">
                    <a:solidFill>
                      <a:srgbClr val="FFFFFF"/>
                    </a:solidFill>
                  </a:tcPr>
                </a:tc>
              </a:tr>
              <a:tr h="395300">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[Second task]</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[Name]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[Date]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[File, log, figure, or diagnostic]</a:t>
                      </a:r>
                      <a:endParaRPr/>
                    </a:p>
                  </a:txBody>
                  <a:tcPr marT="57150" marB="57150" marR="76200" marL="76200" anchor="ctr">
                    <a:solidFill>
                      <a:srgbClr val="F2F5F7"/>
                    </a:solidFill>
                  </a:tcPr>
                </a:tc>
              </a:tr>
              <a:tr h="395300">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[Third task]</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[Name]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[Date]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200"/>
                        <a:buFont typeface="Arial"/>
                        <a:buNone/>
                      </a:pPr>
                      <a:r>
                        <a:rPr b="0" lang="en-US" sz="1200" u="none" cap="none" strike="noStrike">
                          <a:solidFill>
                            <a:srgbClr val="172B3A"/>
                          </a:solidFill>
                          <a:latin typeface="Arial"/>
                          <a:ea typeface="Arial"/>
                          <a:cs typeface="Arial"/>
                          <a:sym typeface="Arial"/>
                        </a:rPr>
                        <a:t>[File, log, figure, or diagnostic]</a:t>
                      </a:r>
                      <a:endParaRPr/>
                    </a:p>
                  </a:txBody>
                  <a:tcPr marT="57150" marB="57150" marR="76200" marL="7620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CFD"/>
        </a:solidFill>
      </p:bgPr>
    </p:bg>
    <p:spTree>
      <p:nvGrpSpPr>
        <p:cNvPr id="274" name="Shape 274"/>
        <p:cNvGrpSpPr/>
        <p:nvPr/>
      </p:nvGrpSpPr>
      <p:grpSpPr>
        <a:xfrm>
          <a:off x="0" y="0"/>
          <a:ext cx="0" cy="0"/>
          <a:chOff x="0" y="0"/>
          <a:chExt cx="0" cy="0"/>
        </a:xfrm>
      </p:grpSpPr>
      <p:sp>
        <p:nvSpPr>
          <p:cNvPr id="275" name="Google Shape;275;p15"/>
          <p:cNvSpPr/>
          <p:nvPr/>
        </p:nvSpPr>
        <p:spPr>
          <a:xfrm>
            <a:off x="0" y="0"/>
            <a:ext cx="114300" cy="685800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609600" y="285750"/>
            <a:ext cx="438150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25">
                <a:solidFill>
                  <a:srgbClr val="087E8B"/>
                </a:solidFill>
                <a:latin typeface="Arial"/>
                <a:ea typeface="Arial"/>
                <a:cs typeface="Arial"/>
                <a:sym typeface="Arial"/>
              </a:rPr>
              <a:t>DATA LINEAGE APPENDIX</a:t>
            </a:r>
            <a:endParaRPr/>
          </a:p>
        </p:txBody>
      </p:sp>
      <p:sp>
        <p:nvSpPr>
          <p:cNvPr id="277" name="Google Shape;277;p15"/>
          <p:cNvSpPr/>
          <p:nvPr/>
        </p:nvSpPr>
        <p:spPr>
          <a:xfrm>
            <a:off x="609600" y="514350"/>
            <a:ext cx="109347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25">
                <a:solidFill>
                  <a:srgbClr val="102A43"/>
                </a:solidFill>
                <a:latin typeface="Arial"/>
                <a:ea typeface="Arial"/>
                <a:cs typeface="Arial"/>
                <a:sym typeface="Arial"/>
              </a:rPr>
              <a:t>Appendix: keep one row for every source and retrieval</a:t>
            </a:r>
            <a:endParaRPr/>
          </a:p>
        </p:txBody>
      </p:sp>
      <p:sp>
        <p:nvSpPr>
          <p:cNvPr id="278" name="Google Shape;278;p15"/>
          <p:cNvSpPr/>
          <p:nvPr/>
        </p:nvSpPr>
        <p:spPr>
          <a:xfrm>
            <a:off x="628650" y="1123950"/>
            <a:ext cx="106680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75">
                <a:solidFill>
                  <a:srgbClr val="5F6F7A"/>
                </a:solidFill>
                <a:latin typeface="Arial"/>
                <a:ea typeface="Arial"/>
                <a:cs typeface="Arial"/>
                <a:sym typeface="Arial"/>
              </a:rPr>
              <a:t>Maintain this ledger throughout the project, including failed requests and substituted fields.</a:t>
            </a:r>
            <a:endParaRPr/>
          </a:p>
        </p:txBody>
      </p:sp>
      <p:sp>
        <p:nvSpPr>
          <p:cNvPr id="279" name="Google Shape;279;p15"/>
          <p:cNvSpPr/>
          <p:nvPr/>
        </p:nvSpPr>
        <p:spPr>
          <a:xfrm>
            <a:off x="590550" y="6496050"/>
            <a:ext cx="11010900" cy="9525"/>
          </a:xfrm>
          <a:prstGeom prst="rect">
            <a:avLst/>
          </a:prstGeom>
          <a:solidFill>
            <a:srgbClr val="CFD8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609600" y="6572250"/>
            <a:ext cx="4191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5F6F7A"/>
                </a:solidFill>
                <a:latin typeface="Arial"/>
                <a:ea typeface="Arial"/>
                <a:cs typeface="Arial"/>
                <a:sym typeface="Arial"/>
              </a:rPr>
              <a:t>MMF 1941   Project progress update</a:t>
            </a:r>
            <a:endParaRPr/>
          </a:p>
        </p:txBody>
      </p:sp>
      <p:sp>
        <p:nvSpPr>
          <p:cNvPr id="281" name="Google Shape;281;p15"/>
          <p:cNvSpPr/>
          <p:nvPr/>
        </p:nvSpPr>
        <p:spPr>
          <a:xfrm>
            <a:off x="11049000" y="6543675"/>
            <a:ext cx="53340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125">
                <a:solidFill>
                  <a:srgbClr val="102A43"/>
                </a:solidFill>
                <a:latin typeface="Arial"/>
                <a:ea typeface="Arial"/>
                <a:cs typeface="Arial"/>
                <a:sym typeface="Arial"/>
              </a:rPr>
              <a:t>13</a:t>
            </a:r>
            <a:endParaRPr/>
          </a:p>
        </p:txBody>
      </p:sp>
      <p:graphicFrame>
        <p:nvGraphicFramePr>
          <p:cNvPr id="282" name="Google Shape;282;p15"/>
          <p:cNvGraphicFramePr/>
          <p:nvPr/>
        </p:nvGraphicFramePr>
        <p:xfrm>
          <a:off x="381000" y="1676400"/>
          <a:ext cx="3000000" cy="3000000"/>
        </p:xfrm>
        <a:graphic>
          <a:graphicData uri="http://schemas.openxmlformats.org/drawingml/2006/table">
            <a:tbl>
              <a:tblPr>
                <a:noFill/>
                <a:tableStyleId>{B171E031-FB84-471F-B90F-305205B68F89}</a:tableStyleId>
              </a:tblPr>
              <a:tblGrid>
                <a:gridCol w="1123950"/>
                <a:gridCol w="2343150"/>
                <a:gridCol w="1790700"/>
                <a:gridCol w="1409700"/>
                <a:gridCol w="2324100"/>
                <a:gridCol w="2438400"/>
              </a:tblGrid>
              <a:tr h="590550">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Provider</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Dataset, security, or universe</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Fields and frequency</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Requested period</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Method and retrieval</a:t>
                      </a:r>
                      <a:endParaRPr/>
                    </a:p>
                  </a:txBody>
                  <a:tcPr marT="57150" marB="57150" marR="76200" marL="76200" anchor="ctr">
                    <a:solidFill>
                      <a:srgbClr val="102A43"/>
                    </a:solidFill>
                  </a:tcPr>
                </a:tc>
                <a:tc>
                  <a:txBody>
                    <a:bodyPr/>
                    <a:lstStyle/>
                    <a:p>
                      <a:pPr indent="0" lvl="0" marL="0" marR="0" rtl="0" algn="l">
                        <a:spcBef>
                          <a:spcPts val="0"/>
                        </a:spcBef>
                        <a:spcAft>
                          <a:spcPts val="0"/>
                        </a:spcAft>
                        <a:buClr>
                          <a:srgbClr val="FFFFFF"/>
                        </a:buClr>
                        <a:buSzPts val="1125"/>
                        <a:buFont typeface="Arial"/>
                        <a:buNone/>
                      </a:pPr>
                      <a:r>
                        <a:rPr b="1" lang="en-US" sz="1125" u="none" cap="none" strike="noStrike">
                          <a:solidFill>
                            <a:srgbClr val="FFFFFF"/>
                          </a:solidFill>
                          <a:latin typeface="Arial"/>
                          <a:ea typeface="Arial"/>
                          <a:cs typeface="Arial"/>
                          <a:sym typeface="Arial"/>
                        </a:rPr>
                        <a:t>Raw file, status, and notes</a:t>
                      </a:r>
                      <a:endParaRPr/>
                    </a:p>
                  </a:txBody>
                  <a:tcPr marT="57150" marB="57150" marR="76200" marL="76200" anchor="ctr">
                    <a:solidFill>
                      <a:srgbClr val="102A43"/>
                    </a:solidFill>
                  </a:tcPr>
                </a:tc>
              </a:tr>
              <a:tr h="5905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RiskLab</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 name or catalog ID]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[fields and frequency]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[period]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[catalog check and date]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[path, readiness, licence]</a:t>
                      </a:r>
                      <a:endParaRPr/>
                    </a:p>
                  </a:txBody>
                  <a:tcPr marT="57150" marB="57150" marR="76200" marL="76200" anchor="ctr">
                    <a:solidFill>
                      <a:srgbClr val="FFFFFF"/>
                    </a:solidFill>
                  </a:tcPr>
                </a:tc>
              </a:tr>
              <a:tr h="5905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Bloomberg</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[exact identifiers]</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[mnemonics and frequency]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[period]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[BDH, BDP, or Python API plus timestamp]</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[raw filename, settings, errors]</a:t>
                      </a:r>
                      <a:endParaRPr/>
                    </a:p>
                  </a:txBody>
                  <a:tcPr marT="57150" marB="57150" marR="76200" marL="76200" anchor="ctr">
                    <a:solidFill>
                      <a:srgbClr val="F2F5F7"/>
                    </a:solidFill>
                  </a:tcPr>
                </a:tc>
              </a:tr>
              <a:tr h="5905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[Approved source]</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[dataset or identifiers]</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[fields and frequency]</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[period]</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[method and retrieval timestamp]</a:t>
                      </a:r>
                      <a:endParaRPr/>
                    </a:p>
                  </a:txBody>
                  <a:tcPr marT="57150" marB="57150" marR="76200" marL="76200" anchor="ctr">
                    <a:solidFill>
                      <a:srgbClr val="FFFFFF"/>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[raw filename and why source was needed]</a:t>
                      </a:r>
                      <a:endParaRPr/>
                    </a:p>
                  </a:txBody>
                  <a:tcPr marT="57150" marB="57150" marR="76200" marL="76200" anchor="ctr">
                    <a:solidFill>
                      <a:srgbClr val="FFFFFF"/>
                    </a:solidFill>
                  </a:tcPr>
                </a:tc>
              </a:tr>
              <a:tr h="590550">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[Failed request]</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[identifier or universe]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[fields and frequency]</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[period]</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[method and attempt date]</a:t>
                      </a:r>
                      <a:endParaRPr/>
                    </a:p>
                  </a:txBody>
                  <a:tcPr marT="57150" marB="57150" marR="76200" marL="76200" anchor="ctr">
                    <a:solidFill>
                      <a:srgbClr val="F2F5F7"/>
                    </a:solidFill>
                  </a:tcPr>
                </a:tc>
                <a:tc>
                  <a:txBody>
                    <a:bodyPr/>
                    <a:lstStyle/>
                    <a:p>
                      <a:pPr indent="0" lvl="0" marL="0" marR="0" rtl="0" algn="l">
                        <a:spcBef>
                          <a:spcPts val="0"/>
                        </a:spcBef>
                        <a:spcAft>
                          <a:spcPts val="0"/>
                        </a:spcAft>
                        <a:buClr>
                          <a:srgbClr val="172B3A"/>
                        </a:buClr>
                        <a:buSzPts val="1050"/>
                        <a:buFont typeface="Arial"/>
                        <a:buNone/>
                      </a:pPr>
                      <a:r>
                        <a:rPr b="0" lang="en-US" sz="1050" u="none" cap="none" strike="noStrike">
                          <a:solidFill>
                            <a:srgbClr val="172B3A"/>
                          </a:solidFill>
                          <a:latin typeface="Arial"/>
                          <a:ea typeface="Arial"/>
                          <a:cs typeface="Arial"/>
                          <a:sym typeface="Arial"/>
                        </a:rPr>
                        <a:t>[error log and exact N/A or error]</a:t>
                      </a:r>
                      <a:endParaRPr/>
                    </a:p>
                  </a:txBody>
                  <a:tcPr marT="57150" marB="57150" marR="76200" marL="76200" anchor="ctr">
                    <a:solidFill>
                      <a:srgbClr val="F2F5F7"/>
                    </a:solidFill>
                  </a:tcPr>
                </a:tc>
              </a:tr>
            </a:tbl>
          </a:graphicData>
        </a:graphic>
      </p:graphicFrame>
      <p:sp>
        <p:nvSpPr>
          <p:cNvPr id="283" name="Google Shape;283;p15"/>
          <p:cNvSpPr/>
          <p:nvPr/>
        </p:nvSpPr>
        <p:spPr>
          <a:xfrm>
            <a:off x="609600" y="5476875"/>
            <a:ext cx="10934700" cy="19050"/>
          </a:xfrm>
          <a:prstGeom prst="rect">
            <a:avLst/>
          </a:prstGeom>
          <a:solidFill>
            <a:srgbClr val="087E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609600" y="5181600"/>
            <a:ext cx="10934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75">
                <a:solidFill>
                  <a:srgbClr val="087E8B"/>
                </a:solidFill>
                <a:latin typeface="Arial"/>
                <a:ea typeface="Arial"/>
                <a:cs typeface="Arial"/>
                <a:sym typeface="Arial"/>
              </a:rPr>
              <a:t>MINIMUM DOCUMENTATION</a:t>
            </a:r>
            <a:endParaRPr/>
          </a:p>
        </p:txBody>
      </p:sp>
      <p:sp>
        <p:nvSpPr>
          <p:cNvPr id="285" name="Google Shape;285;p15"/>
          <p:cNvSpPr/>
          <p:nvPr/>
        </p:nvSpPr>
        <p:spPr>
          <a:xfrm>
            <a:off x="609600" y="5581650"/>
            <a:ext cx="109347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172B3A"/>
                </a:solidFill>
                <a:latin typeface="Arial"/>
                <a:ea typeface="Arial"/>
                <a:cs typeface="Arial"/>
                <a:sym typeface="Arial"/>
              </a:rPr>
              <a:t>Record provider, exact identifiers, field definitions, frequency, request options, dates, retrieval timestamp, raw filename, checksum or equivalent source log, licence restrictions, and every error or coverage exception.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skLab MMF 2026">
  <a:themeElements>
    <a:clrScheme name="RiskLab MMF 2026">
      <a:dk1>
        <a:srgbClr val="000000"/>
      </a:dk1>
      <a:lt1>
        <a:srgbClr val="FFFFFF"/>
      </a:lt1>
      <a:dk2>
        <a:srgbClr val="102A43"/>
      </a:dk2>
      <a:lt2>
        <a:srgbClr val="F2F5F7"/>
      </a:lt2>
      <a:accent1>
        <a:srgbClr val="087E8B"/>
      </a:accent1>
      <a:accent2>
        <a:srgbClr val="246BCE"/>
      </a:accent2>
      <a:accent3>
        <a:srgbClr val="C56A11"/>
      </a:accent3>
      <a:accent4>
        <a:srgbClr val="B5473C"/>
      </a:accent4>
      <a:accent5>
        <a:srgbClr val="2E7D5A"/>
      </a:accent5>
      <a:accent6>
        <a:srgbClr val="173F5F"/>
      </a:accent6>
      <a:hlink>
        <a:srgbClr val="246BCE"/>
      </a:hlink>
      <a:folHlink>
        <a:srgbClr val="6B4E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