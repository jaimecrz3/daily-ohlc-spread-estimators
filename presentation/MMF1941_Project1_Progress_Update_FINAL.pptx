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9"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171E031-FB84-471F-B90F-305205B68F89}">
  <a:tblStyle styleId="{B171E031-FB84-471F-B90F-305205B68F89}"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b="0" i="0" u="none" strike="noStrike" cap="none"/>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a:endParaRPr/>
          </a:p>
        </p:txBody>
      </p:sp>
      <p:sp>
        <p:nvSpPr>
          <p:cNvPr id="4" name="Google Shape;4;n"/>
          <p:cNvSpPr txBox="1">
            <a:spLocks noGrp="1"/>
          </p:cNvSpPr>
          <p:nvPr>
            <p:ph type="dt" idx="10"/>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b="0" i="0" u="none" strike="noStrike" cap="none"/>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a:endParaRPr/>
          </a:p>
        </p:txBody>
      </p:sp>
      <p:sp>
        <p:nvSpPr>
          <p:cNvPr id="5" name="Google Shape;5;n"/>
          <p:cNvSpPr>
            <a:spLocks noGrp="1" noRot="1" noChangeAspect="1"/>
          </p:cNvSpPr>
          <p:nvPr>
            <p:ph type="sldImg" idx="3"/>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 name="Google Shape;6;n"/>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lvl1pPr>
            <a:lvl2pPr marL="914400" lvl="1" indent="-228600">
              <a:spcBef>
                <a:spcPts val="0"/>
              </a:spcBef>
              <a:spcAft>
                <a:spcPts val="0"/>
              </a:spcAft>
              <a:buSzPts val="1400"/>
              <a:buNone/>
              <a:defRPr sz="1800"/>
            </a:lvl2pPr>
            <a:lvl3pPr marL="1371600" lvl="2" indent="-228600">
              <a:spcBef>
                <a:spcPts val="0"/>
              </a:spcBef>
              <a:spcAft>
                <a:spcPts val="0"/>
              </a:spcAft>
              <a:buSzPts val="1400"/>
              <a:buNone/>
              <a:defRPr sz="1800"/>
            </a:lvl3pPr>
            <a:lvl4pPr marL="1828800" lvl="3" indent="-228600">
              <a:spcBef>
                <a:spcPts val="0"/>
              </a:spcBef>
              <a:spcAft>
                <a:spcPts val="0"/>
              </a:spcAft>
              <a:buSzPts val="1400"/>
              <a:buNone/>
              <a:defRPr sz="1800"/>
            </a:lvl4pPr>
            <a:lvl5pPr marL="2286000" lvl="4" indent="-228600">
              <a:spcBef>
                <a:spcPts val="0"/>
              </a:spcBef>
              <a:spcAft>
                <a:spcPts val="0"/>
              </a:spcAft>
              <a:buSzPts val="1400"/>
              <a:buNone/>
              <a:defRPr sz="1800"/>
            </a:lvl5pPr>
            <a:lvl6pPr marL="2743200" lvl="5" indent="-228600">
              <a:spcBef>
                <a:spcPts val="0"/>
              </a:spcBef>
              <a:spcAft>
                <a:spcPts val="0"/>
              </a:spcAft>
              <a:buSzPts val="1400"/>
              <a:buNone/>
              <a:defRPr sz="1800"/>
            </a:lvl6pPr>
            <a:lvl7pPr marL="3200400" lvl="6" indent="-228600">
              <a:spcBef>
                <a:spcPts val="0"/>
              </a:spcBef>
              <a:spcAft>
                <a:spcPts val="0"/>
              </a:spcAft>
              <a:buSzPts val="1400"/>
              <a:buNone/>
              <a:defRPr sz="1800"/>
            </a:lvl7pPr>
            <a:lvl8pPr marL="3657600" lvl="7" indent="-228600">
              <a:spcBef>
                <a:spcPts val="0"/>
              </a:spcBef>
              <a:spcAft>
                <a:spcPts val="0"/>
              </a:spcAft>
              <a:buSzPts val="1400"/>
              <a:buNone/>
              <a:defRPr sz="1800"/>
            </a:lvl8pPr>
            <a:lvl9pPr marL="4114800" lvl="8" indent="-228600">
              <a:spcBef>
                <a:spcPts val="0"/>
              </a:spcBef>
              <a:spcAft>
                <a:spcPts val="0"/>
              </a:spcAft>
              <a:buSzPts val="1400"/>
              <a:buNone/>
              <a:defRPr sz="1800"/>
            </a:lvl9pPr>
          </a:lstStyle>
          <a:p>
            <a:endParaRPr/>
          </a:p>
        </p:txBody>
      </p:sp>
      <p:sp>
        <p:nvSpPr>
          <p:cNvPr id="7" name="Google Shape;7;n"/>
          <p:cNvSpPr txBox="1">
            <a:spLocks noGrp="1"/>
          </p:cNvSpPr>
          <p:nvPr>
            <p:ph type="ftr" idx="11"/>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b="0" i="0" u="none" strike="noStrike" cap="none"/>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a:endParaRPr/>
          </a:p>
        </p:txBody>
      </p:sp>
      <p:sp>
        <p:nvSpPr>
          <p:cNvPr id="8" name="Google Shape;8;n"/>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
        <p:cNvGrpSpPr/>
        <p:nvPr/>
      </p:nvGrpSpPr>
      <p:grpSpPr>
        <a:xfrm>
          <a:off x="0" y="0"/>
          <a:ext cx="0" cy="0"/>
          <a:chOff x="0" y="0"/>
          <a:chExt cx="0" cy="0"/>
        </a:xfrm>
      </p:grpSpPr>
      <p:sp>
        <p:nvSpPr>
          <p:cNvPr id="12" name="Google Shape;12;p1: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3" name="Google Shape;13;p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Source: Proposal A04-03 and accepted exploratory notebook. Benchmark remains undefined; this is not an estimator-results deck.</a:t>
            </a:r>
          </a:p>
        </p:txBody>
      </p:sp>
      <p:sp>
        <p:nvSpPr>
          <p:cNvPr id="14" name="Google Shape;14;p1: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
        <p:cNvGrpSpPr/>
        <p:nvPr/>
      </p:nvGrpSpPr>
      <p:grpSpPr>
        <a:xfrm>
          <a:off x="0" y="0"/>
          <a:ext cx="0" cy="0"/>
          <a:chOff x="0" y="0"/>
          <a:chExt cx="0" cy="0"/>
        </a:xfrm>
      </p:grpSpPr>
      <p:sp>
        <p:nvSpPr>
          <p:cNvPr id="27" name="Google Shape;27;p2: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8" name="Google Shape;28;p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endParaRPr/>
          </a:p>
        </p:txBody>
      </p:sp>
      <p:sp>
        <p:nvSpPr>
          <p:cNvPr id="29" name="Google Shape;29;p2: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
        <p:cNvGrpSpPr/>
        <p:nvPr/>
      </p:nvGrpSpPr>
      <p:grpSpPr>
        <a:xfrm>
          <a:off x="0" y="0"/>
          <a:ext cx="0" cy="0"/>
          <a:chOff x="0" y="0"/>
          <a:chExt cx="0" cy="0"/>
        </a:xfrm>
      </p:grpSpPr>
      <p:sp>
        <p:nvSpPr>
          <p:cNvPr id="48" name="Google Shape;48;p3: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9" name="Google Shape;49;p3: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endParaRPr/>
          </a:p>
        </p:txBody>
      </p:sp>
      <p:sp>
        <p:nvSpPr>
          <p:cNvPr id="50" name="Google Shape;50;p3: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p4: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4" name="Google Shape;64;p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Inputs resolve via RISKLAB_DATA_ROOT/intraday_data. Availability refers to the accepted pilot inventory, not universal 2015-2025 coverage.</a:t>
            </a:r>
          </a:p>
        </p:txBody>
      </p:sp>
      <p:sp>
        <p:nvSpPr>
          <p:cNvPr id="65" name="Google Shape;65;p4: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p5: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7" name="Google Shape;87;p5: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Source: static workbook, source log and Acquisition evidence sheets. Read only metadata, not new empirical observations. Logged timezone is Bloomberg daily metadata, not evidence for local intraday timezone. Default BDH adjustments remain unverified.</a:t>
            </a:r>
          </a:p>
        </p:txBody>
      </p:sp>
      <p:sp>
        <p:nvSpPr>
          <p:cNvPr id="88" name="Google Shape;88;p5: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p6: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06" name="Google Shape;106;p6: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Sources: pilot_schema.csv; pilot_coverage.csv; file_scan_audit.csv; data_quality_summary.csv; manual_checks.csv. Flags and validity definitions are those of the accepted notebook.</a:t>
            </a:r>
          </a:p>
        </p:txBody>
      </p:sp>
      <p:sp>
        <p:nvSpPr>
          <p:cNvPr id="107" name="Google Shape;107;p6: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p7: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24" name="Google Shape;124;p7: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Source: common_window_bars_per_day.png, generated by notebook from bars_per_calendar_day.csv. Counts retain all recorded hours; no minute filling. Calendar-date zeros are not missing-minute estimates.</a:t>
            </a:r>
          </a:p>
        </p:txBody>
      </p:sp>
      <p:sp>
        <p:nvSpPr>
          <p:cNvPr id="125" name="Google Shape;125;p7: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p8: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5" name="Google Shape;145;p8: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Source: hourly_activity_by_asset_class.png, generated from hourly_activity.csv. Each asset normalized by its own observed rows. Different date spans and unlocalized clocks limit interpretation.</a:t>
            </a:r>
          </a:p>
        </p:txBody>
      </p:sp>
      <p:sp>
        <p:nvSpPr>
          <p:cNvPr id="146" name="Google Shape;146;p8: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p9: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62" name="Google Shape;162;p9: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endParaRPr/>
          </a:p>
        </p:txBody>
      </p:sp>
      <p:sp>
        <p:nvSpPr>
          <p:cNvPr id="163" name="Google Shape;163;p9: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p10: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02" name="Google Shape;202;p10: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Source: common_window_presentation_summary.csv. Dates are raw calendar dates. Equity/ETF zero-row dates coincide with non-trading weekend dates, but session conventions are not frozen. Futures are individual contracts. No expected-session coverage percentage.</a:t>
            </a:r>
          </a:p>
        </p:txBody>
      </p:sp>
      <p:sp>
        <p:nvSpPr>
          <p:cNvPr id="203" name="Google Shape;203;p10: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p11: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33" name="Google Shape;233;p1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endParaRPr/>
          </a:p>
        </p:txBody>
      </p:sp>
      <p:sp>
        <p:nvSpPr>
          <p:cNvPr id="234" name="Google Shape;234;p11: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p12: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50" name="Google Shape;250;p1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Source paths and SHA-256 values for deck dependencies are saved in outputs/diagnostics/presentation_build.json. Template master/layout/theme retained.</a:t>
            </a:r>
          </a:p>
        </p:txBody>
      </p:sp>
      <p:sp>
        <p:nvSpPr>
          <p:cNvPr id="251" name="Google Shape;251;p12: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
        <p:cNvGrpSpPr/>
        <p:nvPr/>
      </p:nvGrpSpPr>
      <p:grpSpPr>
        <a:xfrm>
          <a:off x="0" y="0"/>
          <a:ext cx="0" cy="0"/>
          <a:chOff x="0" y="0"/>
          <a:chExt cx="0" cy="0"/>
        </a:xfrm>
      </p:grpSpPr>
      <p:sp>
        <p:nvSpPr>
          <p:cNvPr id="271" name="Google Shape;271;p13: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72" name="Google Shape;272;p13: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Bloomberg raw SHA-256: e9673edb37db8935e1d31eeac006b0f5111f8258017df481f9b38288e427f703</a:t>
            </a:r>
          </a:p>
          <a:p>
            <a:r>
              <a:t>Static SHA-256: 358a84837aa6d5346b0e2ec4e9931040d7afba050e37e0ef1c2b2a1f9ef4d440</a:t>
            </a:r>
          </a:p>
          <a:p>
            <a:r>
              <a:t>Source log filename: bloomberg_pilot_AAPL_SPY_20241104_20241115(1).xlsx</a:t>
            </a:r>
          </a:p>
          <a:p>
            <a:r>
              <a:t>Actual local raw path: data\raw_bloomberg\bloomberg_pilot_AAPL_SPY_20241104_20241115.xlsx</a:t>
            </a:r>
          </a:p>
          <a:p>
            <a:r>
              <a:t>Raw content hash agrees despite filename suffix difference. See manual_checks.csv for all 10 examples and full raw-row text.</a:t>
            </a:r>
          </a:p>
        </p:txBody>
      </p:sp>
      <p:sp>
        <p:nvSpPr>
          <p:cNvPr id="273" name="Google Shape;273;p13: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8"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02A43"/>
        </a:solidFill>
        <a:effectLst/>
      </p:bgPr>
    </p:bg>
    <p:spTree>
      <p:nvGrpSpPr>
        <p:cNvPr id="1" name="Shape 15"/>
        <p:cNvGrpSpPr/>
        <p:nvPr/>
      </p:nvGrpSpPr>
      <p:grpSpPr>
        <a:xfrm>
          <a:off x="0" y="0"/>
          <a:ext cx="0" cy="0"/>
          <a:chOff x="0" y="0"/>
          <a:chExt cx="0" cy="0"/>
        </a:xfrm>
      </p:grpSpPr>
      <p:sp>
        <p:nvSpPr>
          <p:cNvPr id="16" name="Google Shape;16;p3"/>
          <p:cNvSpPr/>
          <p:nvPr/>
        </p:nvSpPr>
        <p:spPr>
          <a:xfrm>
            <a:off x="0" y="0"/>
            <a:ext cx="171450" cy="6858000"/>
          </a:xfrm>
          <a:prstGeom prst="rect">
            <a:avLst/>
          </a:prstGeom>
          <a:solidFill>
            <a:srgbClr val="087E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3"/>
          <p:cNvSpPr/>
          <p:nvPr/>
        </p:nvSpPr>
        <p:spPr>
          <a:xfrm>
            <a:off x="609600" y="876300"/>
            <a:ext cx="1104900" cy="57150"/>
          </a:xfrm>
          <a:prstGeom prst="rect">
            <a:avLst/>
          </a:prstGeom>
          <a:solidFill>
            <a:srgbClr val="087E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3"/>
          <p:cNvSpPr/>
          <p:nvPr/>
        </p:nvSpPr>
        <p:spPr>
          <a:xfrm>
            <a:off x="609600" y="1200150"/>
            <a:ext cx="6096000" cy="2667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350" b="1">
                <a:solidFill>
                  <a:srgbClr val="A9DADD"/>
                </a:solidFill>
                <a:latin typeface="Arial"/>
                <a:ea typeface="Arial"/>
                <a:cs typeface="Arial"/>
                <a:sym typeface="Arial"/>
              </a:rPr>
              <a:t>MMF 1941   PROJECT PROGRESS UPDATE</a:t>
            </a:r>
            <a:endParaRPr/>
          </a:p>
        </p:txBody>
      </p:sp>
      <p:sp>
        <p:nvSpPr>
          <p:cNvPr id="19" name="Google Shape;19;p3"/>
          <p:cNvSpPr/>
          <p:nvPr/>
        </p:nvSpPr>
        <p:spPr>
          <a:xfrm>
            <a:off x="609600" y="1695450"/>
            <a:ext cx="9906000" cy="1234440"/>
          </a:xfrm>
          <a:prstGeom prst="rect">
            <a:avLst/>
          </a:prstGeom>
          <a:noFill/>
          <a:ln>
            <a:noFill/>
          </a:ln>
        </p:spPr>
        <p:txBody>
          <a:bodyPr spcFirstLastPara="1" wrap="square" lIns="18288" tIns="22860" rIns="18288" bIns="22860" anchor="t" anchorCtr="0">
            <a:noAutofit/>
          </a:bodyPr>
          <a:lstStyle/>
          <a:p>
            <a:pPr marL="0" marR="0" lvl="0" indent="0" algn="l" rtl="0">
              <a:lnSpc>
                <a:spcPct val="100000"/>
              </a:lnSpc>
              <a:spcBef>
                <a:spcPts val="0"/>
              </a:spcBef>
              <a:spcAft>
                <a:spcPts val="600"/>
              </a:spcAft>
              <a:buNone/>
              <a:defRPr sz="3400" b="1">
                <a:solidFill>
                  <a:srgbClr val="FFFFFF"/>
                </a:solidFill>
                <a:latin typeface="Arial"/>
              </a:defRPr>
            </a:pPr>
            <a:r>
              <a:t>Comparative Analysis of Bid-Ask</a:t>
            </a:r>
          </a:p>
          <a:p>
            <a:pPr>
              <a:lnSpc>
                <a:spcPct val="100000"/>
              </a:lnSpc>
              <a:spcAft>
                <a:spcPts val="600"/>
              </a:spcAft>
              <a:defRPr sz="3400" b="1">
                <a:solidFill>
                  <a:srgbClr val="FFFFFF"/>
                </a:solidFill>
                <a:latin typeface="Arial"/>
              </a:defRPr>
            </a:pPr>
            <a:r>
              <a:t>Spread Estimators Across Asset Classes</a:t>
            </a:r>
          </a:p>
        </p:txBody>
      </p:sp>
      <p:sp>
        <p:nvSpPr>
          <p:cNvPr id="20" name="Google Shape;20;p3"/>
          <p:cNvSpPr/>
          <p:nvPr/>
        </p:nvSpPr>
        <p:spPr>
          <a:xfrm>
            <a:off x="647700" y="2971800"/>
            <a:ext cx="9048750" cy="868680"/>
          </a:xfrm>
          <a:prstGeom prst="rect">
            <a:avLst/>
          </a:prstGeom>
          <a:noFill/>
          <a:ln>
            <a:noFill/>
          </a:ln>
        </p:spPr>
        <p:txBody>
          <a:bodyPr spcFirstLastPara="1" wrap="square" lIns="18288" tIns="22860" rIns="18288" bIns="22860" anchor="t" anchorCtr="0">
            <a:noAutofit/>
          </a:bodyPr>
          <a:lstStyle/>
          <a:p>
            <a:pPr marL="0" marR="0" lvl="0" indent="0" algn="l" rtl="0">
              <a:lnSpc>
                <a:spcPct val="100000"/>
              </a:lnSpc>
              <a:spcBef>
                <a:spcPts val="0"/>
              </a:spcBef>
              <a:spcAft>
                <a:spcPts val="600"/>
              </a:spcAft>
              <a:buNone/>
              <a:defRPr sz="2100" b="0">
                <a:solidFill>
                  <a:srgbClr val="D9E4EC"/>
                </a:solidFill>
                <a:latin typeface="Arial"/>
              </a:defRPr>
            </a:pPr>
            <a:r>
              <a:t>How do daily-OHLC spread estimates compare with an intraday</a:t>
            </a:r>
          </a:p>
          <a:p>
            <a:pPr>
              <a:lnSpc>
                <a:spcPct val="100000"/>
              </a:lnSpc>
              <a:spcAft>
                <a:spcPts val="600"/>
              </a:spcAft>
              <a:defRPr sz="2100" b="0">
                <a:solidFill>
                  <a:srgbClr val="D9E4EC"/>
                </a:solidFill>
                <a:latin typeface="Arial"/>
              </a:defRPr>
            </a:pPr>
            <a:r>
              <a:t>realized-cost benchmark across asset classes and liquidity tiers?</a:t>
            </a:r>
          </a:p>
        </p:txBody>
      </p:sp>
      <p:sp>
        <p:nvSpPr>
          <p:cNvPr id="21" name="Google Shape;21;p3"/>
          <p:cNvSpPr/>
          <p:nvPr/>
        </p:nvSpPr>
        <p:spPr>
          <a:xfrm>
            <a:off x="609600" y="3981450"/>
            <a:ext cx="10287000" cy="9525"/>
          </a:xfrm>
          <a:prstGeom prst="rect">
            <a:avLst/>
          </a:prstGeom>
          <a:solidFill>
            <a:srgbClr val="4966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3"/>
          <p:cNvSpPr/>
          <p:nvPr/>
        </p:nvSpPr>
        <p:spPr>
          <a:xfrm>
            <a:off x="609600" y="4305300"/>
            <a:ext cx="9144000" cy="400050"/>
          </a:xfrm>
          <a:prstGeom prst="rect">
            <a:avLst/>
          </a:prstGeom>
          <a:noFill/>
          <a:ln>
            <a:noFill/>
          </a:ln>
        </p:spPr>
        <p:txBody>
          <a:bodyPr spcFirstLastPara="1" wrap="square" lIns="18288" tIns="22860" rIns="18288" bIns="22860" anchor="t" anchorCtr="0">
            <a:noAutofit/>
          </a:bodyPr>
          <a:lstStyle/>
          <a:p>
            <a:pPr marL="0" marR="0" lvl="0" indent="0" algn="l" rtl="0">
              <a:lnSpc>
                <a:spcPct val="100000"/>
              </a:lnSpc>
              <a:spcBef>
                <a:spcPts val="0"/>
              </a:spcBef>
              <a:spcAft>
                <a:spcPts val="600"/>
              </a:spcAft>
              <a:buNone/>
              <a:defRPr sz="2000" b="0">
                <a:solidFill>
                  <a:srgbClr val="FFFFFF"/>
                </a:solidFill>
                <a:latin typeface="Arial"/>
              </a:defRPr>
            </a:pPr>
            <a:r>
              <a:t>MMF 1941 | First progress checkpoint</a:t>
            </a:r>
          </a:p>
        </p:txBody>
      </p:sp>
      <p:sp>
        <p:nvSpPr>
          <p:cNvPr id="23" name="Google Shape;23;p3"/>
          <p:cNvSpPr/>
          <p:nvPr/>
        </p:nvSpPr>
        <p:spPr>
          <a:xfrm>
            <a:off x="609600" y="4810125"/>
            <a:ext cx="10058400" cy="323850"/>
          </a:xfrm>
          <a:prstGeom prst="rect">
            <a:avLst/>
          </a:prstGeom>
          <a:noFill/>
          <a:ln>
            <a:noFill/>
          </a:ln>
        </p:spPr>
        <p:txBody>
          <a:bodyPr spcFirstLastPara="1" wrap="square" lIns="18288" tIns="22860" rIns="18288" bIns="22860" anchor="t" anchorCtr="0">
            <a:noAutofit/>
          </a:bodyPr>
          <a:lstStyle/>
          <a:p>
            <a:pPr marL="0" marR="0" lvl="0" indent="0" algn="l" rtl="0">
              <a:lnSpc>
                <a:spcPct val="100000"/>
              </a:lnSpc>
              <a:spcBef>
                <a:spcPts val="0"/>
              </a:spcBef>
              <a:spcAft>
                <a:spcPts val="600"/>
              </a:spcAft>
              <a:buNone/>
              <a:defRPr sz="1700" b="0">
                <a:solidFill>
                  <a:srgbClr val="D9E4EC"/>
                </a:solidFill>
                <a:latin typeface="Arial"/>
              </a:defRPr>
            </a:pPr>
            <a:r>
              <a:t>Project 1 | Proposal A04-03 | 2015-2025 asset-day framework</a:t>
            </a:r>
          </a:p>
        </p:txBody>
      </p:sp>
      <p:sp>
        <p:nvSpPr>
          <p:cNvPr id="24" name="Google Shape;24;p3"/>
          <p:cNvSpPr/>
          <p:nvPr/>
        </p:nvSpPr>
        <p:spPr>
          <a:xfrm>
            <a:off x="609600" y="5257800"/>
            <a:ext cx="9144000" cy="304800"/>
          </a:xfrm>
          <a:prstGeom prst="rect">
            <a:avLst/>
          </a:prstGeom>
          <a:noFill/>
          <a:ln>
            <a:noFill/>
          </a:ln>
        </p:spPr>
        <p:txBody>
          <a:bodyPr spcFirstLastPara="1" wrap="square" lIns="18288" tIns="22860" rIns="18288" bIns="22860" anchor="t" anchorCtr="0">
            <a:noAutofit/>
          </a:bodyPr>
          <a:lstStyle/>
          <a:p>
            <a:pPr marL="0" marR="0" lvl="0" indent="0" algn="l" rtl="0">
              <a:lnSpc>
                <a:spcPct val="100000"/>
              </a:lnSpc>
              <a:spcBef>
                <a:spcPts val="0"/>
              </a:spcBef>
              <a:spcAft>
                <a:spcPts val="600"/>
              </a:spcAft>
              <a:buNone/>
              <a:defRPr sz="1600" b="0">
                <a:solidFill>
                  <a:srgbClr val="A9DADD"/>
                </a:solidFill>
                <a:latin typeface="Arial"/>
              </a:defRPr>
            </a:pPr>
            <a:r>
              <a:t>Data validation and design readiness</a:t>
            </a:r>
          </a:p>
        </p:txBody>
      </p:sp>
      <p:sp>
        <p:nvSpPr>
          <p:cNvPr id="25" name="Google Shape;25;p3"/>
          <p:cNvSpPr/>
          <p:nvPr/>
        </p:nvSpPr>
        <p:spPr>
          <a:xfrm>
            <a:off x="609600" y="6324600"/>
            <a:ext cx="10515600" cy="228600"/>
          </a:xfrm>
          <a:prstGeom prst="rect">
            <a:avLst/>
          </a:prstGeom>
          <a:noFill/>
          <a:ln>
            <a:noFill/>
          </a:ln>
        </p:spPr>
        <p:txBody>
          <a:bodyPr spcFirstLastPara="1" wrap="square" lIns="18288" tIns="22860" rIns="18288" bIns="22860" anchor="t" anchorCtr="0">
            <a:noAutofit/>
          </a:bodyPr>
          <a:lstStyle/>
          <a:p>
            <a:pPr marL="0" marR="0" lvl="0" indent="0" algn="l" rtl="0">
              <a:lnSpc>
                <a:spcPct val="100000"/>
              </a:lnSpc>
              <a:spcBef>
                <a:spcPts val="0"/>
              </a:spcBef>
              <a:spcAft>
                <a:spcPts val="0"/>
              </a:spcAft>
              <a:buNone/>
              <a:defRPr sz="1200" b="0">
                <a:solidFill>
                  <a:srgbClr val="A9BBC9"/>
                </a:solidFill>
                <a:latin typeface="Arial"/>
              </a:defRPr>
            </a:pPr>
            <a:r>
              <a:t>Progress update | Descriptive diagnostics; estimator comparison remains planned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BFCFD"/>
        </a:solidFill>
        <a:effectLst/>
      </p:bgPr>
    </p:bg>
    <p:spTree>
      <p:nvGrpSpPr>
        <p:cNvPr id="1" name="Shape 30"/>
        <p:cNvGrpSpPr/>
        <p:nvPr/>
      </p:nvGrpSpPr>
      <p:grpSpPr>
        <a:xfrm>
          <a:off x="0" y="0"/>
          <a:ext cx="0" cy="0"/>
          <a:chOff x="0" y="0"/>
          <a:chExt cx="0" cy="0"/>
        </a:xfrm>
      </p:grpSpPr>
      <p:sp>
        <p:nvSpPr>
          <p:cNvPr id="31" name="Google Shape;31;p4"/>
          <p:cNvSpPr/>
          <p:nvPr/>
        </p:nvSpPr>
        <p:spPr>
          <a:xfrm>
            <a:off x="0" y="0"/>
            <a:ext cx="114300" cy="6858000"/>
          </a:xfrm>
          <a:prstGeom prst="rect">
            <a:avLst/>
          </a:prstGeom>
          <a:solidFill>
            <a:srgbClr val="087E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4"/>
          <p:cNvSpPr/>
          <p:nvPr/>
        </p:nvSpPr>
        <p:spPr>
          <a:xfrm>
            <a:off x="609600" y="285750"/>
            <a:ext cx="4381500" cy="209550"/>
          </a:xfrm>
          <a:prstGeom prst="rect">
            <a:avLst/>
          </a:prstGeom>
          <a:noFill/>
          <a:ln>
            <a:noFill/>
          </a:ln>
        </p:spPr>
        <p:txBody>
          <a:bodyPr spcFirstLastPara="1" wrap="square" lIns="18288" tIns="22860" rIns="18288" bIns="22860" anchor="t" anchorCtr="0">
            <a:noAutofit/>
          </a:bodyPr>
          <a:lstStyle/>
          <a:p>
            <a:pPr marL="0" marR="0" lvl="0" indent="0" algn="l" rtl="0">
              <a:lnSpc>
                <a:spcPct val="100000"/>
              </a:lnSpc>
              <a:spcBef>
                <a:spcPts val="0"/>
              </a:spcBef>
              <a:spcAft>
                <a:spcPts val="0"/>
              </a:spcAft>
              <a:buNone/>
              <a:defRPr sz="1125" b="1">
                <a:solidFill>
                  <a:srgbClr val="087E8B"/>
                </a:solidFill>
                <a:latin typeface="Arial"/>
              </a:defRPr>
            </a:pPr>
            <a:r>
              <a:t>RESEARCH DESIGN</a:t>
            </a:r>
          </a:p>
        </p:txBody>
      </p:sp>
      <p:sp>
        <p:nvSpPr>
          <p:cNvPr id="33" name="Google Shape;33;p4"/>
          <p:cNvSpPr/>
          <p:nvPr/>
        </p:nvSpPr>
        <p:spPr>
          <a:xfrm>
            <a:off x="609600" y="514350"/>
            <a:ext cx="10934700" cy="590550"/>
          </a:xfrm>
          <a:prstGeom prst="rect">
            <a:avLst/>
          </a:prstGeom>
          <a:noFill/>
          <a:ln>
            <a:noFill/>
          </a:ln>
        </p:spPr>
        <p:txBody>
          <a:bodyPr spcFirstLastPara="1" wrap="square" lIns="18288" tIns="22860" rIns="18288" bIns="22860" anchor="t" anchorCtr="0">
            <a:noAutofit/>
          </a:bodyPr>
          <a:lstStyle/>
          <a:p>
            <a:pPr marL="0" marR="0" lvl="0" indent="0" algn="l" rtl="0">
              <a:lnSpc>
                <a:spcPct val="100000"/>
              </a:lnSpc>
              <a:spcBef>
                <a:spcPts val="0"/>
              </a:spcBef>
              <a:spcAft>
                <a:spcPts val="600"/>
              </a:spcAft>
              <a:buNone/>
              <a:defRPr sz="2800" b="1">
                <a:solidFill>
                  <a:srgbClr val="102A43"/>
                </a:solidFill>
                <a:latin typeface="Arial"/>
              </a:defRPr>
            </a:pPr>
            <a:r>
              <a:t>Compare spread estimates after the design is frozen</a:t>
            </a:r>
          </a:p>
        </p:txBody>
      </p:sp>
      <p:sp>
        <p:nvSpPr>
          <p:cNvPr id="34" name="Google Shape;34;p4"/>
          <p:cNvSpPr/>
          <p:nvPr/>
        </p:nvSpPr>
        <p:spPr>
          <a:xfrm>
            <a:off x="628650" y="1123950"/>
            <a:ext cx="10668000" cy="323850"/>
          </a:xfrm>
          <a:prstGeom prst="rect">
            <a:avLst/>
          </a:prstGeom>
          <a:noFill/>
          <a:ln>
            <a:noFill/>
          </a:ln>
        </p:spPr>
        <p:txBody>
          <a:bodyPr spcFirstLastPara="1" wrap="square" lIns="18288" tIns="22860" rIns="18288" bIns="22860" anchor="t" anchorCtr="0">
            <a:noAutofit/>
          </a:bodyPr>
          <a:lstStyle/>
          <a:p>
            <a:pPr marL="0" marR="0" lvl="0" indent="0" algn="l" rtl="0">
              <a:lnSpc>
                <a:spcPct val="100000"/>
              </a:lnSpc>
              <a:spcBef>
                <a:spcPts val="0"/>
              </a:spcBef>
              <a:spcAft>
                <a:spcPts val="600"/>
              </a:spcAft>
              <a:buNone/>
              <a:defRPr sz="1500" b="0">
                <a:solidFill>
                  <a:srgbClr val="5F6F7A"/>
                </a:solidFill>
                <a:latin typeface="Arial"/>
              </a:defRPr>
            </a:pPr>
            <a:r>
              <a:t>PLANNED METHODOLOGY | Asset-day observations, 2015-2025</a:t>
            </a:r>
          </a:p>
        </p:txBody>
      </p:sp>
      <p:sp>
        <p:nvSpPr>
          <p:cNvPr id="35" name="Google Shape;35;p4"/>
          <p:cNvSpPr/>
          <p:nvPr/>
        </p:nvSpPr>
        <p:spPr>
          <a:xfrm>
            <a:off x="590550" y="6496050"/>
            <a:ext cx="11010900" cy="9525"/>
          </a:xfrm>
          <a:prstGeom prst="rect">
            <a:avLst/>
          </a:prstGeom>
          <a:solidFill>
            <a:srgbClr val="CFD8D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4"/>
          <p:cNvSpPr/>
          <p:nvPr/>
        </p:nvSpPr>
        <p:spPr>
          <a:xfrm>
            <a:off x="609600" y="6572250"/>
            <a:ext cx="4191000" cy="17145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050" b="0">
                <a:solidFill>
                  <a:srgbClr val="5F6F7A"/>
                </a:solidFill>
                <a:latin typeface="Arial"/>
                <a:ea typeface="Arial"/>
                <a:cs typeface="Arial"/>
                <a:sym typeface="Arial"/>
              </a:rPr>
              <a:t>MMF 1941   Project progress update</a:t>
            </a:r>
            <a:endParaRPr/>
          </a:p>
        </p:txBody>
      </p:sp>
      <p:sp>
        <p:nvSpPr>
          <p:cNvPr id="37" name="Google Shape;37;p4"/>
          <p:cNvSpPr/>
          <p:nvPr/>
        </p:nvSpPr>
        <p:spPr>
          <a:xfrm>
            <a:off x="11049000" y="6543675"/>
            <a:ext cx="533400" cy="190500"/>
          </a:xfrm>
          <a:prstGeom prst="rect">
            <a:avLst/>
          </a:prstGeom>
          <a:noFill/>
          <a:ln>
            <a:noFill/>
          </a:ln>
        </p:spPr>
        <p:txBody>
          <a:bodyPr spcFirstLastPara="1" wrap="square" lIns="18288" tIns="22860" rIns="18288" bIns="22860" anchor="t" anchorCtr="0">
            <a:noAutofit/>
          </a:bodyPr>
          <a:lstStyle/>
          <a:p>
            <a:pPr marL="0" marR="0" lvl="0" indent="0" algn="r" rtl="0">
              <a:lnSpc>
                <a:spcPct val="100000"/>
              </a:lnSpc>
              <a:spcBef>
                <a:spcPts val="0"/>
              </a:spcBef>
              <a:spcAft>
                <a:spcPts val="0"/>
              </a:spcAft>
              <a:buNone/>
              <a:defRPr sz="1125" b="0">
                <a:solidFill>
                  <a:srgbClr val="102A43"/>
                </a:solidFill>
                <a:latin typeface="Arial"/>
              </a:defRPr>
            </a:pPr>
            <a:r>
              <a:t>02</a:t>
            </a:r>
          </a:p>
        </p:txBody>
      </p:sp>
      <p:sp>
        <p:nvSpPr>
          <p:cNvPr id="38" name="Rectangle 37"/>
          <p:cNvSpPr/>
          <p:nvPr/>
        </p:nvSpPr>
        <p:spPr>
          <a:xfrm>
            <a:off x="640080" y="1737360"/>
            <a:ext cx="5303520" cy="3611880"/>
          </a:xfrm>
          <a:prstGeom prst="rect">
            <a:avLst/>
          </a:prstGeom>
          <a:solidFill>
            <a:srgbClr val="F2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804671" y="1856231"/>
            <a:ext cx="4974336" cy="365760"/>
          </a:xfrm>
          <a:prstGeom prst="rect">
            <a:avLst/>
          </a:prstGeom>
          <a:noFill/>
        </p:spPr>
        <p:txBody>
          <a:bodyPr wrap="square" lIns="18288" tIns="22860" rIns="18288" bIns="22860">
            <a:spAutoFit/>
          </a:bodyPr>
          <a:lstStyle/>
          <a:p>
            <a:pPr>
              <a:lnSpc>
                <a:spcPct val="100000"/>
              </a:lnSpc>
              <a:spcAft>
                <a:spcPts val="600"/>
              </a:spcAft>
              <a:defRPr sz="1500" b="1">
                <a:solidFill>
                  <a:srgbClr val="087E8B"/>
                </a:solidFill>
                <a:latin typeface="Arial"/>
              </a:defRPr>
            </a:pPr>
            <a:r>
              <a:t>EVENTUAL COMPARISON</a:t>
            </a:r>
          </a:p>
        </p:txBody>
      </p:sp>
      <p:sp>
        <p:nvSpPr>
          <p:cNvPr id="40" name="TextBox 39"/>
          <p:cNvSpPr txBox="1"/>
          <p:nvPr/>
        </p:nvSpPr>
        <p:spPr>
          <a:xfrm>
            <a:off x="804671" y="2297811"/>
            <a:ext cx="4974336" cy="2834640"/>
          </a:xfrm>
          <a:prstGeom prst="rect">
            <a:avLst/>
          </a:prstGeom>
          <a:noFill/>
        </p:spPr>
        <p:txBody>
          <a:bodyPr wrap="square" lIns="18288" tIns="22860" rIns="18288" bIns="22860">
            <a:spAutoFit/>
          </a:bodyPr>
          <a:lstStyle/>
          <a:p>
            <a:pPr>
              <a:lnSpc>
                <a:spcPct val="100000"/>
              </a:lnSpc>
              <a:spcAft>
                <a:spcPts val="600"/>
              </a:spcAft>
              <a:defRPr sz="2100" b="0">
                <a:solidFill>
                  <a:srgbClr val="172B3A"/>
                </a:solidFill>
                <a:latin typeface="Arial"/>
              </a:defRPr>
            </a:pPr>
            <a:r>
              <a:t>Corwin-Schultz (CS)</a:t>
            </a:r>
          </a:p>
          <a:p>
            <a:pPr>
              <a:lnSpc>
                <a:spcPct val="100000"/>
              </a:lnSpc>
              <a:spcAft>
                <a:spcPts val="600"/>
              </a:spcAft>
              <a:defRPr sz="2100" b="0">
                <a:solidFill>
                  <a:srgbClr val="172B3A"/>
                </a:solidFill>
                <a:latin typeface="Arial"/>
              </a:defRPr>
            </a:pPr>
            <a:r>
              <a:t>Abdi-Ranaldo (AR)</a:t>
            </a:r>
          </a:p>
          <a:p>
            <a:pPr>
              <a:lnSpc>
                <a:spcPct val="100000"/>
              </a:lnSpc>
              <a:spcAft>
                <a:spcPts val="600"/>
              </a:spcAft>
              <a:defRPr sz="2100" b="0">
                <a:solidFill>
                  <a:srgbClr val="172B3A"/>
                </a:solidFill>
                <a:latin typeface="Arial"/>
              </a:defRPr>
            </a:pPr>
            <a:r>
              <a:t>EDGE</a:t>
            </a:r>
          </a:p>
          <a:p>
            <a:pPr>
              <a:lnSpc>
                <a:spcPct val="100000"/>
              </a:lnSpc>
              <a:spcAft>
                <a:spcPts val="600"/>
              </a:spcAft>
              <a:defRPr sz="2100" b="0">
                <a:solidFill>
                  <a:srgbClr val="172B3A"/>
                </a:solidFill>
                <a:latin typeface="Arial"/>
              </a:defRPr>
            </a:pPr>
            <a:r>
              <a:t>Against an intraday realized-cost benchmark</a:t>
            </a:r>
          </a:p>
        </p:txBody>
      </p:sp>
      <p:sp>
        <p:nvSpPr>
          <p:cNvPr id="41" name="Rectangle 40"/>
          <p:cNvSpPr/>
          <p:nvPr/>
        </p:nvSpPr>
        <p:spPr>
          <a:xfrm>
            <a:off x="6172200" y="1737360"/>
            <a:ext cx="5349240" cy="3611880"/>
          </a:xfrm>
          <a:prstGeom prst="rect">
            <a:avLst/>
          </a:prstGeom>
          <a:solidFill>
            <a:srgbClr val="F2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6336792" y="1856231"/>
            <a:ext cx="5020055" cy="365760"/>
          </a:xfrm>
          <a:prstGeom prst="rect">
            <a:avLst/>
          </a:prstGeom>
          <a:noFill/>
        </p:spPr>
        <p:txBody>
          <a:bodyPr wrap="square" lIns="18288" tIns="22860" rIns="18288" bIns="22860">
            <a:spAutoFit/>
          </a:bodyPr>
          <a:lstStyle/>
          <a:p>
            <a:pPr>
              <a:lnSpc>
                <a:spcPct val="100000"/>
              </a:lnSpc>
              <a:spcAft>
                <a:spcPts val="600"/>
              </a:spcAft>
              <a:defRPr sz="1500" b="1">
                <a:solidFill>
                  <a:srgbClr val="246BCE"/>
                </a:solidFill>
                <a:latin typeface="Arial"/>
              </a:defRPr>
            </a:pPr>
            <a:r>
              <a:t>DESIGN DIMENSIONS</a:t>
            </a:r>
          </a:p>
        </p:txBody>
      </p:sp>
      <p:sp>
        <p:nvSpPr>
          <p:cNvPr id="43" name="TextBox 42"/>
          <p:cNvSpPr txBox="1"/>
          <p:nvPr/>
        </p:nvSpPr>
        <p:spPr>
          <a:xfrm>
            <a:off x="6336792" y="2377439"/>
            <a:ext cx="5020055" cy="2834640"/>
          </a:xfrm>
          <a:prstGeom prst="rect">
            <a:avLst/>
          </a:prstGeom>
          <a:noFill/>
        </p:spPr>
        <p:txBody>
          <a:bodyPr wrap="square" lIns="18288" tIns="22860" rIns="18288" bIns="22860">
            <a:spAutoFit/>
          </a:bodyPr>
          <a:lstStyle/>
          <a:p>
            <a:pPr>
              <a:lnSpc>
                <a:spcPct val="100000"/>
              </a:lnSpc>
              <a:spcAft>
                <a:spcPts val="600"/>
              </a:spcAft>
              <a:defRPr sz="2000" b="0">
                <a:solidFill>
                  <a:srgbClr val="172B3A"/>
                </a:solidFill>
                <a:latin typeface="Arial"/>
              </a:defRPr>
            </a:pPr>
            <a:r>
              <a:t>Stocks, ETFs, futures, crypto; FX unresolved</a:t>
            </a:r>
          </a:p>
          <a:p>
            <a:pPr>
              <a:lnSpc>
                <a:spcPct val="100000"/>
              </a:lnSpc>
              <a:spcAft>
                <a:spcPts val="600"/>
              </a:spcAft>
              <a:defRPr sz="2000" b="0">
                <a:solidFill>
                  <a:srgbClr val="172B3A"/>
                </a:solidFill>
                <a:latin typeface="Arial"/>
              </a:defRPr>
            </a:pPr>
            <a:r>
              <a:t>Liquidity-stratified final universe</a:t>
            </a:r>
          </a:p>
          <a:p>
            <a:pPr>
              <a:lnSpc>
                <a:spcPct val="100000"/>
              </a:lnSpc>
              <a:spcAft>
                <a:spcPts val="600"/>
              </a:spcAft>
              <a:defRPr sz="2000" b="0">
                <a:solidFill>
                  <a:srgbClr val="172B3A"/>
                </a:solidFill>
                <a:latin typeface="Arial"/>
              </a:defRPr>
            </a:pPr>
            <a:r>
              <a:t>Cross-class and within-class diagnostics</a:t>
            </a:r>
          </a:p>
          <a:p>
            <a:pPr>
              <a:lnSpc>
                <a:spcPct val="100000"/>
              </a:lnSpc>
              <a:spcAft>
                <a:spcPts val="600"/>
              </a:spcAft>
              <a:defRPr sz="2000" b="0">
                <a:solidFill>
                  <a:srgbClr val="172B3A"/>
                </a:solidFill>
                <a:latin typeface="Arial"/>
              </a:defRPr>
            </a:pPr>
            <a:r>
              <a:t>Exact benchmark and session rules: OPEN</a:t>
            </a:r>
          </a:p>
        </p:txBody>
      </p:sp>
      <p:sp>
        <p:nvSpPr>
          <p:cNvPr id="44" name="TextBox 43"/>
          <p:cNvSpPr txBox="1"/>
          <p:nvPr/>
        </p:nvSpPr>
        <p:spPr>
          <a:xfrm>
            <a:off x="640080" y="5705856"/>
            <a:ext cx="1371600" cy="274320"/>
          </a:xfrm>
          <a:prstGeom prst="rect">
            <a:avLst/>
          </a:prstGeom>
          <a:noFill/>
        </p:spPr>
        <p:txBody>
          <a:bodyPr wrap="square" lIns="18288" tIns="22860" rIns="18288" bIns="22860">
            <a:spAutoFit/>
          </a:bodyPr>
          <a:lstStyle/>
          <a:p>
            <a:pPr>
              <a:lnSpc>
                <a:spcPct val="100000"/>
              </a:lnSpc>
              <a:spcAft>
                <a:spcPts val="0"/>
              </a:spcAft>
              <a:defRPr sz="1200" b="1">
                <a:solidFill>
                  <a:srgbClr val="087E8B"/>
                </a:solidFill>
                <a:latin typeface="Arial"/>
              </a:defRPr>
            </a:pPr>
            <a:r>
              <a:rPr sz="1050" b="1" dirty="0">
                <a:solidFill>
                  <a:srgbClr val="0B7E80"/>
                </a:solidFill>
              </a:rPr>
              <a:t>OPEN DECISION</a:t>
            </a:r>
          </a:p>
        </p:txBody>
      </p:sp>
      <p:sp>
        <p:nvSpPr>
          <p:cNvPr id="45" name="TextBox 44"/>
          <p:cNvSpPr txBox="1"/>
          <p:nvPr/>
        </p:nvSpPr>
        <p:spPr>
          <a:xfrm>
            <a:off x="2057400" y="5705856"/>
            <a:ext cx="9464040" cy="411480"/>
          </a:xfrm>
          <a:prstGeom prst="rect">
            <a:avLst/>
          </a:prstGeom>
          <a:noFill/>
        </p:spPr>
        <p:txBody>
          <a:bodyPr wrap="square" lIns="18288" tIns="22860" rIns="18288" bIns="22860">
            <a:spAutoFit/>
          </a:bodyPr>
          <a:lstStyle/>
          <a:p>
            <a:pPr>
              <a:lnSpc>
                <a:spcPct val="100000"/>
              </a:lnSpc>
              <a:spcAft>
                <a:spcPts val="600"/>
              </a:spcAft>
              <a:defRPr sz="1900" b="0">
                <a:solidFill>
                  <a:srgbClr val="102A43"/>
                </a:solidFill>
                <a:latin typeface="Arial"/>
              </a:defRPr>
            </a:pPr>
            <a:r>
              <a:rPr sz="1300" dirty="0">
                <a:solidFill>
                  <a:srgbClr val="1B2D3B"/>
                </a:solidFill>
              </a:rPr>
              <a:t>Choose the benchmark for its economic meaning, not estimator performance.</a:t>
            </a:r>
          </a:p>
        </p:txBody>
      </p:sp>
      <p:sp>
        <p:nvSpPr>
          <p:cNvPr id="46" name="TextBox 45"/>
          <p:cNvSpPr txBox="1"/>
          <p:nvPr/>
        </p:nvSpPr>
        <p:spPr>
          <a:xfrm>
            <a:off x="640080" y="5468111"/>
            <a:ext cx="1325880" cy="256032"/>
          </a:xfrm>
          <a:prstGeom prst="rect">
            <a:avLst/>
          </a:prstGeom>
          <a:noFill/>
        </p:spPr>
        <p:txBody>
          <a:bodyPr wrap="none" lIns="0" tIns="0" rIns="0" bIns="0">
            <a:spAutoFit/>
          </a:bodyPr>
          <a:lstStyle/>
          <a:p>
            <a:r>
              <a:rPr sz="1050" b="1" dirty="0">
                <a:solidFill>
                  <a:srgbClr val="0B7E80"/>
                </a:solidFill>
                <a:latin typeface="Arial"/>
              </a:rPr>
              <a:t>WORKING HYPOTHESIS</a:t>
            </a:r>
          </a:p>
        </p:txBody>
      </p:sp>
      <p:sp>
        <p:nvSpPr>
          <p:cNvPr id="47" name="TextBox 46"/>
          <p:cNvSpPr txBox="1"/>
          <p:nvPr/>
        </p:nvSpPr>
        <p:spPr>
          <a:xfrm>
            <a:off x="2331720" y="5465446"/>
            <a:ext cx="9189720" cy="438912"/>
          </a:xfrm>
          <a:prstGeom prst="rect">
            <a:avLst/>
          </a:prstGeom>
          <a:noFill/>
        </p:spPr>
        <p:txBody>
          <a:bodyPr wrap="square" lIns="0" tIns="0" rIns="0" bIns="0">
            <a:spAutoFit/>
          </a:bodyPr>
          <a:lstStyle/>
          <a:p>
            <a:r>
              <a:rPr sz="1250" dirty="0">
                <a:solidFill>
                  <a:srgbClr val="1B2D3B"/>
                </a:solidFill>
                <a:latin typeface="Arial"/>
              </a:rPr>
              <a:t>EDGE is expected to show lower error and fewer negative estimates; gaps may widen in less liquid / less continuous markets.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BFCFD"/>
        </a:solidFill>
        <a:effectLst/>
      </p:bgPr>
    </p:bg>
    <p:spTree>
      <p:nvGrpSpPr>
        <p:cNvPr id="1" name="Shape 51"/>
        <p:cNvGrpSpPr/>
        <p:nvPr/>
      </p:nvGrpSpPr>
      <p:grpSpPr>
        <a:xfrm>
          <a:off x="0" y="0"/>
          <a:ext cx="0" cy="0"/>
          <a:chOff x="0" y="0"/>
          <a:chExt cx="0" cy="0"/>
        </a:xfrm>
      </p:grpSpPr>
      <p:sp>
        <p:nvSpPr>
          <p:cNvPr id="52" name="Google Shape;52;p5"/>
          <p:cNvSpPr/>
          <p:nvPr/>
        </p:nvSpPr>
        <p:spPr>
          <a:xfrm>
            <a:off x="0" y="0"/>
            <a:ext cx="114300" cy="6858000"/>
          </a:xfrm>
          <a:prstGeom prst="rect">
            <a:avLst/>
          </a:prstGeom>
          <a:solidFill>
            <a:srgbClr val="087E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5"/>
          <p:cNvSpPr/>
          <p:nvPr/>
        </p:nvSpPr>
        <p:spPr>
          <a:xfrm>
            <a:off x="609600" y="285750"/>
            <a:ext cx="4381500" cy="209550"/>
          </a:xfrm>
          <a:prstGeom prst="rect">
            <a:avLst/>
          </a:prstGeom>
          <a:noFill/>
          <a:ln>
            <a:noFill/>
          </a:ln>
        </p:spPr>
        <p:txBody>
          <a:bodyPr spcFirstLastPara="1" wrap="square" lIns="18288" tIns="22860" rIns="18288" bIns="22860" anchor="t" anchorCtr="0">
            <a:noAutofit/>
          </a:bodyPr>
          <a:lstStyle/>
          <a:p>
            <a:pPr marL="0" marR="0" lvl="0" indent="0" algn="l" rtl="0">
              <a:lnSpc>
                <a:spcPct val="100000"/>
              </a:lnSpc>
              <a:spcBef>
                <a:spcPts val="0"/>
              </a:spcBef>
              <a:spcAft>
                <a:spcPts val="0"/>
              </a:spcAft>
              <a:buNone/>
              <a:defRPr sz="1125" b="1">
                <a:solidFill>
                  <a:srgbClr val="087E8B"/>
                </a:solidFill>
                <a:latin typeface="Arial"/>
              </a:defRPr>
            </a:pPr>
            <a:r>
              <a:t>DATA REQUIREMENTS</a:t>
            </a:r>
          </a:p>
        </p:txBody>
      </p:sp>
      <p:sp>
        <p:nvSpPr>
          <p:cNvPr id="54" name="Google Shape;54;p5"/>
          <p:cNvSpPr/>
          <p:nvPr/>
        </p:nvSpPr>
        <p:spPr>
          <a:xfrm>
            <a:off x="609600" y="514350"/>
            <a:ext cx="10934700" cy="590550"/>
          </a:xfrm>
          <a:prstGeom prst="rect">
            <a:avLst/>
          </a:prstGeom>
          <a:noFill/>
          <a:ln>
            <a:noFill/>
          </a:ln>
        </p:spPr>
        <p:txBody>
          <a:bodyPr spcFirstLastPara="1" wrap="square" lIns="18288" tIns="22860" rIns="18288" bIns="22860" anchor="t" anchorCtr="0">
            <a:noAutofit/>
          </a:bodyPr>
          <a:lstStyle/>
          <a:p>
            <a:pPr marL="0" marR="0" lvl="0" indent="0" algn="l" rtl="0">
              <a:lnSpc>
                <a:spcPct val="100000"/>
              </a:lnSpc>
              <a:spcBef>
                <a:spcPts val="0"/>
              </a:spcBef>
              <a:spcAft>
                <a:spcPts val="600"/>
              </a:spcAft>
              <a:buNone/>
              <a:defRPr sz="2800" b="1">
                <a:solidFill>
                  <a:srgbClr val="102A43"/>
                </a:solidFill>
                <a:latin typeface="Arial"/>
              </a:defRPr>
            </a:pPr>
            <a:r>
              <a:t>Separate local intraday inputs from Bloomberg daily data</a:t>
            </a:r>
          </a:p>
        </p:txBody>
      </p:sp>
      <p:sp>
        <p:nvSpPr>
          <p:cNvPr id="55" name="Google Shape;55;p5"/>
          <p:cNvSpPr/>
          <p:nvPr/>
        </p:nvSpPr>
        <p:spPr>
          <a:xfrm>
            <a:off x="628650" y="1123950"/>
            <a:ext cx="10668000" cy="323850"/>
          </a:xfrm>
          <a:prstGeom prst="rect">
            <a:avLst/>
          </a:prstGeom>
          <a:noFill/>
          <a:ln>
            <a:noFill/>
          </a:ln>
        </p:spPr>
        <p:txBody>
          <a:bodyPr spcFirstLastPara="1" wrap="square" lIns="18288" tIns="22860" rIns="18288" bIns="22860" anchor="t" anchorCtr="0">
            <a:noAutofit/>
          </a:bodyPr>
          <a:lstStyle/>
          <a:p>
            <a:pPr marL="0" marR="0" lvl="0" indent="0" algn="l" rtl="0">
              <a:lnSpc>
                <a:spcPct val="100000"/>
              </a:lnSpc>
              <a:spcBef>
                <a:spcPts val="0"/>
              </a:spcBef>
              <a:spcAft>
                <a:spcPts val="600"/>
              </a:spcAft>
              <a:buNone/>
              <a:defRPr sz="1500" b="0">
                <a:solidFill>
                  <a:srgbClr val="5F6F7A"/>
                </a:solidFill>
                <a:latin typeface="Arial"/>
              </a:defRPr>
            </a:pPr>
            <a:r>
              <a:t>REQUIREMENTS | Identifiers, timing and units must connect the sources</a:t>
            </a:r>
          </a:p>
        </p:txBody>
      </p:sp>
      <p:sp>
        <p:nvSpPr>
          <p:cNvPr id="56" name="Google Shape;56;p5"/>
          <p:cNvSpPr/>
          <p:nvPr/>
        </p:nvSpPr>
        <p:spPr>
          <a:xfrm>
            <a:off x="590550" y="6496050"/>
            <a:ext cx="11010900" cy="9525"/>
          </a:xfrm>
          <a:prstGeom prst="rect">
            <a:avLst/>
          </a:prstGeom>
          <a:solidFill>
            <a:srgbClr val="CFD8D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5"/>
          <p:cNvSpPr/>
          <p:nvPr/>
        </p:nvSpPr>
        <p:spPr>
          <a:xfrm>
            <a:off x="609600" y="6572250"/>
            <a:ext cx="4191000" cy="17145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050" b="0">
                <a:solidFill>
                  <a:srgbClr val="5F6F7A"/>
                </a:solidFill>
                <a:latin typeface="Arial"/>
                <a:ea typeface="Arial"/>
                <a:cs typeface="Arial"/>
                <a:sym typeface="Arial"/>
              </a:rPr>
              <a:t>MMF 1941   Project progress update</a:t>
            </a:r>
            <a:endParaRPr/>
          </a:p>
        </p:txBody>
      </p:sp>
      <p:sp>
        <p:nvSpPr>
          <p:cNvPr id="58" name="Google Shape;58;p5"/>
          <p:cNvSpPr/>
          <p:nvPr/>
        </p:nvSpPr>
        <p:spPr>
          <a:xfrm>
            <a:off x="11049000" y="6543675"/>
            <a:ext cx="533400" cy="190500"/>
          </a:xfrm>
          <a:prstGeom prst="rect">
            <a:avLst/>
          </a:prstGeom>
          <a:noFill/>
          <a:ln>
            <a:noFill/>
          </a:ln>
        </p:spPr>
        <p:txBody>
          <a:bodyPr spcFirstLastPara="1" wrap="square" lIns="18288" tIns="22860" rIns="18288" bIns="22860" anchor="t" anchorCtr="0">
            <a:noAutofit/>
          </a:bodyPr>
          <a:lstStyle/>
          <a:p>
            <a:pPr marL="0" marR="0" lvl="0" indent="0" algn="r" rtl="0">
              <a:lnSpc>
                <a:spcPct val="100000"/>
              </a:lnSpc>
              <a:spcBef>
                <a:spcPts val="0"/>
              </a:spcBef>
              <a:spcAft>
                <a:spcPts val="0"/>
              </a:spcAft>
              <a:buNone/>
              <a:defRPr sz="1125" b="0">
                <a:solidFill>
                  <a:srgbClr val="102A43"/>
                </a:solidFill>
                <a:latin typeface="Arial"/>
              </a:defRPr>
            </a:pPr>
            <a:r>
              <a:t>03</a:t>
            </a:r>
          </a:p>
        </p:txBody>
      </p:sp>
      <p:graphicFrame>
        <p:nvGraphicFramePr>
          <p:cNvPr id="59" name="Table 58"/>
          <p:cNvGraphicFramePr>
            <a:graphicFrameLocks noGrp="1"/>
          </p:cNvGraphicFramePr>
          <p:nvPr/>
        </p:nvGraphicFramePr>
        <p:xfrm>
          <a:off x="640080" y="1737360"/>
          <a:ext cx="10881360" cy="3355848"/>
        </p:xfrm>
        <a:graphic>
          <a:graphicData uri="http://schemas.openxmlformats.org/drawingml/2006/table">
            <a:tbl>
              <a:tblPr firstRow="1" bandRow="1">
                <a:tableStyleId>{5C22544A-7EE6-4342-B048-85BDC9FD1C3A}</a:tableStyleId>
              </a:tblPr>
              <a:tblGrid>
                <a:gridCol w="2377440">
                  <a:extLst>
                    <a:ext uri="{9D8B030D-6E8A-4147-A177-3AD203B41FA5}">
                      <a16:colId xmlns:a16="http://schemas.microsoft.com/office/drawing/2014/main" val="20000"/>
                    </a:ext>
                  </a:extLst>
                </a:gridCol>
                <a:gridCol w="3840480">
                  <a:extLst>
                    <a:ext uri="{9D8B030D-6E8A-4147-A177-3AD203B41FA5}">
                      <a16:colId xmlns:a16="http://schemas.microsoft.com/office/drawing/2014/main" val="20001"/>
                    </a:ext>
                  </a:extLst>
                </a:gridCol>
                <a:gridCol w="4663440">
                  <a:extLst>
                    <a:ext uri="{9D8B030D-6E8A-4147-A177-3AD203B41FA5}">
                      <a16:colId xmlns:a16="http://schemas.microsoft.com/office/drawing/2014/main" val="20002"/>
                    </a:ext>
                  </a:extLst>
                </a:gridCol>
              </a:tblGrid>
              <a:tr h="667512">
                <a:tc>
                  <a:txBody>
                    <a:bodyPr/>
                    <a:lstStyle/>
                    <a:p>
                      <a:pPr>
                        <a:lnSpc>
                          <a:spcPct val="100000"/>
                        </a:lnSpc>
                        <a:spcAft>
                          <a:spcPts val="600"/>
                        </a:spcAft>
                        <a:defRPr sz="1800" b="1">
                          <a:solidFill>
                            <a:srgbClr val="FFFFFF"/>
                          </a:solidFill>
                          <a:latin typeface="Arial"/>
                        </a:defRPr>
                      </a:pPr>
                      <a:r>
                        <a:t>Input</a:t>
                      </a:r>
                    </a:p>
                  </a:txBody>
                  <a:tcPr marT="64008" marB="64008" anchor="ctr">
                    <a:solidFill>
                      <a:srgbClr val="102A43"/>
                    </a:solidFill>
                  </a:tcPr>
                </a:tc>
                <a:tc>
                  <a:txBody>
                    <a:bodyPr/>
                    <a:lstStyle/>
                    <a:p>
                      <a:pPr>
                        <a:lnSpc>
                          <a:spcPct val="100000"/>
                        </a:lnSpc>
                        <a:spcAft>
                          <a:spcPts val="600"/>
                        </a:spcAft>
                        <a:defRPr sz="1800" b="1">
                          <a:solidFill>
                            <a:srgbClr val="FFFFFF"/>
                          </a:solidFill>
                          <a:latin typeface="Arial"/>
                        </a:defRPr>
                      </a:pPr>
                      <a:r>
                        <a:t>Source / frequency</a:t>
                      </a:r>
                    </a:p>
                  </a:txBody>
                  <a:tcPr marT="64008" marB="64008" anchor="ctr">
                    <a:solidFill>
                      <a:srgbClr val="102A43"/>
                    </a:solidFill>
                  </a:tcPr>
                </a:tc>
                <a:tc>
                  <a:txBody>
                    <a:bodyPr/>
                    <a:lstStyle/>
                    <a:p>
                      <a:pPr>
                        <a:lnSpc>
                          <a:spcPct val="100000"/>
                        </a:lnSpc>
                        <a:spcAft>
                          <a:spcPts val="600"/>
                        </a:spcAft>
                        <a:defRPr sz="1800" b="1">
                          <a:solidFill>
                            <a:srgbClr val="FFFFFF"/>
                          </a:solidFill>
                          <a:latin typeface="Arial"/>
                        </a:defRPr>
                      </a:pPr>
                      <a:r>
                        <a:t>Role / current boundary</a:t>
                      </a:r>
                    </a:p>
                  </a:txBody>
                  <a:tcPr marT="64008" marB="64008" anchor="ctr">
                    <a:solidFill>
                      <a:srgbClr val="102A43"/>
                    </a:solidFill>
                  </a:tcPr>
                </a:tc>
                <a:extLst>
                  <a:ext uri="{0D108BD9-81ED-4DB2-BD59-A6C34878D82A}">
                    <a16:rowId xmlns:a16="http://schemas.microsoft.com/office/drawing/2014/main" val="10000"/>
                  </a:ext>
                </a:extLst>
              </a:tr>
              <a:tr h="667512">
                <a:tc>
                  <a:txBody>
                    <a:bodyPr/>
                    <a:lstStyle/>
                    <a:p>
                      <a:pPr>
                        <a:lnSpc>
                          <a:spcPct val="100000"/>
                        </a:lnSpc>
                        <a:spcAft>
                          <a:spcPts val="600"/>
                        </a:spcAft>
                        <a:defRPr sz="1800" b="0">
                          <a:solidFill>
                            <a:srgbClr val="172B3A"/>
                          </a:solidFill>
                          <a:latin typeface="Arial"/>
                        </a:defRPr>
                      </a:pPr>
                      <a:r>
                        <a:t>Daily OHLC + volume</a:t>
                      </a:r>
                    </a:p>
                  </a:txBody>
                  <a:tcPr marT="64008" marB="64008" anchor="ctr">
                    <a:solidFill>
                      <a:srgbClr val="F2F5F7"/>
                    </a:solidFill>
                  </a:tcPr>
                </a:tc>
                <a:tc>
                  <a:txBody>
                    <a:bodyPr/>
                    <a:lstStyle/>
                    <a:p>
                      <a:r>
                        <a:rPr sz="1300">
                          <a:solidFill>
                            <a:srgbClr val="1B2D3B"/>
                          </a:solidFill>
                        </a:rPr>
                        <a:t>Daily / EOD</a:t>
                      </a:r>
                    </a:p>
                  </a:txBody>
                  <a:tcPr marT="64008" marB="64008" anchor="ctr">
                    <a:solidFill>
                      <a:srgbClr val="F2F5F7"/>
                    </a:solidFill>
                  </a:tcPr>
                </a:tc>
                <a:tc>
                  <a:txBody>
                    <a:bodyPr/>
                    <a:lstStyle/>
                    <a:p>
                      <a:r>
                        <a:rPr sz="1300">
                          <a:solidFill>
                            <a:srgbClr val="1B2D3B"/>
                          </a:solidFill>
                        </a:rPr>
                        <a:t>Inputs to eventual CS / AR / EDGE estimators</a:t>
                      </a:r>
                    </a:p>
                  </a:txBody>
                  <a:tcPr marT="64008" marB="64008" anchor="ctr">
                    <a:solidFill>
                      <a:srgbClr val="F2F5F7"/>
                    </a:solidFill>
                  </a:tcPr>
                </a:tc>
                <a:extLst>
                  <a:ext uri="{0D108BD9-81ED-4DB2-BD59-A6C34878D82A}">
                    <a16:rowId xmlns:a16="http://schemas.microsoft.com/office/drawing/2014/main" val="10001"/>
                  </a:ext>
                </a:extLst>
              </a:tr>
              <a:tr h="667512">
                <a:tc>
                  <a:txBody>
                    <a:bodyPr/>
                    <a:lstStyle/>
                    <a:p>
                      <a:pPr>
                        <a:lnSpc>
                          <a:spcPct val="100000"/>
                        </a:lnSpc>
                        <a:spcAft>
                          <a:spcPts val="600"/>
                        </a:spcAft>
                        <a:defRPr sz="1800" b="0">
                          <a:solidFill>
                            <a:srgbClr val="172B3A"/>
                          </a:solidFill>
                          <a:latin typeface="Arial"/>
                        </a:defRPr>
                      </a:pPr>
                      <a:r>
                        <a:t>Intraday OHLCV</a:t>
                      </a:r>
                    </a:p>
                  </a:txBody>
                  <a:tcPr marT="64008" marB="64008" anchor="ctr">
                    <a:solidFill>
                      <a:srgbClr val="FFFFFF"/>
                    </a:solidFill>
                  </a:tcPr>
                </a:tc>
                <a:tc>
                  <a:txBody>
                    <a:bodyPr/>
                    <a:lstStyle/>
                    <a:p>
                      <a:pPr>
                        <a:lnSpc>
                          <a:spcPct val="100000"/>
                        </a:lnSpc>
                        <a:spcAft>
                          <a:spcPts val="600"/>
                        </a:spcAft>
                        <a:defRPr sz="1800" b="0">
                          <a:solidFill>
                            <a:srgbClr val="172B3A"/>
                          </a:solidFill>
                          <a:latin typeface="Arial"/>
                        </a:defRPr>
                      </a:pPr>
                      <a:r>
                        <a:t>Local RiskLab / First Rate Data</a:t>
                      </a:r>
                    </a:p>
                  </a:txBody>
                  <a:tcPr marT="64008" marB="64008" anchor="ctr">
                    <a:solidFill>
                      <a:srgbClr val="FFFFFF"/>
                    </a:solidFill>
                  </a:tcPr>
                </a:tc>
                <a:tc>
                  <a:txBody>
                    <a:bodyPr/>
                    <a:lstStyle/>
                    <a:p>
                      <a:pPr>
                        <a:lnSpc>
                          <a:spcPct val="100000"/>
                        </a:lnSpc>
                        <a:spcAft>
                          <a:spcPts val="600"/>
                        </a:spcAft>
                        <a:defRPr sz="1800" b="0">
                          <a:solidFill>
                            <a:srgbClr val="172B3A"/>
                          </a:solidFill>
                          <a:latin typeface="Arial"/>
                        </a:defRPr>
                      </a:pPr>
                      <a:r>
                        <a:t>Benchmark feasibility + diagnostics</a:t>
                      </a:r>
                    </a:p>
                  </a:txBody>
                  <a:tcPr marT="64008" marB="64008" anchor="ctr">
                    <a:solidFill>
                      <a:srgbClr val="FFFFFF"/>
                    </a:solidFill>
                  </a:tcPr>
                </a:tc>
                <a:extLst>
                  <a:ext uri="{0D108BD9-81ED-4DB2-BD59-A6C34878D82A}">
                    <a16:rowId xmlns:a16="http://schemas.microsoft.com/office/drawing/2014/main" val="10002"/>
                  </a:ext>
                </a:extLst>
              </a:tr>
              <a:tr h="667512">
                <a:tc>
                  <a:txBody>
                    <a:bodyPr/>
                    <a:lstStyle/>
                    <a:p>
                      <a:pPr>
                        <a:lnSpc>
                          <a:spcPct val="100000"/>
                        </a:lnSpc>
                        <a:spcAft>
                          <a:spcPts val="600"/>
                        </a:spcAft>
                        <a:defRPr sz="1800" b="0">
                          <a:solidFill>
                            <a:srgbClr val="172B3A"/>
                          </a:solidFill>
                          <a:latin typeface="Arial"/>
                        </a:defRPr>
                      </a:pPr>
                      <a:r>
                        <a:t>Daily bid / ask</a:t>
                      </a:r>
                    </a:p>
                  </a:txBody>
                  <a:tcPr marT="64008" marB="64008" anchor="ctr">
                    <a:solidFill>
                      <a:srgbClr val="F2F5F7"/>
                    </a:solidFill>
                  </a:tcPr>
                </a:tc>
                <a:tc>
                  <a:txBody>
                    <a:bodyPr/>
                    <a:lstStyle/>
                    <a:p>
                      <a:pPr>
                        <a:lnSpc>
                          <a:spcPct val="100000"/>
                        </a:lnSpc>
                        <a:spcAft>
                          <a:spcPts val="600"/>
                        </a:spcAft>
                        <a:defRPr sz="1800" b="0">
                          <a:solidFill>
                            <a:srgbClr val="172B3A"/>
                          </a:solidFill>
                          <a:latin typeface="Arial"/>
                        </a:defRPr>
                      </a:pPr>
                      <a:r>
                        <a:t>Bloomberg equity / ETF pilot</a:t>
                      </a:r>
                    </a:p>
                  </a:txBody>
                  <a:tcPr marT="64008" marB="64008" anchor="ctr">
                    <a:solidFill>
                      <a:srgbClr val="F2F5F7"/>
                    </a:solidFill>
                  </a:tcPr>
                </a:tc>
                <a:tc>
                  <a:txBody>
                    <a:bodyPr/>
                    <a:lstStyle/>
                    <a:p>
                      <a:pPr>
                        <a:lnSpc>
                          <a:spcPct val="100000"/>
                        </a:lnSpc>
                        <a:spcAft>
                          <a:spcPts val="600"/>
                        </a:spcAft>
                        <a:defRPr sz="1800" b="0">
                          <a:solidFill>
                            <a:srgbClr val="172B3A"/>
                          </a:solidFill>
                          <a:latin typeface="Arial"/>
                        </a:defRPr>
                      </a:pPr>
                      <a:r>
                        <a:t>PX_BID / PX_ASK; not intraday quotes</a:t>
                      </a:r>
                    </a:p>
                  </a:txBody>
                  <a:tcPr marT="64008" marB="64008" anchor="ctr">
                    <a:solidFill>
                      <a:srgbClr val="F2F5F7"/>
                    </a:solidFill>
                  </a:tcPr>
                </a:tc>
                <a:extLst>
                  <a:ext uri="{0D108BD9-81ED-4DB2-BD59-A6C34878D82A}">
                    <a16:rowId xmlns:a16="http://schemas.microsoft.com/office/drawing/2014/main" val="10003"/>
                  </a:ext>
                </a:extLst>
              </a:tr>
              <a:tr h="667512">
                <a:tc>
                  <a:txBody>
                    <a:bodyPr/>
                    <a:lstStyle/>
                    <a:p>
                      <a:pPr>
                        <a:lnSpc>
                          <a:spcPct val="100000"/>
                        </a:lnSpc>
                        <a:spcAft>
                          <a:spcPts val="600"/>
                        </a:spcAft>
                        <a:defRPr sz="1800" b="0">
                          <a:solidFill>
                            <a:srgbClr val="172B3A"/>
                          </a:solidFill>
                          <a:latin typeface="Arial"/>
                        </a:defRPr>
                      </a:pPr>
                      <a:r>
                        <a:t>Identifiers + metadata</a:t>
                      </a:r>
                    </a:p>
                  </a:txBody>
                  <a:tcPr marT="64008" marB="64008" anchor="ctr">
                    <a:solidFill>
                      <a:srgbClr val="FFFFFF"/>
                    </a:solidFill>
                  </a:tcPr>
                </a:tc>
                <a:tc>
                  <a:txBody>
                    <a:bodyPr/>
                    <a:lstStyle/>
                    <a:p>
                      <a:pPr>
                        <a:lnSpc>
                          <a:spcPct val="100000"/>
                        </a:lnSpc>
                        <a:spcAft>
                          <a:spcPts val="600"/>
                        </a:spcAft>
                        <a:defRPr sz="1800" b="0">
                          <a:solidFill>
                            <a:srgbClr val="172B3A"/>
                          </a:solidFill>
                          <a:latin typeface="Arial"/>
                        </a:defRPr>
                      </a:pPr>
                      <a:r>
                        <a:t>Provider records + Bloomberg BDP</a:t>
                      </a:r>
                    </a:p>
                  </a:txBody>
                  <a:tcPr marT="64008" marB="64008" anchor="ctr">
                    <a:solidFill>
                      <a:srgbClr val="FFFFFF"/>
                    </a:solidFill>
                  </a:tcPr>
                </a:tc>
                <a:tc>
                  <a:txBody>
                    <a:bodyPr/>
                    <a:lstStyle/>
                    <a:p>
                      <a:pPr>
                        <a:lnSpc>
                          <a:spcPct val="100000"/>
                        </a:lnSpc>
                        <a:spcAft>
                          <a:spcPts val="600"/>
                        </a:spcAft>
                        <a:defRPr sz="1800" b="0">
                          <a:solidFill>
                            <a:srgbClr val="172B3A"/>
                          </a:solidFill>
                          <a:latin typeface="Arial"/>
                        </a:defRPr>
                      </a:pPr>
                      <a:r>
                        <a:t>IDs, currency, adjustments, timezone</a:t>
                      </a:r>
                    </a:p>
                  </a:txBody>
                  <a:tcPr marT="64008" marB="64008" anchor="ctr">
                    <a:solidFill>
                      <a:srgbClr val="FFFFFF"/>
                    </a:solidFill>
                  </a:tcPr>
                </a:tc>
                <a:extLst>
                  <a:ext uri="{0D108BD9-81ED-4DB2-BD59-A6C34878D82A}">
                    <a16:rowId xmlns:a16="http://schemas.microsoft.com/office/drawing/2014/main" val="10004"/>
                  </a:ext>
                </a:extLst>
              </a:tr>
            </a:tbl>
          </a:graphicData>
        </a:graphic>
      </p:graphicFrame>
      <p:sp>
        <p:nvSpPr>
          <p:cNvPr id="60" name="TextBox 59"/>
          <p:cNvSpPr txBox="1"/>
          <p:nvPr/>
        </p:nvSpPr>
        <p:spPr>
          <a:xfrm>
            <a:off x="640080" y="5760720"/>
            <a:ext cx="1371600" cy="457200"/>
          </a:xfrm>
          <a:prstGeom prst="rect">
            <a:avLst/>
          </a:prstGeom>
          <a:noFill/>
        </p:spPr>
        <p:txBody>
          <a:bodyPr wrap="square" lIns="18288" tIns="22860" rIns="18288" bIns="22860">
            <a:spAutoFit/>
          </a:bodyPr>
          <a:lstStyle/>
          <a:p>
            <a:pPr>
              <a:lnSpc>
                <a:spcPct val="100000"/>
              </a:lnSpc>
              <a:spcAft>
                <a:spcPts val="0"/>
              </a:spcAft>
              <a:defRPr sz="1200" b="1">
                <a:solidFill>
                  <a:srgbClr val="087E8B"/>
                </a:solidFill>
                <a:latin typeface="Arial"/>
              </a:defRPr>
            </a:pPr>
            <a:r>
              <a:t>SOURCE RULE</a:t>
            </a:r>
          </a:p>
        </p:txBody>
      </p:sp>
      <p:sp>
        <p:nvSpPr>
          <p:cNvPr id="61" name="TextBox 60"/>
          <p:cNvSpPr txBox="1"/>
          <p:nvPr/>
        </p:nvSpPr>
        <p:spPr>
          <a:xfrm>
            <a:off x="2011680" y="5687568"/>
            <a:ext cx="9464040" cy="621792"/>
          </a:xfrm>
          <a:prstGeom prst="rect">
            <a:avLst/>
          </a:prstGeom>
          <a:noFill/>
        </p:spPr>
        <p:txBody>
          <a:bodyPr wrap="square" lIns="18288" tIns="22860" rIns="18288" bIns="22860">
            <a:spAutoFit/>
          </a:bodyPr>
          <a:lstStyle/>
          <a:p>
            <a:pPr>
              <a:lnSpc>
                <a:spcPct val="100000"/>
              </a:lnSpc>
              <a:spcAft>
                <a:spcPts val="600"/>
              </a:spcAft>
              <a:defRPr sz="1900" b="0">
                <a:solidFill>
                  <a:srgbClr val="102A43"/>
                </a:solidFill>
                <a:latin typeface="Arial"/>
              </a:defRPr>
            </a:pPr>
            <a:r>
              <a:t>Bloomberg is daily/EOD/reference only; all intraday data stay local.</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BFCFD"/>
        </a:solidFill>
        <a:effectLst/>
      </p:bgPr>
    </p:bg>
    <p:spTree>
      <p:nvGrpSpPr>
        <p:cNvPr id="1" name="Shape 66"/>
        <p:cNvGrpSpPr/>
        <p:nvPr/>
      </p:nvGrpSpPr>
      <p:grpSpPr>
        <a:xfrm>
          <a:off x="0" y="0"/>
          <a:ext cx="0" cy="0"/>
          <a:chOff x="0" y="0"/>
          <a:chExt cx="0" cy="0"/>
        </a:xfrm>
      </p:grpSpPr>
      <p:sp>
        <p:nvSpPr>
          <p:cNvPr id="67" name="Google Shape;67;p6"/>
          <p:cNvSpPr/>
          <p:nvPr/>
        </p:nvSpPr>
        <p:spPr>
          <a:xfrm>
            <a:off x="0" y="0"/>
            <a:ext cx="114300" cy="6858000"/>
          </a:xfrm>
          <a:prstGeom prst="rect">
            <a:avLst/>
          </a:prstGeom>
          <a:solidFill>
            <a:srgbClr val="087E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6"/>
          <p:cNvSpPr/>
          <p:nvPr/>
        </p:nvSpPr>
        <p:spPr>
          <a:xfrm>
            <a:off x="609600" y="285750"/>
            <a:ext cx="4381500" cy="209550"/>
          </a:xfrm>
          <a:prstGeom prst="rect">
            <a:avLst/>
          </a:prstGeom>
          <a:noFill/>
          <a:ln>
            <a:noFill/>
          </a:ln>
        </p:spPr>
        <p:txBody>
          <a:bodyPr spcFirstLastPara="1" wrap="square" lIns="18288" tIns="22860" rIns="18288" bIns="22860" anchor="t" anchorCtr="0">
            <a:noAutofit/>
          </a:bodyPr>
          <a:lstStyle/>
          <a:p>
            <a:pPr marL="0" marR="0" lvl="0" indent="0" algn="l" rtl="0">
              <a:lnSpc>
                <a:spcPct val="100000"/>
              </a:lnSpc>
              <a:spcBef>
                <a:spcPts val="0"/>
              </a:spcBef>
              <a:spcAft>
                <a:spcPts val="0"/>
              </a:spcAft>
              <a:buNone/>
              <a:defRPr sz="1125" b="1">
                <a:solidFill>
                  <a:srgbClr val="087E8B"/>
                </a:solidFill>
                <a:latin typeface="Arial"/>
              </a:defRPr>
            </a:pPr>
            <a:r>
              <a:t>LOCAL DATA INVENTORY</a:t>
            </a:r>
          </a:p>
        </p:txBody>
      </p:sp>
      <p:sp>
        <p:nvSpPr>
          <p:cNvPr id="69" name="Google Shape;69;p6"/>
          <p:cNvSpPr/>
          <p:nvPr/>
        </p:nvSpPr>
        <p:spPr>
          <a:xfrm>
            <a:off x="609600" y="514350"/>
            <a:ext cx="10934700" cy="590550"/>
          </a:xfrm>
          <a:prstGeom prst="rect">
            <a:avLst/>
          </a:prstGeom>
          <a:noFill/>
          <a:ln>
            <a:noFill/>
          </a:ln>
        </p:spPr>
        <p:txBody>
          <a:bodyPr spcFirstLastPara="1" wrap="square" lIns="18288" tIns="22860" rIns="18288" bIns="22860" anchor="t" anchorCtr="0">
            <a:noAutofit/>
          </a:bodyPr>
          <a:lstStyle/>
          <a:p>
            <a:pPr marL="0" marR="0" lvl="0" indent="0" algn="l" rtl="0">
              <a:lnSpc>
                <a:spcPct val="100000"/>
              </a:lnSpc>
              <a:spcBef>
                <a:spcPts val="0"/>
              </a:spcBef>
              <a:spcAft>
                <a:spcPts val="600"/>
              </a:spcAft>
              <a:buNone/>
              <a:defRPr sz="2800" b="1">
                <a:solidFill>
                  <a:srgbClr val="102A43"/>
                </a:solidFill>
                <a:latin typeface="Arial"/>
              </a:defRPr>
            </a:pPr>
            <a:r>
              <a:t>Four asset classes available; FX remains unresolved</a:t>
            </a:r>
          </a:p>
        </p:txBody>
      </p:sp>
      <p:sp>
        <p:nvSpPr>
          <p:cNvPr id="70" name="Google Shape;70;p6"/>
          <p:cNvSpPr/>
          <p:nvPr/>
        </p:nvSpPr>
        <p:spPr>
          <a:xfrm>
            <a:off x="628650" y="1123950"/>
            <a:ext cx="10668000" cy="323850"/>
          </a:xfrm>
          <a:prstGeom prst="rect">
            <a:avLst/>
          </a:prstGeom>
          <a:noFill/>
          <a:ln>
            <a:noFill/>
          </a:ln>
        </p:spPr>
        <p:txBody>
          <a:bodyPr spcFirstLastPara="1" wrap="square" lIns="18288" tIns="22860" rIns="18288" bIns="22860" anchor="t" anchorCtr="0">
            <a:noAutofit/>
          </a:bodyPr>
          <a:lstStyle/>
          <a:p>
            <a:pPr marL="0" marR="0" lvl="0" indent="0" algn="l" rtl="0">
              <a:lnSpc>
                <a:spcPct val="100000"/>
              </a:lnSpc>
              <a:spcBef>
                <a:spcPts val="0"/>
              </a:spcBef>
              <a:spcAft>
                <a:spcPts val="600"/>
              </a:spcAft>
              <a:buNone/>
              <a:defRPr sz="1500" b="0">
                <a:solidFill>
                  <a:srgbClr val="5F6F7A"/>
                </a:solidFill>
                <a:latin typeface="Arial"/>
              </a:defRPr>
            </a:pPr>
            <a:r>
              <a:t>FACTS | Local RiskLab / First Rate intraday archive</a:t>
            </a:r>
          </a:p>
        </p:txBody>
      </p:sp>
      <p:sp>
        <p:nvSpPr>
          <p:cNvPr id="71" name="Google Shape;71;p6"/>
          <p:cNvSpPr/>
          <p:nvPr/>
        </p:nvSpPr>
        <p:spPr>
          <a:xfrm>
            <a:off x="590550" y="6496050"/>
            <a:ext cx="11010900" cy="9525"/>
          </a:xfrm>
          <a:prstGeom prst="rect">
            <a:avLst/>
          </a:prstGeom>
          <a:solidFill>
            <a:srgbClr val="CFD8D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6"/>
          <p:cNvSpPr/>
          <p:nvPr/>
        </p:nvSpPr>
        <p:spPr>
          <a:xfrm>
            <a:off x="609600" y="6572250"/>
            <a:ext cx="4191000" cy="17145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050" b="0">
                <a:solidFill>
                  <a:srgbClr val="5F6F7A"/>
                </a:solidFill>
                <a:latin typeface="Arial"/>
                <a:ea typeface="Arial"/>
                <a:cs typeface="Arial"/>
                <a:sym typeface="Arial"/>
              </a:rPr>
              <a:t>MMF 1941   Project progress update</a:t>
            </a:r>
            <a:endParaRPr/>
          </a:p>
        </p:txBody>
      </p:sp>
      <p:sp>
        <p:nvSpPr>
          <p:cNvPr id="73" name="Google Shape;73;p6"/>
          <p:cNvSpPr/>
          <p:nvPr/>
        </p:nvSpPr>
        <p:spPr>
          <a:xfrm>
            <a:off x="11049000" y="6543675"/>
            <a:ext cx="533400" cy="190500"/>
          </a:xfrm>
          <a:prstGeom prst="rect">
            <a:avLst/>
          </a:prstGeom>
          <a:noFill/>
          <a:ln>
            <a:noFill/>
          </a:ln>
        </p:spPr>
        <p:txBody>
          <a:bodyPr spcFirstLastPara="1" wrap="square" lIns="18288" tIns="22860" rIns="18288" bIns="22860" anchor="t" anchorCtr="0">
            <a:noAutofit/>
          </a:bodyPr>
          <a:lstStyle/>
          <a:p>
            <a:pPr marL="0" marR="0" lvl="0" indent="0" algn="r" rtl="0">
              <a:lnSpc>
                <a:spcPct val="100000"/>
              </a:lnSpc>
              <a:spcBef>
                <a:spcPts val="0"/>
              </a:spcBef>
              <a:spcAft>
                <a:spcPts val="0"/>
              </a:spcAft>
              <a:buNone/>
              <a:defRPr sz="1125" b="0">
                <a:solidFill>
                  <a:srgbClr val="102A43"/>
                </a:solidFill>
                <a:latin typeface="Arial"/>
              </a:defRPr>
            </a:pPr>
            <a:r>
              <a:t>04</a:t>
            </a:r>
          </a:p>
        </p:txBody>
      </p:sp>
      <p:graphicFrame>
        <p:nvGraphicFramePr>
          <p:cNvPr id="74" name="Table 73"/>
          <p:cNvGraphicFramePr>
            <a:graphicFrameLocks noGrp="1"/>
          </p:cNvGraphicFramePr>
          <p:nvPr/>
        </p:nvGraphicFramePr>
        <p:xfrm>
          <a:off x="640080" y="1737360"/>
          <a:ext cx="10881360" cy="3611880"/>
        </p:xfrm>
        <a:graphic>
          <a:graphicData uri="http://schemas.openxmlformats.org/drawingml/2006/table">
            <a:tbl>
              <a:tblPr firstRow="1" bandRow="1">
                <a:tableStyleId>{5C22544A-7EE6-4342-B048-85BDC9FD1C3A}</a:tableStyleId>
              </a:tblPr>
              <a:tblGrid>
                <a:gridCol w="182880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gridCol w="5394960">
                  <a:extLst>
                    <a:ext uri="{9D8B030D-6E8A-4147-A177-3AD203B41FA5}">
                      <a16:colId xmlns:a16="http://schemas.microsoft.com/office/drawing/2014/main" val="20002"/>
                    </a:ext>
                  </a:extLst>
                </a:gridCol>
              </a:tblGrid>
              <a:tr h="601980">
                <a:tc>
                  <a:txBody>
                    <a:bodyPr/>
                    <a:lstStyle/>
                    <a:p>
                      <a:pPr>
                        <a:lnSpc>
                          <a:spcPct val="100000"/>
                        </a:lnSpc>
                        <a:spcAft>
                          <a:spcPts val="600"/>
                        </a:spcAft>
                        <a:defRPr sz="1800" b="1">
                          <a:solidFill>
                            <a:srgbClr val="FFFFFF"/>
                          </a:solidFill>
                          <a:latin typeface="Arial"/>
                        </a:defRPr>
                      </a:pPr>
                      <a:r>
                        <a:t>Asset class</a:t>
                      </a:r>
                    </a:p>
                  </a:txBody>
                  <a:tcPr marT="64008" marB="64008" anchor="ctr">
                    <a:solidFill>
                      <a:srgbClr val="102A43"/>
                    </a:solidFill>
                  </a:tcPr>
                </a:tc>
                <a:tc>
                  <a:txBody>
                    <a:bodyPr/>
                    <a:lstStyle/>
                    <a:p>
                      <a:pPr>
                        <a:lnSpc>
                          <a:spcPct val="100000"/>
                        </a:lnSpc>
                        <a:spcAft>
                          <a:spcPts val="600"/>
                        </a:spcAft>
                        <a:defRPr sz="1800" b="1">
                          <a:solidFill>
                            <a:srgbClr val="FFFFFF"/>
                          </a:solidFill>
                          <a:latin typeface="Arial"/>
                        </a:defRPr>
                      </a:pPr>
                      <a:r>
                        <a:t>Availability</a:t>
                      </a:r>
                    </a:p>
                  </a:txBody>
                  <a:tcPr marT="64008" marB="64008" anchor="ctr">
                    <a:solidFill>
                      <a:srgbClr val="102A43"/>
                    </a:solidFill>
                  </a:tcPr>
                </a:tc>
                <a:tc>
                  <a:txBody>
                    <a:bodyPr/>
                    <a:lstStyle/>
                    <a:p>
                      <a:pPr>
                        <a:lnSpc>
                          <a:spcPct val="100000"/>
                        </a:lnSpc>
                        <a:spcAft>
                          <a:spcPts val="600"/>
                        </a:spcAft>
                        <a:defRPr sz="1800" b="1">
                          <a:solidFill>
                            <a:srgbClr val="FFFFFF"/>
                          </a:solidFill>
                          <a:latin typeface="Arial"/>
                        </a:defRPr>
                      </a:pPr>
                      <a:r>
                        <a:t>Pilot / limitation</a:t>
                      </a:r>
                    </a:p>
                  </a:txBody>
                  <a:tcPr marT="64008" marB="64008" anchor="ctr">
                    <a:solidFill>
                      <a:srgbClr val="102A43"/>
                    </a:solidFill>
                  </a:tcPr>
                </a:tc>
                <a:extLst>
                  <a:ext uri="{0D108BD9-81ED-4DB2-BD59-A6C34878D82A}">
                    <a16:rowId xmlns:a16="http://schemas.microsoft.com/office/drawing/2014/main" val="10000"/>
                  </a:ext>
                </a:extLst>
              </a:tr>
              <a:tr h="601980">
                <a:tc>
                  <a:txBody>
                    <a:bodyPr/>
                    <a:lstStyle/>
                    <a:p>
                      <a:pPr>
                        <a:lnSpc>
                          <a:spcPct val="100000"/>
                        </a:lnSpc>
                        <a:spcAft>
                          <a:spcPts val="600"/>
                        </a:spcAft>
                        <a:defRPr sz="1800" b="0">
                          <a:solidFill>
                            <a:srgbClr val="172B3A"/>
                          </a:solidFill>
                          <a:latin typeface="Arial"/>
                        </a:defRPr>
                      </a:pPr>
                      <a:r>
                        <a:t>Stocks</a:t>
                      </a:r>
                    </a:p>
                  </a:txBody>
                  <a:tcPr marT="64008" marB="64008" anchor="ctr">
                    <a:solidFill>
                      <a:srgbClr val="F2F5F7"/>
                    </a:solidFill>
                  </a:tcPr>
                </a:tc>
                <a:tc>
                  <a:txBody>
                    <a:bodyPr/>
                    <a:lstStyle/>
                    <a:p>
                      <a:pPr>
                        <a:lnSpc>
                          <a:spcPct val="100000"/>
                        </a:lnSpc>
                        <a:spcAft>
                          <a:spcPts val="600"/>
                        </a:spcAft>
                        <a:defRPr sz="1800" b="0">
                          <a:solidFill>
                            <a:srgbClr val="172B3A"/>
                          </a:solidFill>
                          <a:latin typeface="Arial"/>
                        </a:defRPr>
                      </a:pPr>
                      <a:r>
                        <a:t>AVAILABLE</a:t>
                      </a:r>
                    </a:p>
                  </a:txBody>
                  <a:tcPr marT="64008" marB="64008" anchor="ctr">
                    <a:solidFill>
                      <a:srgbClr val="F2F5F7"/>
                    </a:solidFill>
                  </a:tcPr>
                </a:tc>
                <a:tc>
                  <a:txBody>
                    <a:bodyPr/>
                    <a:lstStyle/>
                    <a:p>
                      <a:pPr>
                        <a:lnSpc>
                          <a:spcPct val="100000"/>
                        </a:lnSpc>
                        <a:spcAft>
                          <a:spcPts val="600"/>
                        </a:spcAft>
                        <a:defRPr sz="1800" b="0">
                          <a:solidFill>
                            <a:srgbClr val="172B3A"/>
                          </a:solidFill>
                          <a:latin typeface="Arial"/>
                        </a:defRPr>
                      </a:pPr>
                      <a:r>
                        <a:t>AAPL, GME</a:t>
                      </a:r>
                    </a:p>
                  </a:txBody>
                  <a:tcPr marT="64008" marB="64008" anchor="ctr">
                    <a:solidFill>
                      <a:srgbClr val="F2F5F7"/>
                    </a:solidFill>
                  </a:tcPr>
                </a:tc>
                <a:extLst>
                  <a:ext uri="{0D108BD9-81ED-4DB2-BD59-A6C34878D82A}">
                    <a16:rowId xmlns:a16="http://schemas.microsoft.com/office/drawing/2014/main" val="10001"/>
                  </a:ext>
                </a:extLst>
              </a:tr>
              <a:tr h="601980">
                <a:tc>
                  <a:txBody>
                    <a:bodyPr/>
                    <a:lstStyle/>
                    <a:p>
                      <a:pPr>
                        <a:lnSpc>
                          <a:spcPct val="100000"/>
                        </a:lnSpc>
                        <a:spcAft>
                          <a:spcPts val="600"/>
                        </a:spcAft>
                        <a:defRPr sz="1800" b="0">
                          <a:solidFill>
                            <a:srgbClr val="172B3A"/>
                          </a:solidFill>
                          <a:latin typeface="Arial"/>
                        </a:defRPr>
                      </a:pPr>
                      <a:r>
                        <a:t>ETFs</a:t>
                      </a:r>
                    </a:p>
                  </a:txBody>
                  <a:tcPr marT="64008" marB="64008" anchor="ctr">
                    <a:solidFill>
                      <a:srgbClr val="FFFFFF"/>
                    </a:solidFill>
                  </a:tcPr>
                </a:tc>
                <a:tc>
                  <a:txBody>
                    <a:bodyPr/>
                    <a:lstStyle/>
                    <a:p>
                      <a:pPr>
                        <a:lnSpc>
                          <a:spcPct val="100000"/>
                        </a:lnSpc>
                        <a:spcAft>
                          <a:spcPts val="600"/>
                        </a:spcAft>
                        <a:defRPr sz="1800" b="0">
                          <a:solidFill>
                            <a:srgbClr val="172B3A"/>
                          </a:solidFill>
                          <a:latin typeface="Arial"/>
                        </a:defRPr>
                      </a:pPr>
                      <a:r>
                        <a:t>AVAILABLE</a:t>
                      </a:r>
                    </a:p>
                  </a:txBody>
                  <a:tcPr marT="64008" marB="64008" anchor="ctr">
                    <a:solidFill>
                      <a:srgbClr val="FFFFFF"/>
                    </a:solidFill>
                  </a:tcPr>
                </a:tc>
                <a:tc>
                  <a:txBody>
                    <a:bodyPr/>
                    <a:lstStyle/>
                    <a:p>
                      <a:pPr>
                        <a:lnSpc>
                          <a:spcPct val="100000"/>
                        </a:lnSpc>
                        <a:spcAft>
                          <a:spcPts val="600"/>
                        </a:spcAft>
                        <a:defRPr sz="1800" b="0">
                          <a:solidFill>
                            <a:srgbClr val="172B3A"/>
                          </a:solidFill>
                          <a:latin typeface="Arial"/>
                        </a:defRPr>
                      </a:pPr>
                      <a:r>
                        <a:t>SPY, IWM</a:t>
                      </a:r>
                    </a:p>
                  </a:txBody>
                  <a:tcPr marT="64008" marB="64008" anchor="ctr">
                    <a:solidFill>
                      <a:srgbClr val="FFFFFF"/>
                    </a:solidFill>
                  </a:tcPr>
                </a:tc>
                <a:extLst>
                  <a:ext uri="{0D108BD9-81ED-4DB2-BD59-A6C34878D82A}">
                    <a16:rowId xmlns:a16="http://schemas.microsoft.com/office/drawing/2014/main" val="10002"/>
                  </a:ext>
                </a:extLst>
              </a:tr>
              <a:tr h="601980">
                <a:tc>
                  <a:txBody>
                    <a:bodyPr/>
                    <a:lstStyle/>
                    <a:p>
                      <a:pPr>
                        <a:lnSpc>
                          <a:spcPct val="100000"/>
                        </a:lnSpc>
                        <a:spcAft>
                          <a:spcPts val="600"/>
                        </a:spcAft>
                        <a:defRPr sz="1800" b="0">
                          <a:solidFill>
                            <a:srgbClr val="172B3A"/>
                          </a:solidFill>
                          <a:latin typeface="Arial"/>
                        </a:defRPr>
                      </a:pPr>
                      <a:r>
                        <a:t>Futures</a:t>
                      </a:r>
                    </a:p>
                  </a:txBody>
                  <a:tcPr marT="64008" marB="64008" anchor="ctr">
                    <a:solidFill>
                      <a:srgbClr val="F2F5F7"/>
                    </a:solidFill>
                  </a:tcPr>
                </a:tc>
                <a:tc>
                  <a:txBody>
                    <a:bodyPr/>
                    <a:lstStyle/>
                    <a:p>
                      <a:pPr>
                        <a:lnSpc>
                          <a:spcPct val="100000"/>
                        </a:lnSpc>
                        <a:spcAft>
                          <a:spcPts val="600"/>
                        </a:spcAft>
                        <a:defRPr sz="1800" b="0">
                          <a:solidFill>
                            <a:srgbClr val="172B3A"/>
                          </a:solidFill>
                          <a:latin typeface="Arial"/>
                        </a:defRPr>
                      </a:pPr>
                      <a:r>
                        <a:t>AVAILABLE; methodology review</a:t>
                      </a:r>
                    </a:p>
                  </a:txBody>
                  <a:tcPr marT="64008" marB="64008" anchor="ctr">
                    <a:solidFill>
                      <a:srgbClr val="F2F5F7"/>
                    </a:solidFill>
                  </a:tcPr>
                </a:tc>
                <a:tc>
                  <a:txBody>
                    <a:bodyPr/>
                    <a:lstStyle/>
                    <a:p>
                      <a:pPr>
                        <a:lnSpc>
                          <a:spcPct val="100000"/>
                        </a:lnSpc>
                        <a:spcAft>
                          <a:spcPts val="600"/>
                        </a:spcAft>
                        <a:defRPr sz="1800" b="0">
                          <a:solidFill>
                            <a:srgbClr val="172B3A"/>
                          </a:solidFill>
                          <a:latin typeface="Arial"/>
                        </a:defRPr>
                      </a:pPr>
                      <a:r>
                        <a:t>ES_Z24, CL_Z24: individual contracts</a:t>
                      </a:r>
                    </a:p>
                  </a:txBody>
                  <a:tcPr marT="64008" marB="64008" anchor="ctr">
                    <a:solidFill>
                      <a:srgbClr val="F2F5F7"/>
                    </a:solidFill>
                  </a:tcPr>
                </a:tc>
                <a:extLst>
                  <a:ext uri="{0D108BD9-81ED-4DB2-BD59-A6C34878D82A}">
                    <a16:rowId xmlns:a16="http://schemas.microsoft.com/office/drawing/2014/main" val="10003"/>
                  </a:ext>
                </a:extLst>
              </a:tr>
              <a:tr h="601980">
                <a:tc>
                  <a:txBody>
                    <a:bodyPr/>
                    <a:lstStyle/>
                    <a:p>
                      <a:pPr>
                        <a:lnSpc>
                          <a:spcPct val="100000"/>
                        </a:lnSpc>
                        <a:spcAft>
                          <a:spcPts val="600"/>
                        </a:spcAft>
                        <a:defRPr sz="1800" b="0">
                          <a:solidFill>
                            <a:srgbClr val="172B3A"/>
                          </a:solidFill>
                          <a:latin typeface="Arial"/>
                        </a:defRPr>
                      </a:pPr>
                      <a:r>
                        <a:t>Crypto</a:t>
                      </a:r>
                    </a:p>
                  </a:txBody>
                  <a:tcPr marT="64008" marB="64008" anchor="ctr">
                    <a:solidFill>
                      <a:srgbClr val="FFFFFF"/>
                    </a:solidFill>
                  </a:tcPr>
                </a:tc>
                <a:tc>
                  <a:txBody>
                    <a:bodyPr/>
                    <a:lstStyle/>
                    <a:p>
                      <a:pPr>
                        <a:lnSpc>
                          <a:spcPct val="100000"/>
                        </a:lnSpc>
                        <a:spcAft>
                          <a:spcPts val="600"/>
                        </a:spcAft>
                        <a:defRPr sz="1800" b="0">
                          <a:solidFill>
                            <a:srgbClr val="172B3A"/>
                          </a:solidFill>
                          <a:latin typeface="Arial"/>
                        </a:defRPr>
                      </a:pPr>
                      <a:r>
                        <a:t>AVAILABLE</a:t>
                      </a:r>
                    </a:p>
                  </a:txBody>
                  <a:tcPr marT="64008" marB="64008" anchor="ctr">
                    <a:solidFill>
                      <a:srgbClr val="FFFFFF"/>
                    </a:solidFill>
                  </a:tcPr>
                </a:tc>
                <a:tc>
                  <a:txBody>
                    <a:bodyPr/>
                    <a:lstStyle/>
                    <a:p>
                      <a:pPr>
                        <a:lnSpc>
                          <a:spcPct val="100000"/>
                        </a:lnSpc>
                        <a:spcAft>
                          <a:spcPts val="600"/>
                        </a:spcAft>
                        <a:defRPr sz="1800" b="0">
                          <a:solidFill>
                            <a:srgbClr val="172B3A"/>
                          </a:solidFill>
                          <a:latin typeface="Arial"/>
                        </a:defRPr>
                      </a:pPr>
                      <a:r>
                        <a:t>BTC, ETH</a:t>
                      </a:r>
                    </a:p>
                  </a:txBody>
                  <a:tcPr marT="64008" marB="64008" anchor="ctr">
                    <a:solidFill>
                      <a:srgbClr val="FFFFFF"/>
                    </a:solidFill>
                  </a:tcPr>
                </a:tc>
                <a:extLst>
                  <a:ext uri="{0D108BD9-81ED-4DB2-BD59-A6C34878D82A}">
                    <a16:rowId xmlns:a16="http://schemas.microsoft.com/office/drawing/2014/main" val="10004"/>
                  </a:ext>
                </a:extLst>
              </a:tr>
              <a:tr h="601980">
                <a:tc>
                  <a:txBody>
                    <a:bodyPr/>
                    <a:lstStyle/>
                    <a:p>
                      <a:pPr>
                        <a:lnSpc>
                          <a:spcPct val="100000"/>
                        </a:lnSpc>
                        <a:spcAft>
                          <a:spcPts val="600"/>
                        </a:spcAft>
                        <a:defRPr sz="1800" b="0">
                          <a:solidFill>
                            <a:srgbClr val="172B3A"/>
                          </a:solidFill>
                          <a:latin typeface="Arial"/>
                        </a:defRPr>
                      </a:pPr>
                      <a:r>
                        <a:t>FX</a:t>
                      </a:r>
                    </a:p>
                  </a:txBody>
                  <a:tcPr marT="64008" marB="64008" anchor="ctr">
                    <a:solidFill>
                      <a:srgbClr val="F2F5F7"/>
                    </a:solidFill>
                  </a:tcPr>
                </a:tc>
                <a:tc>
                  <a:txBody>
                    <a:bodyPr/>
                    <a:lstStyle/>
                    <a:p>
                      <a:pPr>
                        <a:lnSpc>
                          <a:spcPct val="100000"/>
                        </a:lnSpc>
                        <a:spcAft>
                          <a:spcPts val="600"/>
                        </a:spcAft>
                        <a:defRPr sz="1800" b="0">
                          <a:solidFill>
                            <a:srgbClr val="172B3A"/>
                          </a:solidFill>
                          <a:latin typeface="Arial"/>
                        </a:defRPr>
                      </a:pPr>
                      <a:r>
                        <a:t>METADATA REVIEW</a:t>
                      </a:r>
                    </a:p>
                  </a:txBody>
                  <a:tcPr marT="64008" marB="64008" anchor="ctr">
                    <a:solidFill>
                      <a:srgbClr val="F2F5F7"/>
                    </a:solidFill>
                  </a:tcPr>
                </a:tc>
                <a:tc>
                  <a:txBody>
                    <a:bodyPr/>
                    <a:lstStyle/>
                    <a:p>
                      <a:pPr>
                        <a:lnSpc>
                          <a:spcPct val="100000"/>
                        </a:lnSpc>
                        <a:spcAft>
                          <a:spcPts val="600"/>
                        </a:spcAft>
                        <a:defRPr sz="1800" b="0">
                          <a:solidFill>
                            <a:srgbClr val="172B3A"/>
                          </a:solidFill>
                          <a:latin typeface="Arial"/>
                        </a:defRPr>
                      </a:pPr>
                      <a:r>
                        <a:t>Expected by metadata; physically unavailable</a:t>
                      </a:r>
                    </a:p>
                  </a:txBody>
                  <a:tcPr marT="64008" marB="64008" anchor="ctr">
                    <a:solidFill>
                      <a:srgbClr val="F2F5F7"/>
                    </a:solidFill>
                  </a:tcPr>
                </a:tc>
                <a:extLst>
                  <a:ext uri="{0D108BD9-81ED-4DB2-BD59-A6C34878D82A}">
                    <a16:rowId xmlns:a16="http://schemas.microsoft.com/office/drawing/2014/main" val="10005"/>
                  </a:ext>
                </a:extLst>
              </a:tr>
            </a:tbl>
          </a:graphicData>
        </a:graphic>
      </p:graphicFrame>
      <p:sp>
        <p:nvSpPr>
          <p:cNvPr id="75" name="TextBox 74"/>
          <p:cNvSpPr txBox="1"/>
          <p:nvPr/>
        </p:nvSpPr>
        <p:spPr>
          <a:xfrm>
            <a:off x="640080" y="5760720"/>
            <a:ext cx="1371600" cy="457200"/>
          </a:xfrm>
          <a:prstGeom prst="rect">
            <a:avLst/>
          </a:prstGeom>
          <a:noFill/>
        </p:spPr>
        <p:txBody>
          <a:bodyPr wrap="square" lIns="18288" tIns="22860" rIns="18288" bIns="22860">
            <a:spAutoFit/>
          </a:bodyPr>
          <a:lstStyle/>
          <a:p>
            <a:pPr>
              <a:lnSpc>
                <a:spcPct val="100000"/>
              </a:lnSpc>
              <a:spcAft>
                <a:spcPts val="0"/>
              </a:spcAft>
              <a:defRPr sz="1200" b="1">
                <a:solidFill>
                  <a:srgbClr val="087E8B"/>
                </a:solidFill>
                <a:latin typeface="Arial"/>
              </a:defRPr>
            </a:pPr>
            <a:r>
              <a:t>LIMITATION</a:t>
            </a:r>
          </a:p>
        </p:txBody>
      </p:sp>
      <p:sp>
        <p:nvSpPr>
          <p:cNvPr id="76" name="TextBox 75"/>
          <p:cNvSpPr txBox="1"/>
          <p:nvPr/>
        </p:nvSpPr>
        <p:spPr>
          <a:xfrm>
            <a:off x="2011680" y="5687568"/>
            <a:ext cx="9464040" cy="621792"/>
          </a:xfrm>
          <a:prstGeom prst="rect">
            <a:avLst/>
          </a:prstGeom>
          <a:noFill/>
        </p:spPr>
        <p:txBody>
          <a:bodyPr wrap="square" lIns="18288" tIns="22860" rIns="18288" bIns="22860">
            <a:spAutoFit/>
          </a:bodyPr>
          <a:lstStyle/>
          <a:p>
            <a:pPr>
              <a:lnSpc>
                <a:spcPct val="100000"/>
              </a:lnSpc>
              <a:spcAft>
                <a:spcPts val="600"/>
              </a:spcAft>
              <a:defRPr sz="1900" b="0">
                <a:solidFill>
                  <a:srgbClr val="102A43"/>
                </a:solidFill>
                <a:latin typeface="Arial"/>
              </a:defRPr>
            </a:pPr>
            <a:r>
              <a:t>No FX substitute. Futures files do not form a continuous history.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BFCFD"/>
        </a:solidFill>
        <a:effectLst/>
      </p:bgPr>
    </p:bg>
    <p:spTree>
      <p:nvGrpSpPr>
        <p:cNvPr id="1" name="Shape 89"/>
        <p:cNvGrpSpPr/>
        <p:nvPr/>
      </p:nvGrpSpPr>
      <p:grpSpPr>
        <a:xfrm>
          <a:off x="0" y="0"/>
          <a:ext cx="0" cy="0"/>
          <a:chOff x="0" y="0"/>
          <a:chExt cx="0" cy="0"/>
        </a:xfrm>
      </p:grpSpPr>
      <p:sp>
        <p:nvSpPr>
          <p:cNvPr id="90" name="Google Shape;90;p7"/>
          <p:cNvSpPr/>
          <p:nvPr/>
        </p:nvSpPr>
        <p:spPr>
          <a:xfrm>
            <a:off x="0" y="0"/>
            <a:ext cx="114300" cy="6858000"/>
          </a:xfrm>
          <a:prstGeom prst="rect">
            <a:avLst/>
          </a:prstGeom>
          <a:solidFill>
            <a:srgbClr val="087E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7"/>
          <p:cNvSpPr/>
          <p:nvPr/>
        </p:nvSpPr>
        <p:spPr>
          <a:xfrm>
            <a:off x="609600" y="285750"/>
            <a:ext cx="4381500" cy="209550"/>
          </a:xfrm>
          <a:prstGeom prst="rect">
            <a:avLst/>
          </a:prstGeom>
          <a:noFill/>
          <a:ln>
            <a:noFill/>
          </a:ln>
        </p:spPr>
        <p:txBody>
          <a:bodyPr spcFirstLastPara="1" wrap="square" lIns="18288" tIns="22860" rIns="18288" bIns="22860" anchor="t" anchorCtr="0">
            <a:noAutofit/>
          </a:bodyPr>
          <a:lstStyle/>
          <a:p>
            <a:pPr marL="0" marR="0" lvl="0" indent="0" algn="l" rtl="0">
              <a:lnSpc>
                <a:spcPct val="100000"/>
              </a:lnSpc>
              <a:spcBef>
                <a:spcPts val="0"/>
              </a:spcBef>
              <a:spcAft>
                <a:spcPts val="0"/>
              </a:spcAft>
              <a:buNone/>
              <a:defRPr sz="1125" b="1">
                <a:solidFill>
                  <a:srgbClr val="087E8B"/>
                </a:solidFill>
                <a:latin typeface="Arial"/>
              </a:defRPr>
            </a:pPr>
            <a:r>
              <a:t>BLOOMBERG ACQUISITION</a:t>
            </a:r>
          </a:p>
        </p:txBody>
      </p:sp>
      <p:sp>
        <p:nvSpPr>
          <p:cNvPr id="92" name="Google Shape;92;p7"/>
          <p:cNvSpPr/>
          <p:nvPr/>
        </p:nvSpPr>
        <p:spPr>
          <a:xfrm>
            <a:off x="609600" y="514350"/>
            <a:ext cx="10934700" cy="590550"/>
          </a:xfrm>
          <a:prstGeom prst="rect">
            <a:avLst/>
          </a:prstGeom>
          <a:noFill/>
          <a:ln>
            <a:noFill/>
          </a:ln>
        </p:spPr>
        <p:txBody>
          <a:bodyPr spcFirstLastPara="1" wrap="square" lIns="18288" tIns="22860" rIns="18288" bIns="22860" anchor="t" anchorCtr="0">
            <a:noAutofit/>
          </a:bodyPr>
          <a:lstStyle/>
          <a:p>
            <a:pPr marL="0" marR="0" lvl="0" indent="0" algn="l" rtl="0">
              <a:lnSpc>
                <a:spcPct val="100000"/>
              </a:lnSpc>
              <a:spcBef>
                <a:spcPts val="0"/>
              </a:spcBef>
              <a:spcAft>
                <a:spcPts val="600"/>
              </a:spcAft>
              <a:buNone/>
              <a:defRPr sz="2800" b="1">
                <a:solidFill>
                  <a:srgbClr val="102A43"/>
                </a:solidFill>
                <a:latin typeface="Arial"/>
              </a:defRPr>
            </a:pPr>
            <a:r>
              <a:t>AAPL + SPY daily/reference pilot is preserved</a:t>
            </a:r>
          </a:p>
        </p:txBody>
      </p:sp>
      <p:sp>
        <p:nvSpPr>
          <p:cNvPr id="93" name="Google Shape;93;p7"/>
          <p:cNvSpPr/>
          <p:nvPr/>
        </p:nvSpPr>
        <p:spPr>
          <a:xfrm>
            <a:off x="628650" y="1123950"/>
            <a:ext cx="10668000" cy="323850"/>
          </a:xfrm>
          <a:prstGeom prst="rect">
            <a:avLst/>
          </a:prstGeom>
          <a:noFill/>
          <a:ln>
            <a:noFill/>
          </a:ln>
        </p:spPr>
        <p:txBody>
          <a:bodyPr spcFirstLastPara="1" wrap="square" lIns="18288" tIns="22860" rIns="18288" bIns="22860" anchor="t" anchorCtr="0">
            <a:noAutofit/>
          </a:bodyPr>
          <a:lstStyle/>
          <a:p>
            <a:pPr marL="0" marR="0" lvl="0" indent="0" algn="l" rtl="0">
              <a:lnSpc>
                <a:spcPct val="100000"/>
              </a:lnSpc>
              <a:spcBef>
                <a:spcPts val="0"/>
              </a:spcBef>
              <a:spcAft>
                <a:spcPts val="600"/>
              </a:spcAft>
              <a:buNone/>
              <a:defRPr sz="1500" b="0">
                <a:solidFill>
                  <a:srgbClr val="5F6F7A"/>
                </a:solidFill>
                <a:latin typeface="Arial"/>
              </a:defRPr>
            </a:pPr>
            <a:r>
              <a:t>PILOT | 2024-11-04 to 2024-11-15; BDP / BDH</a:t>
            </a:r>
          </a:p>
        </p:txBody>
      </p:sp>
      <p:sp>
        <p:nvSpPr>
          <p:cNvPr id="94" name="Google Shape;94;p7"/>
          <p:cNvSpPr/>
          <p:nvPr/>
        </p:nvSpPr>
        <p:spPr>
          <a:xfrm>
            <a:off x="590550" y="6496050"/>
            <a:ext cx="11010900" cy="9525"/>
          </a:xfrm>
          <a:prstGeom prst="rect">
            <a:avLst/>
          </a:prstGeom>
          <a:solidFill>
            <a:srgbClr val="CFD8D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7"/>
          <p:cNvSpPr/>
          <p:nvPr/>
        </p:nvSpPr>
        <p:spPr>
          <a:xfrm>
            <a:off x="609600" y="6572250"/>
            <a:ext cx="4191000" cy="17145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050" b="0">
                <a:solidFill>
                  <a:srgbClr val="5F6F7A"/>
                </a:solidFill>
                <a:latin typeface="Arial"/>
                <a:ea typeface="Arial"/>
                <a:cs typeface="Arial"/>
                <a:sym typeface="Arial"/>
              </a:rPr>
              <a:t>MMF 1941   Project progress update</a:t>
            </a:r>
            <a:endParaRPr/>
          </a:p>
        </p:txBody>
      </p:sp>
      <p:sp>
        <p:nvSpPr>
          <p:cNvPr id="96" name="Google Shape;96;p7"/>
          <p:cNvSpPr/>
          <p:nvPr/>
        </p:nvSpPr>
        <p:spPr>
          <a:xfrm>
            <a:off x="11049000" y="6543675"/>
            <a:ext cx="533400" cy="190500"/>
          </a:xfrm>
          <a:prstGeom prst="rect">
            <a:avLst/>
          </a:prstGeom>
          <a:noFill/>
          <a:ln>
            <a:noFill/>
          </a:ln>
        </p:spPr>
        <p:txBody>
          <a:bodyPr spcFirstLastPara="1" wrap="square" lIns="18288" tIns="22860" rIns="18288" bIns="22860" anchor="t" anchorCtr="0">
            <a:noAutofit/>
          </a:bodyPr>
          <a:lstStyle/>
          <a:p>
            <a:pPr marL="0" marR="0" lvl="0" indent="0" algn="r" rtl="0">
              <a:lnSpc>
                <a:spcPct val="100000"/>
              </a:lnSpc>
              <a:spcBef>
                <a:spcPts val="0"/>
              </a:spcBef>
              <a:spcAft>
                <a:spcPts val="0"/>
              </a:spcAft>
              <a:buNone/>
              <a:defRPr sz="1125" b="0">
                <a:solidFill>
                  <a:srgbClr val="102A43"/>
                </a:solidFill>
                <a:latin typeface="Arial"/>
              </a:defRPr>
            </a:pPr>
            <a:r>
              <a:t>05</a:t>
            </a:r>
          </a:p>
        </p:txBody>
      </p:sp>
      <p:sp>
        <p:nvSpPr>
          <p:cNvPr id="97" name="Rectangle 96"/>
          <p:cNvSpPr/>
          <p:nvPr/>
        </p:nvSpPr>
        <p:spPr>
          <a:xfrm>
            <a:off x="640080" y="1737360"/>
            <a:ext cx="5303520" cy="3611880"/>
          </a:xfrm>
          <a:prstGeom prst="rect">
            <a:avLst/>
          </a:prstGeom>
          <a:solidFill>
            <a:srgbClr val="F2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 name="TextBox 97"/>
          <p:cNvSpPr txBox="1"/>
          <p:nvPr/>
        </p:nvSpPr>
        <p:spPr>
          <a:xfrm>
            <a:off x="804671" y="1856231"/>
            <a:ext cx="4974336" cy="365760"/>
          </a:xfrm>
          <a:prstGeom prst="rect">
            <a:avLst/>
          </a:prstGeom>
          <a:noFill/>
        </p:spPr>
        <p:txBody>
          <a:bodyPr wrap="square" lIns="18288" tIns="22860" rIns="18288" bIns="22860">
            <a:spAutoFit/>
          </a:bodyPr>
          <a:lstStyle/>
          <a:p>
            <a:pPr>
              <a:lnSpc>
                <a:spcPct val="100000"/>
              </a:lnSpc>
              <a:spcAft>
                <a:spcPts val="600"/>
              </a:spcAft>
              <a:defRPr sz="1500" b="1">
                <a:solidFill>
                  <a:srgbClr val="087E8B"/>
                </a:solidFill>
                <a:latin typeface="Arial"/>
              </a:defRPr>
            </a:pPr>
            <a:r>
              <a:t>ACQUISITION SCOPE</a:t>
            </a:r>
          </a:p>
        </p:txBody>
      </p:sp>
      <p:sp>
        <p:nvSpPr>
          <p:cNvPr id="99" name="TextBox 98"/>
          <p:cNvSpPr txBox="1"/>
          <p:nvPr/>
        </p:nvSpPr>
        <p:spPr>
          <a:xfrm>
            <a:off x="804671" y="2377439"/>
            <a:ext cx="4974336" cy="2834640"/>
          </a:xfrm>
          <a:prstGeom prst="rect">
            <a:avLst/>
          </a:prstGeom>
          <a:noFill/>
        </p:spPr>
        <p:txBody>
          <a:bodyPr wrap="square" lIns="18288" tIns="22860" rIns="18288" bIns="22860">
            <a:spAutoFit/>
          </a:bodyPr>
          <a:lstStyle/>
          <a:p>
            <a:pPr>
              <a:lnSpc>
                <a:spcPct val="100000"/>
              </a:lnSpc>
              <a:spcAft>
                <a:spcPts val="600"/>
              </a:spcAft>
              <a:defRPr sz="1900" b="0">
                <a:solidFill>
                  <a:srgbClr val="172B3A"/>
                </a:solidFill>
                <a:latin typeface="Arial"/>
              </a:defRPr>
            </a:pPr>
            <a:r>
              <a:rPr dirty="0"/>
              <a:t>BDP: names, FIGI, ISIN, CUSIP,</a:t>
            </a:r>
          </a:p>
          <a:p>
            <a:pPr>
              <a:lnSpc>
                <a:spcPct val="100000"/>
              </a:lnSpc>
              <a:spcAft>
                <a:spcPts val="600"/>
              </a:spcAft>
              <a:defRPr sz="1900" b="0">
                <a:solidFill>
                  <a:srgbClr val="172B3A"/>
                </a:solidFill>
                <a:latin typeface="Arial"/>
              </a:defRPr>
            </a:pPr>
            <a:r>
              <a:rPr dirty="0"/>
              <a:t>ticker/exchange and currency</a:t>
            </a:r>
          </a:p>
          <a:p>
            <a:pPr>
              <a:lnSpc>
                <a:spcPct val="100000"/>
              </a:lnSpc>
              <a:spcAft>
                <a:spcPts val="600"/>
              </a:spcAft>
              <a:defRPr sz="1900" b="0">
                <a:solidFill>
                  <a:srgbClr val="172B3A"/>
                </a:solidFill>
                <a:latin typeface="Arial"/>
              </a:defRPr>
            </a:pPr>
            <a:r>
              <a:rPr dirty="0"/>
              <a:t>BDH daily: PX_OPEN, PX_HIGH, PX_LOW,</a:t>
            </a:r>
          </a:p>
          <a:p>
            <a:pPr>
              <a:lnSpc>
                <a:spcPct val="100000"/>
              </a:lnSpc>
              <a:spcAft>
                <a:spcPts val="600"/>
              </a:spcAft>
              <a:defRPr sz="1900" b="0">
                <a:solidFill>
                  <a:srgbClr val="172B3A"/>
                </a:solidFill>
                <a:latin typeface="Arial"/>
              </a:defRPr>
            </a:pPr>
            <a:r>
              <a:rPr dirty="0"/>
              <a:t>PX_LAST, PX_VOLUME, PX_BID, PX_ASK</a:t>
            </a:r>
          </a:p>
        </p:txBody>
      </p:sp>
      <p:sp>
        <p:nvSpPr>
          <p:cNvPr id="100" name="Rectangle 99"/>
          <p:cNvSpPr/>
          <p:nvPr/>
        </p:nvSpPr>
        <p:spPr>
          <a:xfrm>
            <a:off x="6172200" y="1737360"/>
            <a:ext cx="5349240" cy="3611880"/>
          </a:xfrm>
          <a:prstGeom prst="rect">
            <a:avLst/>
          </a:prstGeom>
          <a:solidFill>
            <a:srgbClr val="F2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 name="TextBox 100"/>
          <p:cNvSpPr txBox="1"/>
          <p:nvPr/>
        </p:nvSpPr>
        <p:spPr>
          <a:xfrm>
            <a:off x="6336792" y="1856231"/>
            <a:ext cx="5020055" cy="365760"/>
          </a:xfrm>
          <a:prstGeom prst="rect">
            <a:avLst/>
          </a:prstGeom>
          <a:noFill/>
        </p:spPr>
        <p:txBody>
          <a:bodyPr wrap="square" lIns="18288" tIns="22860" rIns="18288" bIns="22860">
            <a:spAutoFit/>
          </a:bodyPr>
          <a:lstStyle/>
          <a:p>
            <a:pPr>
              <a:lnSpc>
                <a:spcPct val="100000"/>
              </a:lnSpc>
              <a:spcAft>
                <a:spcPts val="600"/>
              </a:spcAft>
              <a:defRPr sz="1500" b="1">
                <a:solidFill>
                  <a:srgbClr val="246BCE"/>
                </a:solidFill>
                <a:latin typeface="Arial"/>
              </a:defRPr>
            </a:pPr>
            <a:r>
              <a:t>EVIDENCE / NEXT PULL</a:t>
            </a:r>
          </a:p>
        </p:txBody>
      </p:sp>
      <p:sp>
        <p:nvSpPr>
          <p:cNvPr id="102" name="TextBox 101"/>
          <p:cNvSpPr txBox="1"/>
          <p:nvPr/>
        </p:nvSpPr>
        <p:spPr>
          <a:xfrm>
            <a:off x="6336792" y="2377439"/>
            <a:ext cx="5020055" cy="2834640"/>
          </a:xfrm>
          <a:prstGeom prst="rect">
            <a:avLst/>
          </a:prstGeom>
          <a:noFill/>
        </p:spPr>
        <p:txBody>
          <a:bodyPr wrap="square" lIns="18288" tIns="22860" rIns="18288" bIns="22860">
            <a:spAutoFit/>
          </a:bodyPr>
          <a:lstStyle/>
          <a:p>
            <a:pPr>
              <a:lnSpc>
                <a:spcPct val="100000"/>
              </a:lnSpc>
              <a:spcAft>
                <a:spcPts val="600"/>
              </a:spcAft>
              <a:defRPr sz="1900" b="0">
                <a:solidFill>
                  <a:srgbClr val="172B3A"/>
                </a:solidFill>
                <a:latin typeface="Arial"/>
              </a:defRPr>
            </a:pPr>
            <a:r>
              <a:rPr dirty="0"/>
              <a:t>Raw workbook + values-only snapshot</a:t>
            </a:r>
          </a:p>
          <a:p>
            <a:pPr>
              <a:lnSpc>
                <a:spcPct val="100000"/>
              </a:lnSpc>
              <a:spcAft>
                <a:spcPts val="600"/>
              </a:spcAft>
              <a:defRPr sz="1900" b="0">
                <a:solidFill>
                  <a:srgbClr val="172B3A"/>
                </a:solidFill>
                <a:latin typeface="Arial"/>
              </a:defRPr>
            </a:pPr>
            <a:r>
              <a:rPr dirty="0"/>
              <a:t>26 source-log entries; SHA-256 verified</a:t>
            </a:r>
          </a:p>
          <a:p>
            <a:pPr>
              <a:lnSpc>
                <a:spcPct val="100000"/>
              </a:lnSpc>
              <a:spcAft>
                <a:spcPts val="600"/>
              </a:spcAft>
              <a:defRPr sz="1900" b="0">
                <a:solidFill>
                  <a:srgbClr val="172B3A"/>
                </a:solidFill>
                <a:latin typeface="Arial"/>
              </a:defRPr>
            </a:pPr>
            <a:r>
              <a:rPr dirty="0"/>
              <a:t>Retrieval dates: 2026-09-24 / 2026-09-25</a:t>
            </a:r>
          </a:p>
          <a:p>
            <a:pPr>
              <a:lnSpc>
                <a:spcPct val="100000"/>
              </a:lnSpc>
              <a:spcAft>
                <a:spcPts val="600"/>
              </a:spcAft>
              <a:defRPr sz="1900" b="0">
                <a:solidFill>
                  <a:srgbClr val="172B3A"/>
                </a:solidFill>
                <a:latin typeface="Arial"/>
              </a:defRPr>
            </a:pPr>
            <a:r>
              <a:rPr dirty="0"/>
              <a:t>Full 2015-2025 pull deferred until</a:t>
            </a:r>
          </a:p>
          <a:p>
            <a:pPr>
              <a:lnSpc>
                <a:spcPct val="100000"/>
              </a:lnSpc>
              <a:spcAft>
                <a:spcPts val="600"/>
              </a:spcAft>
              <a:defRPr sz="1900" b="0">
                <a:solidFill>
                  <a:srgbClr val="172B3A"/>
                </a:solidFill>
                <a:latin typeface="Arial"/>
              </a:defRPr>
            </a:pPr>
            <a:r>
              <a:rPr dirty="0"/>
              <a:t>final equity/ETF universe is frozen</a:t>
            </a:r>
          </a:p>
        </p:txBody>
      </p:sp>
      <p:sp>
        <p:nvSpPr>
          <p:cNvPr id="103" name="TextBox 102"/>
          <p:cNvSpPr txBox="1"/>
          <p:nvPr/>
        </p:nvSpPr>
        <p:spPr>
          <a:xfrm>
            <a:off x="640080" y="5760720"/>
            <a:ext cx="1371600" cy="457200"/>
          </a:xfrm>
          <a:prstGeom prst="rect">
            <a:avLst/>
          </a:prstGeom>
          <a:noFill/>
        </p:spPr>
        <p:txBody>
          <a:bodyPr wrap="square" lIns="18288" tIns="22860" rIns="18288" bIns="22860">
            <a:spAutoFit/>
          </a:bodyPr>
          <a:lstStyle/>
          <a:p>
            <a:pPr>
              <a:lnSpc>
                <a:spcPct val="100000"/>
              </a:lnSpc>
              <a:spcAft>
                <a:spcPts val="0"/>
              </a:spcAft>
              <a:defRPr sz="1200" b="1">
                <a:solidFill>
                  <a:srgbClr val="087E8B"/>
                </a:solidFill>
                <a:latin typeface="Arial"/>
              </a:defRPr>
            </a:pPr>
            <a:r>
              <a:t>BOUNDARY</a:t>
            </a:r>
          </a:p>
        </p:txBody>
      </p:sp>
      <p:sp>
        <p:nvSpPr>
          <p:cNvPr id="104" name="TextBox 103"/>
          <p:cNvSpPr txBox="1"/>
          <p:nvPr/>
        </p:nvSpPr>
        <p:spPr>
          <a:xfrm>
            <a:off x="2011680" y="5687568"/>
            <a:ext cx="9464040" cy="621792"/>
          </a:xfrm>
          <a:prstGeom prst="rect">
            <a:avLst/>
          </a:prstGeom>
          <a:noFill/>
        </p:spPr>
        <p:txBody>
          <a:bodyPr wrap="square" lIns="18288" tIns="22860" rIns="18288" bIns="22860">
            <a:spAutoFit/>
          </a:bodyPr>
          <a:lstStyle/>
          <a:p>
            <a:pPr>
              <a:lnSpc>
                <a:spcPct val="100000"/>
              </a:lnSpc>
              <a:spcAft>
                <a:spcPts val="600"/>
              </a:spcAft>
              <a:defRPr sz="1900" b="0">
                <a:solidFill>
                  <a:srgbClr val="102A43"/>
                </a:solidFill>
                <a:latin typeface="Arial"/>
              </a:defRPr>
            </a:pPr>
            <a:r>
              <a:t>Daily bid/ask fields do not establish the intraday benchmark.</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BFCFD"/>
        </a:solidFill>
        <a:effectLst/>
      </p:bgPr>
    </p:bg>
    <p:spTree>
      <p:nvGrpSpPr>
        <p:cNvPr id="1" name="Shape 108"/>
        <p:cNvGrpSpPr/>
        <p:nvPr/>
      </p:nvGrpSpPr>
      <p:grpSpPr>
        <a:xfrm>
          <a:off x="0" y="0"/>
          <a:ext cx="0" cy="0"/>
          <a:chOff x="0" y="0"/>
          <a:chExt cx="0" cy="0"/>
        </a:xfrm>
      </p:grpSpPr>
      <p:sp>
        <p:nvSpPr>
          <p:cNvPr id="109" name="Google Shape;109;p8"/>
          <p:cNvSpPr/>
          <p:nvPr/>
        </p:nvSpPr>
        <p:spPr>
          <a:xfrm>
            <a:off x="0" y="0"/>
            <a:ext cx="114300" cy="6858000"/>
          </a:xfrm>
          <a:prstGeom prst="rect">
            <a:avLst/>
          </a:prstGeom>
          <a:solidFill>
            <a:srgbClr val="087E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8"/>
          <p:cNvSpPr/>
          <p:nvPr/>
        </p:nvSpPr>
        <p:spPr>
          <a:xfrm>
            <a:off x="609600" y="285750"/>
            <a:ext cx="4381500" cy="209550"/>
          </a:xfrm>
          <a:prstGeom prst="rect">
            <a:avLst/>
          </a:prstGeom>
          <a:noFill/>
          <a:ln>
            <a:noFill/>
          </a:ln>
        </p:spPr>
        <p:txBody>
          <a:bodyPr spcFirstLastPara="1" wrap="square" lIns="18288" tIns="22860" rIns="18288" bIns="22860" anchor="t" anchorCtr="0">
            <a:noAutofit/>
          </a:bodyPr>
          <a:lstStyle/>
          <a:p>
            <a:pPr marL="0" marR="0" lvl="0" indent="0" algn="l" rtl="0">
              <a:lnSpc>
                <a:spcPct val="100000"/>
              </a:lnSpc>
              <a:spcBef>
                <a:spcPts val="0"/>
              </a:spcBef>
              <a:spcAft>
                <a:spcPts val="0"/>
              </a:spcAft>
              <a:buNone/>
              <a:defRPr sz="1125" b="1">
                <a:solidFill>
                  <a:srgbClr val="087E8B"/>
                </a:solidFill>
                <a:latin typeface="Arial"/>
              </a:defRPr>
            </a:pPr>
            <a:r>
              <a:t>INTRADAY PILOT VALIDATION</a:t>
            </a:r>
          </a:p>
        </p:txBody>
      </p:sp>
      <p:sp>
        <p:nvSpPr>
          <p:cNvPr id="111" name="Google Shape;111;p8"/>
          <p:cNvSpPr/>
          <p:nvPr/>
        </p:nvSpPr>
        <p:spPr>
          <a:xfrm>
            <a:off x="609600" y="514350"/>
            <a:ext cx="10934700" cy="590550"/>
          </a:xfrm>
          <a:prstGeom prst="rect">
            <a:avLst/>
          </a:prstGeom>
          <a:noFill/>
          <a:ln>
            <a:noFill/>
          </a:ln>
        </p:spPr>
        <p:txBody>
          <a:bodyPr spcFirstLastPara="1" wrap="square" lIns="18288" tIns="22860" rIns="18288" bIns="22860" anchor="t" anchorCtr="0">
            <a:noAutofit/>
          </a:bodyPr>
          <a:lstStyle/>
          <a:p>
            <a:pPr marL="0" marR="0" lvl="0" indent="0" algn="l" rtl="0">
              <a:lnSpc>
                <a:spcPct val="100000"/>
              </a:lnSpc>
              <a:spcBef>
                <a:spcPts val="0"/>
              </a:spcBef>
              <a:spcAft>
                <a:spcPts val="600"/>
              </a:spcAft>
              <a:buNone/>
              <a:defRPr sz="2800" b="1">
                <a:solidFill>
                  <a:srgbClr val="102A43"/>
                </a:solidFill>
                <a:latin typeface="Arial"/>
              </a:defRPr>
            </a:pPr>
            <a:r>
              <a:t>The local pilot is parsed, checked and traceable</a:t>
            </a:r>
          </a:p>
        </p:txBody>
      </p:sp>
      <p:sp>
        <p:nvSpPr>
          <p:cNvPr id="112" name="Google Shape;112;p8"/>
          <p:cNvSpPr/>
          <p:nvPr/>
        </p:nvSpPr>
        <p:spPr>
          <a:xfrm>
            <a:off x="628650" y="1123950"/>
            <a:ext cx="10668000" cy="323850"/>
          </a:xfrm>
          <a:prstGeom prst="rect">
            <a:avLst/>
          </a:prstGeom>
          <a:noFill/>
          <a:ln>
            <a:noFill/>
          </a:ln>
        </p:spPr>
        <p:txBody>
          <a:bodyPr spcFirstLastPara="1" wrap="square" lIns="18288" tIns="22860" rIns="18288" bIns="22860" anchor="t" anchorCtr="0">
            <a:noAutofit/>
          </a:bodyPr>
          <a:lstStyle/>
          <a:p>
            <a:pPr marL="0" marR="0" lvl="0" indent="0" algn="l" rtl="0">
              <a:lnSpc>
                <a:spcPct val="100000"/>
              </a:lnSpc>
              <a:spcBef>
                <a:spcPts val="0"/>
              </a:spcBef>
              <a:spcAft>
                <a:spcPts val="600"/>
              </a:spcAft>
              <a:buNone/>
              <a:defRPr sz="1500" b="0">
                <a:solidFill>
                  <a:srgbClr val="5F6F7A"/>
                </a:solidFill>
                <a:latin typeface="Arial"/>
              </a:defRPr>
            </a:pPr>
            <a:r>
              <a:t>FACTS | AAPL, GME, SPY, IWM, ES_Z24, CL_Z24, BTC, ETH</a:t>
            </a:r>
          </a:p>
        </p:txBody>
      </p:sp>
      <p:sp>
        <p:nvSpPr>
          <p:cNvPr id="113" name="Google Shape;113;p8"/>
          <p:cNvSpPr/>
          <p:nvPr/>
        </p:nvSpPr>
        <p:spPr>
          <a:xfrm>
            <a:off x="590550" y="6496050"/>
            <a:ext cx="11010900" cy="9525"/>
          </a:xfrm>
          <a:prstGeom prst="rect">
            <a:avLst/>
          </a:prstGeom>
          <a:solidFill>
            <a:srgbClr val="CFD8D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8"/>
          <p:cNvSpPr/>
          <p:nvPr/>
        </p:nvSpPr>
        <p:spPr>
          <a:xfrm>
            <a:off x="609600" y="6572250"/>
            <a:ext cx="4191000" cy="17145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050" b="0">
                <a:solidFill>
                  <a:srgbClr val="5F6F7A"/>
                </a:solidFill>
                <a:latin typeface="Arial"/>
                <a:ea typeface="Arial"/>
                <a:cs typeface="Arial"/>
                <a:sym typeface="Arial"/>
              </a:rPr>
              <a:t>MMF 1941   Project progress update</a:t>
            </a:r>
            <a:endParaRPr/>
          </a:p>
        </p:txBody>
      </p:sp>
      <p:sp>
        <p:nvSpPr>
          <p:cNvPr id="115" name="Google Shape;115;p8"/>
          <p:cNvSpPr/>
          <p:nvPr/>
        </p:nvSpPr>
        <p:spPr>
          <a:xfrm>
            <a:off x="11049000" y="6543675"/>
            <a:ext cx="533400" cy="190500"/>
          </a:xfrm>
          <a:prstGeom prst="rect">
            <a:avLst/>
          </a:prstGeom>
          <a:noFill/>
          <a:ln>
            <a:noFill/>
          </a:ln>
        </p:spPr>
        <p:txBody>
          <a:bodyPr spcFirstLastPara="1" wrap="square" lIns="18288" tIns="22860" rIns="18288" bIns="22860" anchor="t" anchorCtr="0">
            <a:noAutofit/>
          </a:bodyPr>
          <a:lstStyle/>
          <a:p>
            <a:pPr marL="0" marR="0" lvl="0" indent="0" algn="r" rtl="0">
              <a:lnSpc>
                <a:spcPct val="100000"/>
              </a:lnSpc>
              <a:spcBef>
                <a:spcPts val="0"/>
              </a:spcBef>
              <a:spcAft>
                <a:spcPts val="0"/>
              </a:spcAft>
              <a:buNone/>
              <a:defRPr sz="1125" b="0">
                <a:solidFill>
                  <a:srgbClr val="102A43"/>
                </a:solidFill>
                <a:latin typeface="Arial"/>
              </a:defRPr>
            </a:pPr>
            <a:r>
              <a:t>06</a:t>
            </a:r>
          </a:p>
        </p:txBody>
      </p:sp>
      <p:graphicFrame>
        <p:nvGraphicFramePr>
          <p:cNvPr id="116" name="Table 115"/>
          <p:cNvGraphicFramePr>
            <a:graphicFrameLocks noGrp="1"/>
          </p:cNvGraphicFramePr>
          <p:nvPr/>
        </p:nvGraphicFramePr>
        <p:xfrm>
          <a:off x="640080" y="1737360"/>
          <a:ext cx="10881360" cy="3657600"/>
        </p:xfrm>
        <a:graphic>
          <a:graphicData uri="http://schemas.openxmlformats.org/drawingml/2006/table">
            <a:tbl>
              <a:tblPr firstRow="1" bandRow="1">
                <a:tableStyleId>{5C22544A-7EE6-4342-B048-85BDC9FD1C3A}</a:tableStyleId>
              </a:tblPr>
              <a:tblGrid>
                <a:gridCol w="5486400">
                  <a:extLst>
                    <a:ext uri="{9D8B030D-6E8A-4147-A177-3AD203B41FA5}">
                      <a16:colId xmlns:a16="http://schemas.microsoft.com/office/drawing/2014/main" val="20000"/>
                    </a:ext>
                  </a:extLst>
                </a:gridCol>
                <a:gridCol w="5394960">
                  <a:extLst>
                    <a:ext uri="{9D8B030D-6E8A-4147-A177-3AD203B41FA5}">
                      <a16:colId xmlns:a16="http://schemas.microsoft.com/office/drawing/2014/main" val="20001"/>
                    </a:ext>
                  </a:extLst>
                </a:gridCol>
              </a:tblGrid>
              <a:tr h="522514">
                <a:tc>
                  <a:txBody>
                    <a:bodyPr/>
                    <a:lstStyle/>
                    <a:p>
                      <a:pPr>
                        <a:lnSpc>
                          <a:spcPct val="100000"/>
                        </a:lnSpc>
                        <a:spcAft>
                          <a:spcPts val="600"/>
                        </a:spcAft>
                        <a:defRPr sz="1800" b="1">
                          <a:solidFill>
                            <a:srgbClr val="FFFFFF"/>
                          </a:solidFill>
                          <a:latin typeface="Arial"/>
                        </a:defRPr>
                      </a:pPr>
                      <a:r>
                        <a:t>Validation item</a:t>
                      </a:r>
                    </a:p>
                  </a:txBody>
                  <a:tcPr marT="64008" marB="64008" anchor="ctr">
                    <a:solidFill>
                      <a:srgbClr val="102A43"/>
                    </a:solidFill>
                  </a:tcPr>
                </a:tc>
                <a:tc>
                  <a:txBody>
                    <a:bodyPr/>
                    <a:lstStyle/>
                    <a:p>
                      <a:pPr>
                        <a:lnSpc>
                          <a:spcPct val="100000"/>
                        </a:lnSpc>
                        <a:spcAft>
                          <a:spcPts val="600"/>
                        </a:spcAft>
                        <a:defRPr sz="1800" b="1">
                          <a:solidFill>
                            <a:srgbClr val="FFFFFF"/>
                          </a:solidFill>
                          <a:latin typeface="Arial"/>
                        </a:defRPr>
                      </a:pPr>
                      <a:r>
                        <a:t>Accepted diagnostic</a:t>
                      </a:r>
                    </a:p>
                  </a:txBody>
                  <a:tcPr marT="64008" marB="64008" anchor="ctr">
                    <a:solidFill>
                      <a:srgbClr val="102A43"/>
                    </a:solidFill>
                  </a:tcPr>
                </a:tc>
                <a:extLst>
                  <a:ext uri="{0D108BD9-81ED-4DB2-BD59-A6C34878D82A}">
                    <a16:rowId xmlns:a16="http://schemas.microsoft.com/office/drawing/2014/main" val="10000"/>
                  </a:ext>
                </a:extLst>
              </a:tr>
              <a:tr h="522514">
                <a:tc>
                  <a:txBody>
                    <a:bodyPr/>
                    <a:lstStyle/>
                    <a:p>
                      <a:pPr>
                        <a:lnSpc>
                          <a:spcPct val="100000"/>
                        </a:lnSpc>
                        <a:spcAft>
                          <a:spcPts val="600"/>
                        </a:spcAft>
                        <a:defRPr sz="1800" b="0">
                          <a:solidFill>
                            <a:srgbClr val="172B3A"/>
                          </a:solidFill>
                          <a:latin typeface="Arial"/>
                        </a:defRPr>
                      </a:pPr>
                      <a:r>
                        <a:t>Raw schema</a:t>
                      </a:r>
                    </a:p>
                  </a:txBody>
                  <a:tcPr marT="64008" marB="64008" anchor="ctr">
                    <a:solidFill>
                      <a:srgbClr val="F2F5F7"/>
                    </a:solidFill>
                  </a:tcPr>
                </a:tc>
                <a:tc>
                  <a:txBody>
                    <a:bodyPr/>
                    <a:lstStyle/>
                    <a:p>
                      <a:pPr>
                        <a:lnSpc>
                          <a:spcPct val="100000"/>
                        </a:lnSpc>
                        <a:spcAft>
                          <a:spcPts val="600"/>
                        </a:spcAft>
                        <a:defRPr sz="1800" b="0">
                          <a:solidFill>
                            <a:srgbClr val="172B3A"/>
                          </a:solidFill>
                          <a:latin typeface="Arial"/>
                        </a:defRPr>
                      </a:pPr>
                      <a:r>
                        <a:t>Six columns; headerless timestamp + OHLCV</a:t>
                      </a:r>
                    </a:p>
                  </a:txBody>
                  <a:tcPr marT="64008" marB="64008" anchor="ctr">
                    <a:solidFill>
                      <a:srgbClr val="F2F5F7"/>
                    </a:solidFill>
                  </a:tcPr>
                </a:tc>
                <a:extLst>
                  <a:ext uri="{0D108BD9-81ED-4DB2-BD59-A6C34878D82A}">
                    <a16:rowId xmlns:a16="http://schemas.microsoft.com/office/drawing/2014/main" val="10001"/>
                  </a:ext>
                </a:extLst>
              </a:tr>
              <a:tr h="522514">
                <a:tc>
                  <a:txBody>
                    <a:bodyPr/>
                    <a:lstStyle/>
                    <a:p>
                      <a:pPr>
                        <a:lnSpc>
                          <a:spcPct val="100000"/>
                        </a:lnSpc>
                        <a:spcAft>
                          <a:spcPts val="600"/>
                        </a:spcAft>
                        <a:defRPr sz="1800" b="0">
                          <a:solidFill>
                            <a:srgbClr val="172B3A"/>
                          </a:solidFill>
                          <a:latin typeface="Arial"/>
                        </a:defRPr>
                      </a:pPr>
                      <a:r>
                        <a:t>Project-window rows</a:t>
                      </a:r>
                    </a:p>
                  </a:txBody>
                  <a:tcPr marT="64008" marB="64008" anchor="ctr">
                    <a:solidFill>
                      <a:srgbClr val="FFFFFF"/>
                    </a:solidFill>
                  </a:tcPr>
                </a:tc>
                <a:tc>
                  <a:txBody>
                    <a:bodyPr/>
                    <a:lstStyle/>
                    <a:p>
                      <a:pPr>
                        <a:lnSpc>
                          <a:spcPct val="100000"/>
                        </a:lnSpc>
                        <a:spcAft>
                          <a:spcPts val="600"/>
                        </a:spcAft>
                        <a:defRPr sz="1800" b="0">
                          <a:solidFill>
                            <a:srgbClr val="172B3A"/>
                          </a:solidFill>
                          <a:latin typeface="Arial"/>
                        </a:defRPr>
                      </a:pPr>
                      <a:r>
                        <a:t>18,086,973 | 2015-2025</a:t>
                      </a:r>
                    </a:p>
                  </a:txBody>
                  <a:tcPr marT="64008" marB="64008" anchor="ctr">
                    <a:solidFill>
                      <a:srgbClr val="FFFFFF"/>
                    </a:solidFill>
                  </a:tcPr>
                </a:tc>
                <a:extLst>
                  <a:ext uri="{0D108BD9-81ED-4DB2-BD59-A6C34878D82A}">
                    <a16:rowId xmlns:a16="http://schemas.microsoft.com/office/drawing/2014/main" val="10002"/>
                  </a:ext>
                </a:extLst>
              </a:tr>
              <a:tr h="522514">
                <a:tc>
                  <a:txBody>
                    <a:bodyPr/>
                    <a:lstStyle/>
                    <a:p>
                      <a:pPr>
                        <a:lnSpc>
                          <a:spcPct val="100000"/>
                        </a:lnSpc>
                        <a:spcAft>
                          <a:spcPts val="600"/>
                        </a:spcAft>
                        <a:defRPr sz="1800" b="0">
                          <a:solidFill>
                            <a:srgbClr val="172B3A"/>
                          </a:solidFill>
                          <a:latin typeface="Arial"/>
                        </a:defRPr>
                      </a:pPr>
                      <a:r>
                        <a:t>Post-2025 rows excluded</a:t>
                      </a:r>
                    </a:p>
                  </a:txBody>
                  <a:tcPr marT="64008" marB="64008" anchor="ctr">
                    <a:solidFill>
                      <a:srgbClr val="F2F5F7"/>
                    </a:solidFill>
                  </a:tcPr>
                </a:tc>
                <a:tc>
                  <a:txBody>
                    <a:bodyPr/>
                    <a:lstStyle/>
                    <a:p>
                      <a:pPr>
                        <a:lnSpc>
                          <a:spcPct val="100000"/>
                        </a:lnSpc>
                        <a:spcAft>
                          <a:spcPts val="600"/>
                        </a:spcAft>
                        <a:defRPr sz="1800" b="0">
                          <a:solidFill>
                            <a:srgbClr val="172B3A"/>
                          </a:solidFill>
                          <a:latin typeface="Arial"/>
                        </a:defRPr>
                      </a:pPr>
                      <a:r>
                        <a:t>20,097 | audit only</a:t>
                      </a:r>
                    </a:p>
                  </a:txBody>
                  <a:tcPr marT="64008" marB="64008" anchor="ctr">
                    <a:solidFill>
                      <a:srgbClr val="F2F5F7"/>
                    </a:solidFill>
                  </a:tcPr>
                </a:tc>
                <a:extLst>
                  <a:ext uri="{0D108BD9-81ED-4DB2-BD59-A6C34878D82A}">
                    <a16:rowId xmlns:a16="http://schemas.microsoft.com/office/drawing/2014/main" val="10003"/>
                  </a:ext>
                </a:extLst>
              </a:tr>
              <a:tr h="522514">
                <a:tc>
                  <a:txBody>
                    <a:bodyPr/>
                    <a:lstStyle/>
                    <a:p>
                      <a:pPr>
                        <a:lnSpc>
                          <a:spcPct val="100000"/>
                        </a:lnSpc>
                        <a:spcAft>
                          <a:spcPts val="600"/>
                        </a:spcAft>
                        <a:defRPr sz="1800" b="0">
                          <a:solidFill>
                            <a:srgbClr val="172B3A"/>
                          </a:solidFill>
                          <a:latin typeface="Arial"/>
                        </a:defRPr>
                      </a:pPr>
                      <a:r>
                        <a:t>Duplicates / invalid OHLC / missing / non-numeric</a:t>
                      </a:r>
                    </a:p>
                  </a:txBody>
                  <a:tcPr marT="64008" marB="64008" anchor="ctr">
                    <a:solidFill>
                      <a:srgbClr val="FFFFFF"/>
                    </a:solidFill>
                  </a:tcPr>
                </a:tc>
                <a:tc>
                  <a:txBody>
                    <a:bodyPr/>
                    <a:lstStyle/>
                    <a:p>
                      <a:pPr>
                        <a:lnSpc>
                          <a:spcPct val="100000"/>
                        </a:lnSpc>
                        <a:spcAft>
                          <a:spcPts val="600"/>
                        </a:spcAft>
                        <a:defRPr sz="1800" b="0">
                          <a:solidFill>
                            <a:srgbClr val="172B3A"/>
                          </a:solidFill>
                          <a:latin typeface="Arial"/>
                        </a:defRPr>
                      </a:pPr>
                      <a:r>
                        <a:t>0 in project-window diagnostics</a:t>
                      </a:r>
                    </a:p>
                  </a:txBody>
                  <a:tcPr marT="64008" marB="64008" anchor="ctr">
                    <a:solidFill>
                      <a:srgbClr val="FFFFFF"/>
                    </a:solidFill>
                  </a:tcPr>
                </a:tc>
                <a:extLst>
                  <a:ext uri="{0D108BD9-81ED-4DB2-BD59-A6C34878D82A}">
                    <a16:rowId xmlns:a16="http://schemas.microsoft.com/office/drawing/2014/main" val="10004"/>
                  </a:ext>
                </a:extLst>
              </a:tr>
              <a:tr h="522514">
                <a:tc>
                  <a:txBody>
                    <a:bodyPr/>
                    <a:lstStyle/>
                    <a:p>
                      <a:pPr>
                        <a:lnSpc>
                          <a:spcPct val="100000"/>
                        </a:lnSpc>
                        <a:spcAft>
                          <a:spcPts val="600"/>
                        </a:spcAft>
                        <a:defRPr sz="1800" b="0">
                          <a:solidFill>
                            <a:srgbClr val="172B3A"/>
                          </a:solidFill>
                          <a:latin typeface="Arial"/>
                        </a:defRPr>
                      </a:pPr>
                      <a:r>
                        <a:t>Zero-volume rows retained</a:t>
                      </a:r>
                    </a:p>
                  </a:txBody>
                  <a:tcPr marT="64008" marB="64008" anchor="ctr">
                    <a:solidFill>
                      <a:srgbClr val="F2F5F7"/>
                    </a:solidFill>
                  </a:tcPr>
                </a:tc>
                <a:tc>
                  <a:txBody>
                    <a:bodyPr/>
                    <a:lstStyle/>
                    <a:p>
                      <a:pPr>
                        <a:lnSpc>
                          <a:spcPct val="100000"/>
                        </a:lnSpc>
                        <a:spcAft>
                          <a:spcPts val="600"/>
                        </a:spcAft>
                        <a:defRPr sz="1800" b="0">
                          <a:solidFill>
                            <a:srgbClr val="172B3A"/>
                          </a:solidFill>
                          <a:latin typeface="Arial"/>
                        </a:defRPr>
                      </a:pPr>
                      <a:r>
                        <a:t>AAPL: 94 | GME: 1,277</a:t>
                      </a:r>
                    </a:p>
                  </a:txBody>
                  <a:tcPr marT="64008" marB="64008" anchor="ctr">
                    <a:solidFill>
                      <a:srgbClr val="F2F5F7"/>
                    </a:solidFill>
                  </a:tcPr>
                </a:tc>
                <a:extLst>
                  <a:ext uri="{0D108BD9-81ED-4DB2-BD59-A6C34878D82A}">
                    <a16:rowId xmlns:a16="http://schemas.microsoft.com/office/drawing/2014/main" val="10005"/>
                  </a:ext>
                </a:extLst>
              </a:tr>
              <a:tr h="522516">
                <a:tc>
                  <a:txBody>
                    <a:bodyPr/>
                    <a:lstStyle/>
                    <a:p>
                      <a:pPr>
                        <a:lnSpc>
                          <a:spcPct val="100000"/>
                        </a:lnSpc>
                        <a:spcAft>
                          <a:spcPts val="600"/>
                        </a:spcAft>
                        <a:defRPr sz="1800" b="0">
                          <a:solidFill>
                            <a:srgbClr val="172B3A"/>
                          </a:solidFill>
                          <a:latin typeface="Arial"/>
                        </a:defRPr>
                      </a:pPr>
                      <a:r>
                        <a:t>Manual raw-row checks</a:t>
                      </a:r>
                    </a:p>
                  </a:txBody>
                  <a:tcPr marT="64008" marB="64008" anchor="ctr">
                    <a:solidFill>
                      <a:srgbClr val="FFFFFF"/>
                    </a:solidFill>
                  </a:tcPr>
                </a:tc>
                <a:tc>
                  <a:txBody>
                    <a:bodyPr/>
                    <a:lstStyle/>
                    <a:p>
                      <a:pPr>
                        <a:lnSpc>
                          <a:spcPct val="100000"/>
                        </a:lnSpc>
                        <a:spcAft>
                          <a:spcPts val="600"/>
                        </a:spcAft>
                        <a:defRPr sz="1800" b="0">
                          <a:solidFill>
                            <a:srgbClr val="172B3A"/>
                          </a:solidFill>
                          <a:latin typeface="Arial"/>
                        </a:defRPr>
                      </a:pPr>
                      <a:r>
                        <a:t>10/10 passed</a:t>
                      </a:r>
                    </a:p>
                  </a:txBody>
                  <a:tcPr marT="64008" marB="64008" anchor="ctr">
                    <a:solidFill>
                      <a:srgbClr val="FFFFFF"/>
                    </a:solidFill>
                  </a:tcPr>
                </a:tc>
                <a:extLst>
                  <a:ext uri="{0D108BD9-81ED-4DB2-BD59-A6C34878D82A}">
                    <a16:rowId xmlns:a16="http://schemas.microsoft.com/office/drawing/2014/main" val="10006"/>
                  </a:ext>
                </a:extLst>
              </a:tr>
            </a:tbl>
          </a:graphicData>
        </a:graphic>
      </p:graphicFrame>
      <p:sp>
        <p:nvSpPr>
          <p:cNvPr id="117" name="TextBox 116"/>
          <p:cNvSpPr txBox="1"/>
          <p:nvPr/>
        </p:nvSpPr>
        <p:spPr>
          <a:xfrm>
            <a:off x="640080" y="5760720"/>
            <a:ext cx="1371600" cy="457200"/>
          </a:xfrm>
          <a:prstGeom prst="rect">
            <a:avLst/>
          </a:prstGeom>
          <a:noFill/>
        </p:spPr>
        <p:txBody>
          <a:bodyPr wrap="square" lIns="18288" tIns="22860" rIns="18288" bIns="22860">
            <a:spAutoFit/>
          </a:bodyPr>
          <a:lstStyle/>
          <a:p>
            <a:pPr>
              <a:lnSpc>
                <a:spcPct val="100000"/>
              </a:lnSpc>
              <a:spcAft>
                <a:spcPts val="0"/>
              </a:spcAft>
              <a:defRPr sz="1200" b="1">
                <a:solidFill>
                  <a:srgbClr val="087E8B"/>
                </a:solidFill>
                <a:latin typeface="Arial"/>
              </a:defRPr>
            </a:pPr>
            <a:r>
              <a:t>SCOPE</a:t>
            </a:r>
          </a:p>
        </p:txBody>
      </p:sp>
      <p:sp>
        <p:nvSpPr>
          <p:cNvPr id="118" name="TextBox 117"/>
          <p:cNvSpPr txBox="1"/>
          <p:nvPr/>
        </p:nvSpPr>
        <p:spPr>
          <a:xfrm>
            <a:off x="2011680" y="5687568"/>
            <a:ext cx="9464040" cy="621792"/>
          </a:xfrm>
          <a:prstGeom prst="rect">
            <a:avLst/>
          </a:prstGeom>
          <a:noFill/>
        </p:spPr>
        <p:txBody>
          <a:bodyPr wrap="square" lIns="18288" tIns="22860" rIns="18288" bIns="22860">
            <a:spAutoFit/>
          </a:bodyPr>
          <a:lstStyle/>
          <a:p>
            <a:pPr>
              <a:lnSpc>
                <a:spcPct val="100000"/>
              </a:lnSpc>
              <a:spcAft>
                <a:spcPts val="600"/>
              </a:spcAft>
              <a:defRPr sz="1900" b="0">
                <a:solidFill>
                  <a:srgbClr val="102A43"/>
                </a:solidFill>
                <a:latin typeface="Arial"/>
              </a:defRPr>
            </a:pPr>
            <a:r>
              <a:t>Parsing checks passed; session, timezone and volume-unit metadata remain open.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BFCFD"/>
        </a:solidFill>
        <a:effectLst/>
      </p:bgPr>
    </p:bg>
    <p:spTree>
      <p:nvGrpSpPr>
        <p:cNvPr id="1" name="Shape 126"/>
        <p:cNvGrpSpPr/>
        <p:nvPr/>
      </p:nvGrpSpPr>
      <p:grpSpPr>
        <a:xfrm>
          <a:off x="0" y="0"/>
          <a:ext cx="0" cy="0"/>
          <a:chOff x="0" y="0"/>
          <a:chExt cx="0" cy="0"/>
        </a:xfrm>
      </p:grpSpPr>
      <p:sp>
        <p:nvSpPr>
          <p:cNvPr id="127" name="Google Shape;127;p9"/>
          <p:cNvSpPr/>
          <p:nvPr/>
        </p:nvSpPr>
        <p:spPr>
          <a:xfrm>
            <a:off x="0" y="0"/>
            <a:ext cx="114300" cy="6858000"/>
          </a:xfrm>
          <a:prstGeom prst="rect">
            <a:avLst/>
          </a:prstGeom>
          <a:solidFill>
            <a:srgbClr val="087E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9"/>
          <p:cNvSpPr/>
          <p:nvPr/>
        </p:nvSpPr>
        <p:spPr>
          <a:xfrm>
            <a:off x="609600" y="285750"/>
            <a:ext cx="4381500" cy="209550"/>
          </a:xfrm>
          <a:prstGeom prst="rect">
            <a:avLst/>
          </a:prstGeom>
          <a:noFill/>
          <a:ln>
            <a:noFill/>
          </a:ln>
        </p:spPr>
        <p:txBody>
          <a:bodyPr spcFirstLastPara="1" wrap="square" lIns="18288" tIns="22860" rIns="18288" bIns="22860" anchor="t" anchorCtr="0">
            <a:noAutofit/>
          </a:bodyPr>
          <a:lstStyle/>
          <a:p>
            <a:pPr marL="0" marR="0" lvl="0" indent="0" algn="l" rtl="0">
              <a:lnSpc>
                <a:spcPct val="100000"/>
              </a:lnSpc>
              <a:spcBef>
                <a:spcPts val="0"/>
              </a:spcBef>
              <a:spcAft>
                <a:spcPts val="0"/>
              </a:spcAft>
              <a:buNone/>
              <a:defRPr sz="1125" b="1">
                <a:solidFill>
                  <a:srgbClr val="087E8B"/>
                </a:solidFill>
                <a:latin typeface="Arial"/>
              </a:defRPr>
            </a:pPr>
            <a:r>
              <a:t>COMMON-WINDOW DIAGNOSTIC</a:t>
            </a:r>
          </a:p>
        </p:txBody>
      </p:sp>
      <p:sp>
        <p:nvSpPr>
          <p:cNvPr id="129" name="Google Shape;129;p9"/>
          <p:cNvSpPr/>
          <p:nvPr/>
        </p:nvSpPr>
        <p:spPr>
          <a:xfrm>
            <a:off x="609600" y="514350"/>
            <a:ext cx="10934700" cy="590550"/>
          </a:xfrm>
          <a:prstGeom prst="rect">
            <a:avLst/>
          </a:prstGeom>
          <a:noFill/>
          <a:ln>
            <a:noFill/>
          </a:ln>
        </p:spPr>
        <p:txBody>
          <a:bodyPr spcFirstLastPara="1" wrap="square" lIns="18288" tIns="22860" rIns="18288" bIns="22860" anchor="t" anchorCtr="0">
            <a:noAutofit/>
          </a:bodyPr>
          <a:lstStyle/>
          <a:p>
            <a:pPr marL="0" marR="0" lvl="0" indent="0" algn="l" rtl="0">
              <a:lnSpc>
                <a:spcPct val="100000"/>
              </a:lnSpc>
              <a:spcBef>
                <a:spcPts val="0"/>
              </a:spcBef>
              <a:spcAft>
                <a:spcPts val="600"/>
              </a:spcAft>
              <a:buNone/>
              <a:defRPr sz="2800" b="1">
                <a:solidFill>
                  <a:srgbClr val="102A43"/>
                </a:solidFill>
                <a:latin typeface="Arial"/>
              </a:defRPr>
            </a:pPr>
            <a:r>
              <a:t>Observed raw bars differ across asset classes</a:t>
            </a:r>
          </a:p>
        </p:txBody>
      </p:sp>
      <p:sp>
        <p:nvSpPr>
          <p:cNvPr id="130" name="Google Shape;130;p9"/>
          <p:cNvSpPr/>
          <p:nvPr/>
        </p:nvSpPr>
        <p:spPr>
          <a:xfrm>
            <a:off x="628650" y="1123950"/>
            <a:ext cx="10668000" cy="323850"/>
          </a:xfrm>
          <a:prstGeom prst="rect">
            <a:avLst/>
          </a:prstGeom>
          <a:noFill/>
          <a:ln>
            <a:noFill/>
          </a:ln>
        </p:spPr>
        <p:txBody>
          <a:bodyPr spcFirstLastPara="1" wrap="square" lIns="18288" tIns="22860" rIns="18288" bIns="22860" anchor="t" anchorCtr="0">
            <a:noAutofit/>
          </a:bodyPr>
          <a:lstStyle/>
          <a:p>
            <a:pPr marL="0" marR="0" lvl="0" indent="0" algn="l" rtl="0">
              <a:lnSpc>
                <a:spcPct val="100000"/>
              </a:lnSpc>
              <a:spcBef>
                <a:spcPts val="0"/>
              </a:spcBef>
              <a:spcAft>
                <a:spcPts val="600"/>
              </a:spcAft>
              <a:buNone/>
              <a:defRPr sz="1500" b="0">
                <a:solidFill>
                  <a:srgbClr val="5F6F7A"/>
                </a:solidFill>
                <a:latin typeface="Arial"/>
              </a:defRPr>
            </a:pPr>
            <a:r>
              <a:t>DIAGNOSTIC | 2024-11-04 to 2024-11-15; no expected-session denominator</a:t>
            </a:r>
          </a:p>
        </p:txBody>
      </p:sp>
      <p:sp>
        <p:nvSpPr>
          <p:cNvPr id="131" name="Google Shape;131;p9"/>
          <p:cNvSpPr/>
          <p:nvPr/>
        </p:nvSpPr>
        <p:spPr>
          <a:xfrm>
            <a:off x="590550" y="6496050"/>
            <a:ext cx="11010900" cy="9525"/>
          </a:xfrm>
          <a:prstGeom prst="rect">
            <a:avLst/>
          </a:prstGeom>
          <a:solidFill>
            <a:srgbClr val="CFD8D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9"/>
          <p:cNvSpPr/>
          <p:nvPr/>
        </p:nvSpPr>
        <p:spPr>
          <a:xfrm>
            <a:off x="609600" y="6572250"/>
            <a:ext cx="4191000" cy="17145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050" b="0">
                <a:solidFill>
                  <a:srgbClr val="5F6F7A"/>
                </a:solidFill>
                <a:latin typeface="Arial"/>
                <a:ea typeface="Arial"/>
                <a:cs typeface="Arial"/>
                <a:sym typeface="Arial"/>
              </a:rPr>
              <a:t>MMF 1941   Project progress update</a:t>
            </a:r>
            <a:endParaRPr/>
          </a:p>
        </p:txBody>
      </p:sp>
      <p:sp>
        <p:nvSpPr>
          <p:cNvPr id="133" name="Google Shape;133;p9"/>
          <p:cNvSpPr/>
          <p:nvPr/>
        </p:nvSpPr>
        <p:spPr>
          <a:xfrm>
            <a:off x="11049000" y="6543675"/>
            <a:ext cx="533400" cy="190500"/>
          </a:xfrm>
          <a:prstGeom prst="rect">
            <a:avLst/>
          </a:prstGeom>
          <a:noFill/>
          <a:ln>
            <a:noFill/>
          </a:ln>
        </p:spPr>
        <p:txBody>
          <a:bodyPr spcFirstLastPara="1" wrap="square" lIns="18288" tIns="22860" rIns="18288" bIns="22860" anchor="t" anchorCtr="0">
            <a:noAutofit/>
          </a:bodyPr>
          <a:lstStyle/>
          <a:p>
            <a:pPr marL="0" marR="0" lvl="0" indent="0" algn="r" rtl="0">
              <a:lnSpc>
                <a:spcPct val="100000"/>
              </a:lnSpc>
              <a:spcBef>
                <a:spcPts val="0"/>
              </a:spcBef>
              <a:spcAft>
                <a:spcPts val="0"/>
              </a:spcAft>
              <a:buNone/>
              <a:defRPr sz="1125" b="0">
                <a:solidFill>
                  <a:srgbClr val="102A43"/>
                </a:solidFill>
                <a:latin typeface="Arial"/>
              </a:defRPr>
            </a:pPr>
            <a:r>
              <a:t>07</a:t>
            </a:r>
          </a:p>
        </p:txBody>
      </p:sp>
      <p:pic>
        <p:nvPicPr>
          <p:cNvPr id="134" name="Picture 133" descr="common_window_bars_per_day.png"/>
          <p:cNvPicPr>
            <a:picLocks noChangeAspect="1"/>
          </p:cNvPicPr>
          <p:nvPr/>
        </p:nvPicPr>
        <p:blipFill>
          <a:blip r:embed="rId3"/>
          <a:stretch>
            <a:fillRect/>
          </a:stretch>
        </p:blipFill>
        <p:spPr>
          <a:xfrm>
            <a:off x="2087880" y="1401318"/>
            <a:ext cx="8092440" cy="4626864"/>
          </a:xfrm>
          <a:prstGeom prst="rect">
            <a:avLst/>
          </a:prstGeom>
        </p:spPr>
      </p:pic>
      <p:sp>
        <p:nvSpPr>
          <p:cNvPr id="135" name="TextBox 134"/>
          <p:cNvSpPr txBox="1"/>
          <p:nvPr/>
        </p:nvSpPr>
        <p:spPr>
          <a:xfrm>
            <a:off x="640080" y="5943600"/>
            <a:ext cx="1371600" cy="256032"/>
          </a:xfrm>
          <a:prstGeom prst="rect">
            <a:avLst/>
          </a:prstGeom>
          <a:noFill/>
        </p:spPr>
        <p:txBody>
          <a:bodyPr wrap="square" lIns="18288" tIns="22860" rIns="18288" bIns="22860">
            <a:spAutoFit/>
          </a:bodyPr>
          <a:lstStyle/>
          <a:p>
            <a:pPr>
              <a:lnSpc>
                <a:spcPct val="100000"/>
              </a:lnSpc>
              <a:spcAft>
                <a:spcPts val="0"/>
              </a:spcAft>
              <a:defRPr sz="1200" b="1">
                <a:solidFill>
                  <a:srgbClr val="087E8B"/>
                </a:solidFill>
                <a:latin typeface="Arial"/>
              </a:defRPr>
            </a:pPr>
            <a:r>
              <a:t>DIAGNOSTIC</a:t>
            </a:r>
          </a:p>
        </p:txBody>
      </p:sp>
      <p:sp>
        <p:nvSpPr>
          <p:cNvPr id="136" name="TextBox 135"/>
          <p:cNvSpPr txBox="1"/>
          <p:nvPr/>
        </p:nvSpPr>
        <p:spPr>
          <a:xfrm>
            <a:off x="2080260" y="5914644"/>
            <a:ext cx="9464040" cy="347472"/>
          </a:xfrm>
          <a:prstGeom prst="rect">
            <a:avLst/>
          </a:prstGeom>
          <a:noFill/>
        </p:spPr>
        <p:txBody>
          <a:bodyPr wrap="square" lIns="18288" tIns="22860" rIns="18288" bIns="22860">
            <a:spAutoFit/>
          </a:bodyPr>
          <a:lstStyle/>
          <a:p>
            <a:pPr>
              <a:lnSpc>
                <a:spcPct val="100000"/>
              </a:lnSpc>
              <a:spcAft>
                <a:spcPts val="600"/>
              </a:spcAft>
              <a:defRPr sz="1800" b="0">
                <a:solidFill>
                  <a:srgbClr val="102A43"/>
                </a:solidFill>
                <a:latin typeface="Arial"/>
              </a:defRPr>
            </a:pPr>
            <a:r>
              <a:rPr sz="1250" dirty="0"/>
              <a:t>Observed bar structure differs materially across asset classes before any session convention is imposed.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BFCFD"/>
        </a:solidFill>
        <a:effectLst/>
      </p:bgPr>
    </p:bg>
    <p:spTree>
      <p:nvGrpSpPr>
        <p:cNvPr id="1" name="Shape 147"/>
        <p:cNvGrpSpPr/>
        <p:nvPr/>
      </p:nvGrpSpPr>
      <p:grpSpPr>
        <a:xfrm>
          <a:off x="0" y="0"/>
          <a:ext cx="0" cy="0"/>
          <a:chOff x="0" y="0"/>
          <a:chExt cx="0" cy="0"/>
        </a:xfrm>
      </p:grpSpPr>
      <p:sp>
        <p:nvSpPr>
          <p:cNvPr id="148" name="Google Shape;148;p10"/>
          <p:cNvSpPr/>
          <p:nvPr/>
        </p:nvSpPr>
        <p:spPr>
          <a:xfrm>
            <a:off x="0" y="0"/>
            <a:ext cx="114300" cy="6858000"/>
          </a:xfrm>
          <a:prstGeom prst="rect">
            <a:avLst/>
          </a:prstGeom>
          <a:solidFill>
            <a:srgbClr val="087E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149;p10"/>
          <p:cNvSpPr/>
          <p:nvPr/>
        </p:nvSpPr>
        <p:spPr>
          <a:xfrm>
            <a:off x="609600" y="285750"/>
            <a:ext cx="4381500" cy="209550"/>
          </a:xfrm>
          <a:prstGeom prst="rect">
            <a:avLst/>
          </a:prstGeom>
          <a:noFill/>
          <a:ln>
            <a:noFill/>
          </a:ln>
        </p:spPr>
        <p:txBody>
          <a:bodyPr spcFirstLastPara="1" wrap="square" lIns="18288" tIns="22860" rIns="18288" bIns="22860" anchor="t" anchorCtr="0">
            <a:noAutofit/>
          </a:bodyPr>
          <a:lstStyle/>
          <a:p>
            <a:pPr marL="0" marR="0" lvl="0" indent="0" algn="l" rtl="0">
              <a:lnSpc>
                <a:spcPct val="100000"/>
              </a:lnSpc>
              <a:spcBef>
                <a:spcPts val="0"/>
              </a:spcBef>
              <a:spcAft>
                <a:spcPts val="0"/>
              </a:spcAft>
              <a:buNone/>
              <a:defRPr sz="1125" b="1">
                <a:solidFill>
                  <a:srgbClr val="087E8B"/>
                </a:solidFill>
                <a:latin typeface="Arial"/>
              </a:defRPr>
            </a:pPr>
            <a:r>
              <a:t>INTRADAY CLOCK DIAGNOSTIC</a:t>
            </a:r>
          </a:p>
        </p:txBody>
      </p:sp>
      <p:sp>
        <p:nvSpPr>
          <p:cNvPr id="150" name="Google Shape;150;p10"/>
          <p:cNvSpPr/>
          <p:nvPr/>
        </p:nvSpPr>
        <p:spPr>
          <a:xfrm>
            <a:off x="609600" y="514350"/>
            <a:ext cx="10934700" cy="590550"/>
          </a:xfrm>
          <a:prstGeom prst="rect">
            <a:avLst/>
          </a:prstGeom>
          <a:noFill/>
          <a:ln>
            <a:noFill/>
          </a:ln>
        </p:spPr>
        <p:txBody>
          <a:bodyPr spcFirstLastPara="1" wrap="square" lIns="18288" tIns="22860" rIns="18288" bIns="22860" anchor="t" anchorCtr="0">
            <a:noAutofit/>
          </a:bodyPr>
          <a:lstStyle/>
          <a:p>
            <a:pPr marL="0" marR="0" lvl="0" indent="0" algn="l" rtl="0">
              <a:lnSpc>
                <a:spcPct val="100000"/>
              </a:lnSpc>
              <a:spcBef>
                <a:spcPts val="0"/>
              </a:spcBef>
              <a:spcAft>
                <a:spcPts val="600"/>
              </a:spcAft>
              <a:buNone/>
              <a:defRPr sz="2800" b="1">
                <a:solidFill>
                  <a:srgbClr val="102A43"/>
                </a:solidFill>
                <a:latin typeface="Arial"/>
              </a:defRPr>
            </a:pPr>
            <a:r>
              <a:t>Resolve clock interpretation before aggregation</a:t>
            </a:r>
          </a:p>
        </p:txBody>
      </p:sp>
      <p:sp>
        <p:nvSpPr>
          <p:cNvPr id="151" name="Google Shape;151;p10"/>
          <p:cNvSpPr/>
          <p:nvPr/>
        </p:nvSpPr>
        <p:spPr>
          <a:xfrm>
            <a:off x="628650" y="1123950"/>
            <a:ext cx="10668000" cy="323850"/>
          </a:xfrm>
          <a:prstGeom prst="rect">
            <a:avLst/>
          </a:prstGeom>
          <a:noFill/>
          <a:ln>
            <a:noFill/>
          </a:ln>
        </p:spPr>
        <p:txBody>
          <a:bodyPr spcFirstLastPara="1" wrap="square" lIns="18288" tIns="22860" rIns="18288" bIns="22860" anchor="t" anchorCtr="0">
            <a:noAutofit/>
          </a:bodyPr>
          <a:lstStyle/>
          <a:p>
            <a:pPr marL="0" marR="0" lvl="0" indent="0" algn="l" rtl="0">
              <a:lnSpc>
                <a:spcPct val="100000"/>
              </a:lnSpc>
              <a:spcBef>
                <a:spcPts val="0"/>
              </a:spcBef>
              <a:spcAft>
                <a:spcPts val="600"/>
              </a:spcAft>
              <a:buNone/>
              <a:defRPr sz="1500" b="0">
                <a:solidFill>
                  <a:srgbClr val="5F6F7A"/>
                </a:solidFill>
                <a:latin typeface="Arial"/>
              </a:defRPr>
            </a:pPr>
            <a:r>
              <a:t>DIAGNOSTIC | Recorded-clock activity; percentages describe activity, not coverage</a:t>
            </a:r>
          </a:p>
        </p:txBody>
      </p:sp>
      <p:sp>
        <p:nvSpPr>
          <p:cNvPr id="152" name="Google Shape;152;p10"/>
          <p:cNvSpPr/>
          <p:nvPr/>
        </p:nvSpPr>
        <p:spPr>
          <a:xfrm>
            <a:off x="590550" y="6496050"/>
            <a:ext cx="11010900" cy="9525"/>
          </a:xfrm>
          <a:prstGeom prst="rect">
            <a:avLst/>
          </a:prstGeom>
          <a:solidFill>
            <a:srgbClr val="CFD8D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10"/>
          <p:cNvSpPr/>
          <p:nvPr/>
        </p:nvSpPr>
        <p:spPr>
          <a:xfrm>
            <a:off x="609600" y="6572250"/>
            <a:ext cx="4191000" cy="17145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050" b="0">
                <a:solidFill>
                  <a:srgbClr val="5F6F7A"/>
                </a:solidFill>
                <a:latin typeface="Arial"/>
                <a:ea typeface="Arial"/>
                <a:cs typeface="Arial"/>
                <a:sym typeface="Arial"/>
              </a:rPr>
              <a:t>MMF 1941   Project progress update</a:t>
            </a:r>
            <a:endParaRPr/>
          </a:p>
        </p:txBody>
      </p:sp>
      <p:sp>
        <p:nvSpPr>
          <p:cNvPr id="154" name="Google Shape;154;p10"/>
          <p:cNvSpPr/>
          <p:nvPr/>
        </p:nvSpPr>
        <p:spPr>
          <a:xfrm>
            <a:off x="11049000" y="6543675"/>
            <a:ext cx="533400" cy="190500"/>
          </a:xfrm>
          <a:prstGeom prst="rect">
            <a:avLst/>
          </a:prstGeom>
          <a:noFill/>
          <a:ln>
            <a:noFill/>
          </a:ln>
        </p:spPr>
        <p:txBody>
          <a:bodyPr spcFirstLastPara="1" wrap="square" lIns="18288" tIns="22860" rIns="18288" bIns="22860" anchor="t" anchorCtr="0">
            <a:noAutofit/>
          </a:bodyPr>
          <a:lstStyle/>
          <a:p>
            <a:pPr marL="0" marR="0" lvl="0" indent="0" algn="r" rtl="0">
              <a:lnSpc>
                <a:spcPct val="100000"/>
              </a:lnSpc>
              <a:spcBef>
                <a:spcPts val="0"/>
              </a:spcBef>
              <a:spcAft>
                <a:spcPts val="0"/>
              </a:spcAft>
              <a:buNone/>
              <a:defRPr sz="1125" b="0">
                <a:solidFill>
                  <a:srgbClr val="102A43"/>
                </a:solidFill>
                <a:latin typeface="Arial"/>
              </a:defRPr>
            </a:pPr>
            <a:r>
              <a:t>08</a:t>
            </a:r>
          </a:p>
        </p:txBody>
      </p:sp>
      <p:pic>
        <p:nvPicPr>
          <p:cNvPr id="155" name="Picture 154" descr="hourly_activity_by_asset_class.png"/>
          <p:cNvPicPr>
            <a:picLocks noChangeAspect="1"/>
          </p:cNvPicPr>
          <p:nvPr/>
        </p:nvPicPr>
        <p:blipFill>
          <a:blip r:embed="rId3"/>
          <a:stretch>
            <a:fillRect/>
          </a:stretch>
        </p:blipFill>
        <p:spPr>
          <a:xfrm>
            <a:off x="2395728" y="1417320"/>
            <a:ext cx="6903720" cy="4599432"/>
          </a:xfrm>
          <a:prstGeom prst="rect">
            <a:avLst/>
          </a:prstGeom>
        </p:spPr>
      </p:pic>
      <p:sp>
        <p:nvSpPr>
          <p:cNvPr id="156" name="TextBox 155"/>
          <p:cNvSpPr txBox="1"/>
          <p:nvPr/>
        </p:nvSpPr>
        <p:spPr>
          <a:xfrm>
            <a:off x="640080" y="5943600"/>
            <a:ext cx="1371600" cy="256032"/>
          </a:xfrm>
          <a:prstGeom prst="rect">
            <a:avLst/>
          </a:prstGeom>
          <a:noFill/>
        </p:spPr>
        <p:txBody>
          <a:bodyPr wrap="square" lIns="18288" tIns="22860" rIns="18288" bIns="22860">
            <a:spAutoFit/>
          </a:bodyPr>
          <a:lstStyle/>
          <a:p>
            <a:pPr>
              <a:lnSpc>
                <a:spcPct val="100000"/>
              </a:lnSpc>
              <a:spcAft>
                <a:spcPts val="0"/>
              </a:spcAft>
              <a:defRPr sz="1200" b="1">
                <a:solidFill>
                  <a:srgbClr val="087E8B"/>
                </a:solidFill>
                <a:latin typeface="Arial"/>
              </a:defRPr>
            </a:pPr>
            <a:r>
              <a:t>DIAGNOSTIC</a:t>
            </a:r>
          </a:p>
        </p:txBody>
      </p:sp>
      <p:sp>
        <p:nvSpPr>
          <p:cNvPr id="157" name="TextBox 156"/>
          <p:cNvSpPr txBox="1"/>
          <p:nvPr/>
        </p:nvSpPr>
        <p:spPr>
          <a:xfrm>
            <a:off x="2011680" y="6016752"/>
            <a:ext cx="9464040" cy="347472"/>
          </a:xfrm>
          <a:prstGeom prst="rect">
            <a:avLst/>
          </a:prstGeom>
          <a:noFill/>
        </p:spPr>
        <p:txBody>
          <a:bodyPr wrap="square" lIns="18288" tIns="22860" rIns="18288" bIns="22860">
            <a:spAutoFit/>
          </a:bodyPr>
          <a:lstStyle/>
          <a:p>
            <a:pPr>
              <a:lnSpc>
                <a:spcPct val="100000"/>
              </a:lnSpc>
              <a:spcAft>
                <a:spcPts val="600"/>
              </a:spcAft>
              <a:defRPr sz="1700" b="0">
                <a:solidFill>
                  <a:srgbClr val="102A43"/>
                </a:solidFill>
                <a:latin typeface="Arial"/>
              </a:defRPr>
            </a:pPr>
            <a:r>
              <a:rPr sz="1250" dirty="0"/>
              <a:t>Recorded-clock patterns differ across assets/classes; resolve </a:t>
            </a:r>
            <a:r>
              <a:rPr sz="1250" dirty="0" err="1"/>
              <a:t>timezone</a:t>
            </a:r>
            <a:r>
              <a:rPr sz="1250" dirty="0"/>
              <a:t> and session interpretation before benchmark aggregation.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BFCFD"/>
        </a:solidFill>
        <a:effectLst/>
      </p:bgPr>
    </p:bg>
    <p:spTree>
      <p:nvGrpSpPr>
        <p:cNvPr id="1" name="Shape 164"/>
        <p:cNvGrpSpPr/>
        <p:nvPr/>
      </p:nvGrpSpPr>
      <p:grpSpPr>
        <a:xfrm>
          <a:off x="0" y="0"/>
          <a:ext cx="0" cy="0"/>
          <a:chOff x="0" y="0"/>
          <a:chExt cx="0" cy="0"/>
        </a:xfrm>
      </p:grpSpPr>
      <p:sp>
        <p:nvSpPr>
          <p:cNvPr id="165" name="Google Shape;165;p11"/>
          <p:cNvSpPr/>
          <p:nvPr/>
        </p:nvSpPr>
        <p:spPr>
          <a:xfrm>
            <a:off x="0" y="0"/>
            <a:ext cx="114300" cy="6858000"/>
          </a:xfrm>
          <a:prstGeom prst="rect">
            <a:avLst/>
          </a:prstGeom>
          <a:solidFill>
            <a:srgbClr val="087E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11"/>
          <p:cNvSpPr/>
          <p:nvPr/>
        </p:nvSpPr>
        <p:spPr>
          <a:xfrm>
            <a:off x="609600" y="285750"/>
            <a:ext cx="4381500" cy="209550"/>
          </a:xfrm>
          <a:prstGeom prst="rect">
            <a:avLst/>
          </a:prstGeom>
          <a:noFill/>
          <a:ln>
            <a:noFill/>
          </a:ln>
        </p:spPr>
        <p:txBody>
          <a:bodyPr spcFirstLastPara="1" wrap="square" lIns="18288" tIns="22860" rIns="18288" bIns="22860" anchor="t" anchorCtr="0">
            <a:noAutofit/>
          </a:bodyPr>
          <a:lstStyle/>
          <a:p>
            <a:pPr marL="0" marR="0" lvl="0" indent="0" algn="l" rtl="0">
              <a:lnSpc>
                <a:spcPct val="100000"/>
              </a:lnSpc>
              <a:spcBef>
                <a:spcPts val="0"/>
              </a:spcBef>
              <a:spcAft>
                <a:spcPts val="0"/>
              </a:spcAft>
              <a:buNone/>
              <a:defRPr sz="1125" b="1">
                <a:solidFill>
                  <a:srgbClr val="087E8B"/>
                </a:solidFill>
                <a:latin typeface="Arial"/>
              </a:defRPr>
            </a:pPr>
            <a:r>
              <a:t>PREPARATION AND REPRODUCIBILITY</a:t>
            </a:r>
          </a:p>
        </p:txBody>
      </p:sp>
      <p:sp>
        <p:nvSpPr>
          <p:cNvPr id="167" name="Google Shape;167;p11"/>
          <p:cNvSpPr/>
          <p:nvPr/>
        </p:nvSpPr>
        <p:spPr>
          <a:xfrm>
            <a:off x="609600" y="514350"/>
            <a:ext cx="10934700" cy="590550"/>
          </a:xfrm>
          <a:prstGeom prst="rect">
            <a:avLst/>
          </a:prstGeom>
          <a:noFill/>
          <a:ln>
            <a:noFill/>
          </a:ln>
        </p:spPr>
        <p:txBody>
          <a:bodyPr spcFirstLastPara="1" wrap="square" lIns="18288" tIns="22860" rIns="18288" bIns="22860" anchor="t" anchorCtr="0">
            <a:noAutofit/>
          </a:bodyPr>
          <a:lstStyle/>
          <a:p>
            <a:pPr marL="0" marR="0" lvl="0" indent="0" algn="l" rtl="0">
              <a:lnSpc>
                <a:spcPct val="100000"/>
              </a:lnSpc>
              <a:spcBef>
                <a:spcPts val="0"/>
              </a:spcBef>
              <a:spcAft>
                <a:spcPts val="600"/>
              </a:spcAft>
              <a:buNone/>
              <a:defRPr sz="2800" b="1">
                <a:solidFill>
                  <a:srgbClr val="102A43"/>
                </a:solidFill>
                <a:latin typeface="Arial"/>
              </a:defRPr>
            </a:pPr>
            <a:r>
              <a:t>One reproducible path from raw data to this deck</a:t>
            </a:r>
          </a:p>
        </p:txBody>
      </p:sp>
      <p:sp>
        <p:nvSpPr>
          <p:cNvPr id="168" name="Google Shape;168;p11"/>
          <p:cNvSpPr/>
          <p:nvPr/>
        </p:nvSpPr>
        <p:spPr>
          <a:xfrm>
            <a:off x="628650" y="1123950"/>
            <a:ext cx="10668000" cy="323850"/>
          </a:xfrm>
          <a:prstGeom prst="rect">
            <a:avLst/>
          </a:prstGeom>
          <a:noFill/>
          <a:ln>
            <a:noFill/>
          </a:ln>
        </p:spPr>
        <p:txBody>
          <a:bodyPr spcFirstLastPara="1" wrap="square" lIns="18288" tIns="22860" rIns="18288" bIns="22860" anchor="t" anchorCtr="0">
            <a:noAutofit/>
          </a:bodyPr>
          <a:lstStyle/>
          <a:p>
            <a:pPr marL="0" marR="0" lvl="0" indent="0" algn="l" rtl="0">
              <a:lnSpc>
                <a:spcPct val="100000"/>
              </a:lnSpc>
              <a:spcBef>
                <a:spcPts val="0"/>
              </a:spcBef>
              <a:spcAft>
                <a:spcPts val="600"/>
              </a:spcAft>
              <a:buNone/>
              <a:defRPr sz="1500" b="0">
                <a:solidFill>
                  <a:srgbClr val="5F6F7A"/>
                </a:solidFill>
                <a:latin typeface="Arial"/>
              </a:defRPr>
            </a:pPr>
            <a:r>
              <a:t>IMPLEMENTED | Raw data remain read-only</a:t>
            </a:r>
          </a:p>
        </p:txBody>
      </p:sp>
      <p:sp>
        <p:nvSpPr>
          <p:cNvPr id="169" name="Google Shape;169;p11"/>
          <p:cNvSpPr/>
          <p:nvPr/>
        </p:nvSpPr>
        <p:spPr>
          <a:xfrm>
            <a:off x="590550" y="6496050"/>
            <a:ext cx="11010900" cy="9525"/>
          </a:xfrm>
          <a:prstGeom prst="rect">
            <a:avLst/>
          </a:prstGeom>
          <a:solidFill>
            <a:srgbClr val="CFD8D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170;p11"/>
          <p:cNvSpPr/>
          <p:nvPr/>
        </p:nvSpPr>
        <p:spPr>
          <a:xfrm>
            <a:off x="609600" y="6572250"/>
            <a:ext cx="4191000" cy="17145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050" b="0">
                <a:solidFill>
                  <a:srgbClr val="5F6F7A"/>
                </a:solidFill>
                <a:latin typeface="Arial"/>
                <a:ea typeface="Arial"/>
                <a:cs typeface="Arial"/>
                <a:sym typeface="Arial"/>
              </a:rPr>
              <a:t>MMF 1941   Project progress update</a:t>
            </a:r>
            <a:endParaRPr/>
          </a:p>
        </p:txBody>
      </p:sp>
      <p:sp>
        <p:nvSpPr>
          <p:cNvPr id="171" name="Google Shape;171;p11"/>
          <p:cNvSpPr/>
          <p:nvPr/>
        </p:nvSpPr>
        <p:spPr>
          <a:xfrm>
            <a:off x="11049000" y="6543675"/>
            <a:ext cx="533400" cy="190500"/>
          </a:xfrm>
          <a:prstGeom prst="rect">
            <a:avLst/>
          </a:prstGeom>
          <a:noFill/>
          <a:ln>
            <a:noFill/>
          </a:ln>
        </p:spPr>
        <p:txBody>
          <a:bodyPr spcFirstLastPara="1" wrap="square" lIns="18288" tIns="22860" rIns="18288" bIns="22860" anchor="t" anchorCtr="0">
            <a:noAutofit/>
          </a:bodyPr>
          <a:lstStyle/>
          <a:p>
            <a:pPr marL="0" marR="0" lvl="0" indent="0" algn="r" rtl="0">
              <a:lnSpc>
                <a:spcPct val="100000"/>
              </a:lnSpc>
              <a:spcBef>
                <a:spcPts val="0"/>
              </a:spcBef>
              <a:spcAft>
                <a:spcPts val="0"/>
              </a:spcAft>
              <a:buNone/>
              <a:defRPr sz="1125" b="0">
                <a:solidFill>
                  <a:srgbClr val="102A43"/>
                </a:solidFill>
                <a:latin typeface="Arial"/>
              </a:defRPr>
            </a:pPr>
            <a:r>
              <a:t>09</a:t>
            </a:r>
          </a:p>
        </p:txBody>
      </p:sp>
      <p:sp>
        <p:nvSpPr>
          <p:cNvPr id="172" name="Rectangle 171"/>
          <p:cNvSpPr/>
          <p:nvPr/>
        </p:nvSpPr>
        <p:spPr>
          <a:xfrm>
            <a:off x="640080" y="1691640"/>
            <a:ext cx="5303520" cy="3474720"/>
          </a:xfrm>
          <a:prstGeom prst="rect">
            <a:avLst/>
          </a:prstGeom>
          <a:solidFill>
            <a:srgbClr val="F2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3" name="TextBox 172"/>
          <p:cNvSpPr txBox="1"/>
          <p:nvPr/>
        </p:nvSpPr>
        <p:spPr>
          <a:xfrm>
            <a:off x="804671" y="1810512"/>
            <a:ext cx="4974336" cy="365760"/>
          </a:xfrm>
          <a:prstGeom prst="rect">
            <a:avLst/>
          </a:prstGeom>
          <a:noFill/>
        </p:spPr>
        <p:txBody>
          <a:bodyPr wrap="square" lIns="18288" tIns="22860" rIns="18288" bIns="22860">
            <a:spAutoFit/>
          </a:bodyPr>
          <a:lstStyle/>
          <a:p>
            <a:pPr>
              <a:lnSpc>
                <a:spcPct val="100000"/>
              </a:lnSpc>
              <a:spcAft>
                <a:spcPts val="600"/>
              </a:spcAft>
              <a:defRPr sz="1500" b="1">
                <a:solidFill>
                  <a:srgbClr val="087E8B"/>
                </a:solidFill>
                <a:latin typeface="Arial"/>
              </a:defRPr>
            </a:pPr>
            <a:r>
              <a:t>DATA HANDLING</a:t>
            </a:r>
          </a:p>
        </p:txBody>
      </p:sp>
      <p:sp>
        <p:nvSpPr>
          <p:cNvPr id="174" name="TextBox 173"/>
          <p:cNvSpPr txBox="1"/>
          <p:nvPr/>
        </p:nvSpPr>
        <p:spPr>
          <a:xfrm>
            <a:off x="804671" y="2331720"/>
            <a:ext cx="4974336" cy="2697479"/>
          </a:xfrm>
          <a:prstGeom prst="rect">
            <a:avLst/>
          </a:prstGeom>
          <a:noFill/>
        </p:spPr>
        <p:txBody>
          <a:bodyPr wrap="square" lIns="18288" tIns="22860" rIns="18288" bIns="22860">
            <a:spAutoFit/>
          </a:bodyPr>
          <a:lstStyle/>
          <a:p>
            <a:pPr>
              <a:lnSpc>
                <a:spcPct val="100000"/>
              </a:lnSpc>
              <a:spcAft>
                <a:spcPts val="600"/>
              </a:spcAft>
              <a:defRPr sz="2000" b="0">
                <a:solidFill>
                  <a:srgbClr val="172B3A"/>
                </a:solidFill>
                <a:latin typeface="Arial"/>
              </a:defRPr>
            </a:pPr>
            <a:r>
              <a:t>RISKLAB_DATA_ROOT / intraday_data</a:t>
            </a:r>
          </a:p>
          <a:p>
            <a:pPr>
              <a:lnSpc>
                <a:spcPct val="100000"/>
              </a:lnSpc>
              <a:spcAft>
                <a:spcPts val="600"/>
              </a:spcAft>
              <a:defRPr sz="2000" b="0">
                <a:solidFill>
                  <a:srgbClr val="172B3A"/>
                </a:solidFill>
                <a:latin typeface="Arial"/>
              </a:defRPr>
            </a:pPr>
            <a:r>
              <a:t>Chunked full-file scanner</a:t>
            </a:r>
          </a:p>
          <a:p>
            <a:pPr>
              <a:lnSpc>
                <a:spcPct val="100000"/>
              </a:lnSpc>
              <a:spcAft>
                <a:spcPts val="600"/>
              </a:spcAft>
              <a:defRPr sz="2000" b="0">
                <a:solidFill>
                  <a:srgbClr val="172B3A"/>
                </a:solidFill>
                <a:latin typeface="Arial"/>
              </a:defRPr>
            </a:pPr>
            <a:r>
              <a:t>No forward filling or inserted minute bars</a:t>
            </a:r>
          </a:p>
          <a:p>
            <a:pPr>
              <a:lnSpc>
                <a:spcPct val="100000"/>
              </a:lnSpc>
              <a:spcAft>
                <a:spcPts val="600"/>
              </a:spcAft>
              <a:defRPr sz="2000" b="0">
                <a:solidFill>
                  <a:srgbClr val="172B3A"/>
                </a:solidFill>
                <a:latin typeface="Arial"/>
              </a:defRPr>
            </a:pPr>
            <a:r>
              <a:t>Duplicates retained and flagged</a:t>
            </a:r>
          </a:p>
          <a:p>
            <a:pPr>
              <a:lnSpc>
                <a:spcPct val="100000"/>
              </a:lnSpc>
              <a:spcAft>
                <a:spcPts val="600"/>
              </a:spcAft>
              <a:defRPr sz="2000" b="0">
                <a:solidFill>
                  <a:srgbClr val="172B3A"/>
                </a:solidFill>
                <a:latin typeface="Arial"/>
              </a:defRPr>
            </a:pPr>
            <a:r>
              <a:t>Explicit date exclusions and quality flags</a:t>
            </a:r>
          </a:p>
        </p:txBody>
      </p:sp>
      <p:sp>
        <p:nvSpPr>
          <p:cNvPr id="175" name="Rectangle 174"/>
          <p:cNvSpPr/>
          <p:nvPr/>
        </p:nvSpPr>
        <p:spPr>
          <a:xfrm>
            <a:off x="6172200" y="1691640"/>
            <a:ext cx="5349240" cy="3474720"/>
          </a:xfrm>
          <a:prstGeom prst="rect">
            <a:avLst/>
          </a:prstGeom>
          <a:solidFill>
            <a:srgbClr val="F2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6" name="TextBox 175"/>
          <p:cNvSpPr txBox="1"/>
          <p:nvPr/>
        </p:nvSpPr>
        <p:spPr>
          <a:xfrm>
            <a:off x="6336792" y="1810512"/>
            <a:ext cx="5020055" cy="365760"/>
          </a:xfrm>
          <a:prstGeom prst="rect">
            <a:avLst/>
          </a:prstGeom>
          <a:noFill/>
        </p:spPr>
        <p:txBody>
          <a:bodyPr wrap="square" lIns="18288" tIns="22860" rIns="18288" bIns="22860">
            <a:spAutoFit/>
          </a:bodyPr>
          <a:lstStyle/>
          <a:p>
            <a:pPr>
              <a:lnSpc>
                <a:spcPct val="100000"/>
              </a:lnSpc>
              <a:spcAft>
                <a:spcPts val="600"/>
              </a:spcAft>
              <a:defRPr sz="1500" b="1">
                <a:solidFill>
                  <a:srgbClr val="246BCE"/>
                </a:solidFill>
                <a:latin typeface="Arial"/>
              </a:defRPr>
            </a:pPr>
            <a:r>
              <a:t>REPRODUCIBILITY</a:t>
            </a:r>
          </a:p>
        </p:txBody>
      </p:sp>
      <p:sp>
        <p:nvSpPr>
          <p:cNvPr id="177" name="TextBox 176"/>
          <p:cNvSpPr txBox="1"/>
          <p:nvPr/>
        </p:nvSpPr>
        <p:spPr>
          <a:xfrm>
            <a:off x="6336792" y="2331720"/>
            <a:ext cx="5020055" cy="2697479"/>
          </a:xfrm>
          <a:prstGeom prst="rect">
            <a:avLst/>
          </a:prstGeom>
          <a:noFill/>
        </p:spPr>
        <p:txBody>
          <a:bodyPr wrap="square" lIns="18288" tIns="22860" rIns="18288" bIns="22860">
            <a:spAutoFit/>
          </a:bodyPr>
          <a:lstStyle/>
          <a:p>
            <a:pPr>
              <a:lnSpc>
                <a:spcPct val="100000"/>
              </a:lnSpc>
              <a:spcAft>
                <a:spcPts val="600"/>
              </a:spcAft>
              <a:defRPr sz="2000" b="0">
                <a:solidFill>
                  <a:srgbClr val="172B3A"/>
                </a:solidFill>
                <a:latin typeface="Arial"/>
              </a:defRPr>
            </a:pPr>
            <a:r>
              <a:t>CSV tables + 300-DPI figures from code</a:t>
            </a:r>
          </a:p>
          <a:p>
            <a:pPr>
              <a:lnSpc>
                <a:spcPct val="100000"/>
              </a:lnSpc>
              <a:spcAft>
                <a:spcPts val="600"/>
              </a:spcAft>
              <a:defRPr sz="2000" b="0">
                <a:solidFill>
                  <a:srgbClr val="172B3A"/>
                </a:solidFill>
                <a:latin typeface="Arial"/>
              </a:defRPr>
            </a:pPr>
            <a:r>
              <a:t>Source log, hashes and raw-row checks</a:t>
            </a:r>
          </a:p>
          <a:p>
            <a:pPr>
              <a:lnSpc>
                <a:spcPct val="100000"/>
              </a:lnSpc>
              <a:spcAft>
                <a:spcPts val="600"/>
              </a:spcAft>
              <a:defRPr sz="2000" b="0">
                <a:solidFill>
                  <a:srgbClr val="172B3A"/>
                </a:solidFill>
                <a:latin typeface="Arial"/>
              </a:defRPr>
            </a:pPr>
            <a:r>
              <a:t>Notebook -&gt; CSV/PNG -&gt; template -&gt; deck</a:t>
            </a:r>
          </a:p>
          <a:p>
            <a:pPr>
              <a:lnSpc>
                <a:spcPct val="100000"/>
              </a:lnSpc>
              <a:spcAft>
                <a:spcPts val="600"/>
              </a:spcAft>
              <a:defRPr sz="2000" b="0">
                <a:solidFill>
                  <a:srgbClr val="172B3A"/>
                </a:solidFill>
                <a:latin typeface="Arial"/>
              </a:defRPr>
            </a:pPr>
            <a:r>
              <a:t>Package versions + run manifest retained</a:t>
            </a:r>
          </a:p>
          <a:p>
            <a:pPr>
              <a:lnSpc>
                <a:spcPct val="100000"/>
              </a:lnSpc>
              <a:spcAft>
                <a:spcPts val="600"/>
              </a:spcAft>
              <a:defRPr sz="2000" b="0">
                <a:solidFill>
                  <a:srgbClr val="172B3A"/>
                </a:solidFill>
                <a:latin typeface="Arial"/>
              </a:defRPr>
            </a:pPr>
            <a:r>
              <a:t>Numeric outputs reconcile unchanged</a:t>
            </a:r>
          </a:p>
        </p:txBody>
      </p:sp>
      <p:sp>
        <p:nvSpPr>
          <p:cNvPr id="178" name="TextBox 177"/>
          <p:cNvSpPr txBox="1"/>
          <p:nvPr/>
        </p:nvSpPr>
        <p:spPr>
          <a:xfrm>
            <a:off x="640080" y="5760720"/>
            <a:ext cx="1371600" cy="457200"/>
          </a:xfrm>
          <a:prstGeom prst="rect">
            <a:avLst/>
          </a:prstGeom>
          <a:noFill/>
        </p:spPr>
        <p:txBody>
          <a:bodyPr wrap="square" lIns="18288" tIns="22860" rIns="18288" bIns="22860">
            <a:spAutoFit/>
          </a:bodyPr>
          <a:lstStyle/>
          <a:p>
            <a:pPr>
              <a:lnSpc>
                <a:spcPct val="100000"/>
              </a:lnSpc>
              <a:spcAft>
                <a:spcPts val="0"/>
              </a:spcAft>
              <a:defRPr sz="1200" b="1">
                <a:solidFill>
                  <a:srgbClr val="087E8B"/>
                </a:solidFill>
                <a:latin typeface="Arial"/>
              </a:defRPr>
            </a:pPr>
            <a:r>
              <a:t>STATUS</a:t>
            </a:r>
          </a:p>
        </p:txBody>
      </p:sp>
      <p:sp>
        <p:nvSpPr>
          <p:cNvPr id="179" name="TextBox 178"/>
          <p:cNvSpPr txBox="1"/>
          <p:nvPr/>
        </p:nvSpPr>
        <p:spPr>
          <a:xfrm>
            <a:off x="2011680" y="5687568"/>
            <a:ext cx="9464040" cy="621792"/>
          </a:xfrm>
          <a:prstGeom prst="rect">
            <a:avLst/>
          </a:prstGeom>
          <a:noFill/>
        </p:spPr>
        <p:txBody>
          <a:bodyPr wrap="square" lIns="18288" tIns="22860" rIns="18288" bIns="22860">
            <a:spAutoFit/>
          </a:bodyPr>
          <a:lstStyle/>
          <a:p>
            <a:pPr>
              <a:lnSpc>
                <a:spcPct val="100000"/>
              </a:lnSpc>
              <a:spcAft>
                <a:spcPts val="600"/>
              </a:spcAft>
              <a:defRPr sz="1900" b="0">
                <a:solidFill>
                  <a:srgbClr val="102A43"/>
                </a:solidFill>
                <a:latin typeface="Arial"/>
              </a:defRPr>
            </a:pPr>
            <a:r>
              <a:t>The analytic asset-day panel is a later step; this checkpoint produces diagnostics.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BFCFD"/>
        </a:solidFill>
        <a:effectLst/>
      </p:bgPr>
    </p:bg>
    <p:spTree>
      <p:nvGrpSpPr>
        <p:cNvPr id="1" name="Shape 204"/>
        <p:cNvGrpSpPr/>
        <p:nvPr/>
      </p:nvGrpSpPr>
      <p:grpSpPr>
        <a:xfrm>
          <a:off x="0" y="0"/>
          <a:ext cx="0" cy="0"/>
          <a:chOff x="0" y="0"/>
          <a:chExt cx="0" cy="0"/>
        </a:xfrm>
      </p:grpSpPr>
      <p:sp>
        <p:nvSpPr>
          <p:cNvPr id="205" name="Google Shape;205;p12"/>
          <p:cNvSpPr/>
          <p:nvPr/>
        </p:nvSpPr>
        <p:spPr>
          <a:xfrm>
            <a:off x="0" y="0"/>
            <a:ext cx="114300" cy="6858000"/>
          </a:xfrm>
          <a:prstGeom prst="rect">
            <a:avLst/>
          </a:prstGeom>
          <a:solidFill>
            <a:srgbClr val="087E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12"/>
          <p:cNvSpPr/>
          <p:nvPr/>
        </p:nvSpPr>
        <p:spPr>
          <a:xfrm>
            <a:off x="609600" y="285750"/>
            <a:ext cx="4381500" cy="209550"/>
          </a:xfrm>
          <a:prstGeom prst="rect">
            <a:avLst/>
          </a:prstGeom>
          <a:noFill/>
          <a:ln>
            <a:noFill/>
          </a:ln>
        </p:spPr>
        <p:txBody>
          <a:bodyPr spcFirstLastPara="1" wrap="square" lIns="18288" tIns="22860" rIns="18288" bIns="22860" anchor="t" anchorCtr="0">
            <a:noAutofit/>
          </a:bodyPr>
          <a:lstStyle/>
          <a:p>
            <a:pPr marL="0" marR="0" lvl="0" indent="0" algn="l" rtl="0">
              <a:lnSpc>
                <a:spcPct val="100000"/>
              </a:lnSpc>
              <a:spcBef>
                <a:spcPts val="0"/>
              </a:spcBef>
              <a:spcAft>
                <a:spcPts val="0"/>
              </a:spcAft>
              <a:buNone/>
              <a:defRPr sz="1125" b="1">
                <a:solidFill>
                  <a:srgbClr val="087E8B"/>
                </a:solidFill>
                <a:latin typeface="Arial"/>
              </a:defRPr>
            </a:pPr>
            <a:r>
              <a:t>PRELIMINARY IMPLICATION</a:t>
            </a:r>
          </a:p>
        </p:txBody>
      </p:sp>
      <p:sp>
        <p:nvSpPr>
          <p:cNvPr id="207" name="Google Shape;207;p12"/>
          <p:cNvSpPr/>
          <p:nvPr/>
        </p:nvSpPr>
        <p:spPr>
          <a:xfrm>
            <a:off x="609600" y="514350"/>
            <a:ext cx="10934700" cy="590550"/>
          </a:xfrm>
          <a:prstGeom prst="rect">
            <a:avLst/>
          </a:prstGeom>
          <a:noFill/>
          <a:ln>
            <a:noFill/>
          </a:ln>
        </p:spPr>
        <p:txBody>
          <a:bodyPr spcFirstLastPara="1" wrap="square" lIns="18288" tIns="22860" rIns="18288" bIns="22860" anchor="t" anchorCtr="0">
            <a:noAutofit/>
          </a:bodyPr>
          <a:lstStyle/>
          <a:p>
            <a:pPr marL="0" marR="0" lvl="0" indent="0" algn="l" rtl="0">
              <a:lnSpc>
                <a:spcPct val="100000"/>
              </a:lnSpc>
              <a:spcBef>
                <a:spcPts val="0"/>
              </a:spcBef>
              <a:spcAft>
                <a:spcPts val="600"/>
              </a:spcAft>
              <a:buNone/>
              <a:defRPr sz="2800" b="1">
                <a:solidFill>
                  <a:srgbClr val="102A43"/>
                </a:solidFill>
                <a:latin typeface="Arial"/>
              </a:defRPr>
            </a:pPr>
            <a:r>
              <a:t>Session/calendar rules must precede the benchmark</a:t>
            </a:r>
          </a:p>
        </p:txBody>
      </p:sp>
      <p:sp>
        <p:nvSpPr>
          <p:cNvPr id="208" name="Google Shape;208;p12"/>
          <p:cNvSpPr/>
          <p:nvPr/>
        </p:nvSpPr>
        <p:spPr>
          <a:xfrm>
            <a:off x="628650" y="1123950"/>
            <a:ext cx="10668000" cy="323850"/>
          </a:xfrm>
          <a:prstGeom prst="rect">
            <a:avLst/>
          </a:prstGeom>
          <a:noFill/>
          <a:ln>
            <a:noFill/>
          </a:ln>
        </p:spPr>
        <p:txBody>
          <a:bodyPr spcFirstLastPara="1" wrap="square" lIns="18288" tIns="22860" rIns="18288" bIns="22860" anchor="t" anchorCtr="0">
            <a:noAutofit/>
          </a:bodyPr>
          <a:lstStyle/>
          <a:p>
            <a:pPr marL="0" marR="0" lvl="0" indent="0" algn="l" rtl="0">
              <a:lnSpc>
                <a:spcPct val="100000"/>
              </a:lnSpc>
              <a:spcBef>
                <a:spcPts val="0"/>
              </a:spcBef>
              <a:spcAft>
                <a:spcPts val="600"/>
              </a:spcAft>
              <a:buNone/>
              <a:defRPr sz="1500" b="0">
                <a:solidFill>
                  <a:srgbClr val="5F6F7A"/>
                </a:solidFill>
                <a:latin typeface="Arial"/>
              </a:defRPr>
            </a:pPr>
            <a:r>
              <a:t>DESCRIPTIVE IMPLICATION | Not an estimator result</a:t>
            </a:r>
          </a:p>
        </p:txBody>
      </p:sp>
      <p:sp>
        <p:nvSpPr>
          <p:cNvPr id="209" name="Google Shape;209;p12"/>
          <p:cNvSpPr/>
          <p:nvPr/>
        </p:nvSpPr>
        <p:spPr>
          <a:xfrm>
            <a:off x="590550" y="6496050"/>
            <a:ext cx="11010900" cy="9525"/>
          </a:xfrm>
          <a:prstGeom prst="rect">
            <a:avLst/>
          </a:prstGeom>
          <a:solidFill>
            <a:srgbClr val="CFD8D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10;p12"/>
          <p:cNvSpPr/>
          <p:nvPr/>
        </p:nvSpPr>
        <p:spPr>
          <a:xfrm>
            <a:off x="609600" y="6572250"/>
            <a:ext cx="4191000" cy="17145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050" b="0">
                <a:solidFill>
                  <a:srgbClr val="5F6F7A"/>
                </a:solidFill>
                <a:latin typeface="Arial"/>
                <a:ea typeface="Arial"/>
                <a:cs typeface="Arial"/>
                <a:sym typeface="Arial"/>
              </a:rPr>
              <a:t>MMF 1941   Project progress update</a:t>
            </a:r>
            <a:endParaRPr/>
          </a:p>
        </p:txBody>
      </p:sp>
      <p:sp>
        <p:nvSpPr>
          <p:cNvPr id="211" name="Google Shape;211;p12"/>
          <p:cNvSpPr/>
          <p:nvPr/>
        </p:nvSpPr>
        <p:spPr>
          <a:xfrm>
            <a:off x="11049000" y="6543675"/>
            <a:ext cx="533400" cy="190500"/>
          </a:xfrm>
          <a:prstGeom prst="rect">
            <a:avLst/>
          </a:prstGeom>
          <a:noFill/>
          <a:ln>
            <a:noFill/>
          </a:ln>
        </p:spPr>
        <p:txBody>
          <a:bodyPr spcFirstLastPara="1" wrap="square" lIns="18288" tIns="22860" rIns="18288" bIns="22860" anchor="t" anchorCtr="0">
            <a:noAutofit/>
          </a:bodyPr>
          <a:lstStyle/>
          <a:p>
            <a:pPr marL="0" marR="0" lvl="0" indent="0" algn="r" rtl="0">
              <a:lnSpc>
                <a:spcPct val="100000"/>
              </a:lnSpc>
              <a:spcBef>
                <a:spcPts val="0"/>
              </a:spcBef>
              <a:spcAft>
                <a:spcPts val="0"/>
              </a:spcAft>
              <a:buNone/>
              <a:defRPr sz="1125" b="0">
                <a:solidFill>
                  <a:srgbClr val="102A43"/>
                </a:solidFill>
                <a:latin typeface="Arial"/>
              </a:defRPr>
            </a:pPr>
            <a:r>
              <a:t>10</a:t>
            </a:r>
          </a:p>
        </p:txBody>
      </p:sp>
      <p:graphicFrame>
        <p:nvGraphicFramePr>
          <p:cNvPr id="212" name="Table 211"/>
          <p:cNvGraphicFramePr>
            <a:graphicFrameLocks noGrp="1"/>
          </p:cNvGraphicFramePr>
          <p:nvPr/>
        </p:nvGraphicFramePr>
        <p:xfrm>
          <a:off x="640080" y="1645920"/>
          <a:ext cx="8869680" cy="3931920"/>
        </p:xfrm>
        <a:graphic>
          <a:graphicData uri="http://schemas.openxmlformats.org/drawingml/2006/table">
            <a:tbl>
              <a:tblPr firstRow="1" bandRow="1">
                <a:tableStyleId>{5C22544A-7EE6-4342-B048-85BDC9FD1C3A}</a:tableStyleId>
              </a:tblPr>
              <a:tblGrid>
                <a:gridCol w="164592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3154680">
                  <a:extLst>
                    <a:ext uri="{9D8B030D-6E8A-4147-A177-3AD203B41FA5}">
                      <a16:colId xmlns:a16="http://schemas.microsoft.com/office/drawing/2014/main" val="20002"/>
                    </a:ext>
                  </a:extLst>
                </a:gridCol>
                <a:gridCol w="2240280">
                  <a:extLst>
                    <a:ext uri="{9D8B030D-6E8A-4147-A177-3AD203B41FA5}">
                      <a16:colId xmlns:a16="http://schemas.microsoft.com/office/drawing/2014/main" val="20003"/>
                    </a:ext>
                  </a:extLst>
                </a:gridCol>
              </a:tblGrid>
              <a:tr h="436880">
                <a:tc>
                  <a:txBody>
                    <a:bodyPr/>
                    <a:lstStyle/>
                    <a:p>
                      <a:pPr>
                        <a:lnSpc>
                          <a:spcPct val="100000"/>
                        </a:lnSpc>
                        <a:spcAft>
                          <a:spcPts val="600"/>
                        </a:spcAft>
                        <a:defRPr sz="1600" b="1">
                          <a:solidFill>
                            <a:srgbClr val="FFFFFF"/>
                          </a:solidFill>
                          <a:latin typeface="Arial"/>
                        </a:defRPr>
                      </a:pPr>
                      <a:r>
                        <a:t>Asset</a:t>
                      </a:r>
                    </a:p>
                  </a:txBody>
                  <a:tcPr marT="64008" marB="64008" anchor="ctr">
                    <a:solidFill>
                      <a:srgbClr val="102A43"/>
                    </a:solidFill>
                  </a:tcPr>
                </a:tc>
                <a:tc>
                  <a:txBody>
                    <a:bodyPr/>
                    <a:lstStyle/>
                    <a:p>
                      <a:pPr>
                        <a:lnSpc>
                          <a:spcPct val="100000"/>
                        </a:lnSpc>
                        <a:spcAft>
                          <a:spcPts val="600"/>
                        </a:spcAft>
                        <a:defRPr sz="1600" b="1">
                          <a:solidFill>
                            <a:srgbClr val="FFFFFF"/>
                          </a:solidFill>
                          <a:latin typeface="Arial"/>
                        </a:defRPr>
                      </a:pPr>
                      <a:r>
                        <a:t>Observed dates</a:t>
                      </a:r>
                    </a:p>
                  </a:txBody>
                  <a:tcPr marT="64008" marB="64008" anchor="ctr">
                    <a:solidFill>
                      <a:srgbClr val="102A43"/>
                    </a:solidFill>
                  </a:tcPr>
                </a:tc>
                <a:tc>
                  <a:txBody>
                    <a:bodyPr/>
                    <a:lstStyle/>
                    <a:p>
                      <a:pPr>
                        <a:lnSpc>
                          <a:spcPct val="100000"/>
                        </a:lnSpc>
                        <a:spcAft>
                          <a:spcPts val="600"/>
                        </a:spcAft>
                        <a:defRPr sz="1600" b="1">
                          <a:solidFill>
                            <a:srgbClr val="FFFFFF"/>
                          </a:solidFill>
                          <a:latin typeface="Arial"/>
                        </a:defRPr>
                      </a:pPr>
                      <a:r>
                        <a:t>Median rows / observed day</a:t>
                      </a:r>
                    </a:p>
                  </a:txBody>
                  <a:tcPr marT="64008" marB="64008" anchor="ctr">
                    <a:solidFill>
                      <a:srgbClr val="102A43"/>
                    </a:solidFill>
                  </a:tcPr>
                </a:tc>
                <a:tc>
                  <a:txBody>
                    <a:bodyPr/>
                    <a:lstStyle/>
                    <a:p>
                      <a:pPr>
                        <a:lnSpc>
                          <a:spcPct val="100000"/>
                        </a:lnSpc>
                        <a:spcAft>
                          <a:spcPts val="600"/>
                        </a:spcAft>
                        <a:defRPr sz="1600" b="1">
                          <a:solidFill>
                            <a:srgbClr val="FFFFFF"/>
                          </a:solidFill>
                          <a:latin typeface="Arial"/>
                        </a:defRPr>
                      </a:pPr>
                      <a:r>
                        <a:t>Min - max</a:t>
                      </a:r>
                    </a:p>
                  </a:txBody>
                  <a:tcPr marT="64008" marB="64008" anchor="ctr">
                    <a:solidFill>
                      <a:srgbClr val="102A43"/>
                    </a:solidFill>
                  </a:tcPr>
                </a:tc>
                <a:extLst>
                  <a:ext uri="{0D108BD9-81ED-4DB2-BD59-A6C34878D82A}">
                    <a16:rowId xmlns:a16="http://schemas.microsoft.com/office/drawing/2014/main" val="10000"/>
                  </a:ext>
                </a:extLst>
              </a:tr>
              <a:tr h="436880">
                <a:tc>
                  <a:txBody>
                    <a:bodyPr/>
                    <a:lstStyle/>
                    <a:p>
                      <a:pPr>
                        <a:lnSpc>
                          <a:spcPct val="100000"/>
                        </a:lnSpc>
                        <a:spcAft>
                          <a:spcPts val="600"/>
                        </a:spcAft>
                        <a:defRPr sz="1600" b="0">
                          <a:solidFill>
                            <a:srgbClr val="172B3A"/>
                          </a:solidFill>
                          <a:latin typeface="Arial"/>
                        </a:defRPr>
                      </a:pPr>
                      <a:r>
                        <a:t>AAPL</a:t>
                      </a:r>
                    </a:p>
                  </a:txBody>
                  <a:tcPr marT="64008" marB="64008" anchor="ctr">
                    <a:solidFill>
                      <a:srgbClr val="F2F5F7"/>
                    </a:solidFill>
                  </a:tcPr>
                </a:tc>
                <a:tc>
                  <a:txBody>
                    <a:bodyPr/>
                    <a:lstStyle/>
                    <a:p>
                      <a:pPr>
                        <a:lnSpc>
                          <a:spcPct val="100000"/>
                        </a:lnSpc>
                        <a:spcAft>
                          <a:spcPts val="600"/>
                        </a:spcAft>
                        <a:defRPr sz="1600" b="0">
                          <a:solidFill>
                            <a:srgbClr val="172B3A"/>
                          </a:solidFill>
                          <a:latin typeface="Arial"/>
                        </a:defRPr>
                      </a:pPr>
                      <a:r>
                        <a:t>10</a:t>
                      </a:r>
                    </a:p>
                  </a:txBody>
                  <a:tcPr marT="64008" marB="64008" anchor="ctr">
                    <a:solidFill>
                      <a:srgbClr val="F2F5F7"/>
                    </a:solidFill>
                  </a:tcPr>
                </a:tc>
                <a:tc>
                  <a:txBody>
                    <a:bodyPr/>
                    <a:lstStyle/>
                    <a:p>
                      <a:pPr>
                        <a:lnSpc>
                          <a:spcPct val="100000"/>
                        </a:lnSpc>
                        <a:spcAft>
                          <a:spcPts val="600"/>
                        </a:spcAft>
                        <a:defRPr sz="1600" b="0">
                          <a:solidFill>
                            <a:srgbClr val="172B3A"/>
                          </a:solidFill>
                          <a:latin typeface="Arial"/>
                        </a:defRPr>
                      </a:pPr>
                      <a:r>
                        <a:t>697.5</a:t>
                      </a:r>
                    </a:p>
                  </a:txBody>
                  <a:tcPr marT="64008" marB="64008" anchor="ctr">
                    <a:solidFill>
                      <a:srgbClr val="F2F5F7"/>
                    </a:solidFill>
                  </a:tcPr>
                </a:tc>
                <a:tc>
                  <a:txBody>
                    <a:bodyPr/>
                    <a:lstStyle/>
                    <a:p>
                      <a:pPr>
                        <a:lnSpc>
                          <a:spcPct val="100000"/>
                        </a:lnSpc>
                        <a:spcAft>
                          <a:spcPts val="600"/>
                        </a:spcAft>
                        <a:defRPr sz="1600" b="0">
                          <a:solidFill>
                            <a:srgbClr val="172B3A"/>
                          </a:solidFill>
                          <a:latin typeface="Arial"/>
                        </a:defRPr>
                      </a:pPr>
                      <a:r>
                        <a:t>656 - 863</a:t>
                      </a:r>
                    </a:p>
                  </a:txBody>
                  <a:tcPr marT="64008" marB="64008" anchor="ctr">
                    <a:solidFill>
                      <a:srgbClr val="F2F5F7"/>
                    </a:solidFill>
                  </a:tcPr>
                </a:tc>
                <a:extLst>
                  <a:ext uri="{0D108BD9-81ED-4DB2-BD59-A6C34878D82A}">
                    <a16:rowId xmlns:a16="http://schemas.microsoft.com/office/drawing/2014/main" val="10001"/>
                  </a:ext>
                </a:extLst>
              </a:tr>
              <a:tr h="436880">
                <a:tc>
                  <a:txBody>
                    <a:bodyPr/>
                    <a:lstStyle/>
                    <a:p>
                      <a:pPr>
                        <a:lnSpc>
                          <a:spcPct val="100000"/>
                        </a:lnSpc>
                        <a:spcAft>
                          <a:spcPts val="600"/>
                        </a:spcAft>
                        <a:defRPr sz="1600" b="0">
                          <a:solidFill>
                            <a:srgbClr val="172B3A"/>
                          </a:solidFill>
                          <a:latin typeface="Arial"/>
                        </a:defRPr>
                      </a:pPr>
                      <a:r>
                        <a:t>GME</a:t>
                      </a:r>
                    </a:p>
                  </a:txBody>
                  <a:tcPr marT="64008" marB="64008" anchor="ctr">
                    <a:solidFill>
                      <a:srgbClr val="FFFFFF"/>
                    </a:solidFill>
                  </a:tcPr>
                </a:tc>
                <a:tc>
                  <a:txBody>
                    <a:bodyPr/>
                    <a:lstStyle/>
                    <a:p>
                      <a:pPr>
                        <a:lnSpc>
                          <a:spcPct val="100000"/>
                        </a:lnSpc>
                        <a:spcAft>
                          <a:spcPts val="600"/>
                        </a:spcAft>
                        <a:defRPr sz="1600" b="0">
                          <a:solidFill>
                            <a:srgbClr val="172B3A"/>
                          </a:solidFill>
                          <a:latin typeface="Arial"/>
                        </a:defRPr>
                      </a:pPr>
                      <a:r>
                        <a:t>10</a:t>
                      </a:r>
                    </a:p>
                  </a:txBody>
                  <a:tcPr marT="64008" marB="64008" anchor="ctr">
                    <a:solidFill>
                      <a:srgbClr val="FFFFFF"/>
                    </a:solidFill>
                  </a:tcPr>
                </a:tc>
                <a:tc>
                  <a:txBody>
                    <a:bodyPr/>
                    <a:lstStyle/>
                    <a:p>
                      <a:pPr>
                        <a:lnSpc>
                          <a:spcPct val="100000"/>
                        </a:lnSpc>
                        <a:spcAft>
                          <a:spcPts val="600"/>
                        </a:spcAft>
                        <a:defRPr sz="1600" b="0">
                          <a:solidFill>
                            <a:srgbClr val="172B3A"/>
                          </a:solidFill>
                          <a:latin typeface="Arial"/>
                        </a:defRPr>
                      </a:pPr>
                      <a:r>
                        <a:t>764.0</a:t>
                      </a:r>
                    </a:p>
                  </a:txBody>
                  <a:tcPr marT="64008" marB="64008" anchor="ctr">
                    <a:solidFill>
                      <a:srgbClr val="FFFFFF"/>
                    </a:solidFill>
                  </a:tcPr>
                </a:tc>
                <a:tc>
                  <a:txBody>
                    <a:bodyPr/>
                    <a:lstStyle/>
                    <a:p>
                      <a:pPr>
                        <a:lnSpc>
                          <a:spcPct val="100000"/>
                        </a:lnSpc>
                        <a:spcAft>
                          <a:spcPts val="600"/>
                        </a:spcAft>
                        <a:defRPr sz="1600" b="0">
                          <a:solidFill>
                            <a:srgbClr val="172B3A"/>
                          </a:solidFill>
                          <a:latin typeface="Arial"/>
                        </a:defRPr>
                      </a:pPr>
                      <a:r>
                        <a:t>632 - 897</a:t>
                      </a:r>
                    </a:p>
                  </a:txBody>
                  <a:tcPr marT="64008" marB="64008" anchor="ctr">
                    <a:solidFill>
                      <a:srgbClr val="FFFFFF"/>
                    </a:solidFill>
                  </a:tcPr>
                </a:tc>
                <a:extLst>
                  <a:ext uri="{0D108BD9-81ED-4DB2-BD59-A6C34878D82A}">
                    <a16:rowId xmlns:a16="http://schemas.microsoft.com/office/drawing/2014/main" val="10002"/>
                  </a:ext>
                </a:extLst>
              </a:tr>
              <a:tr h="436880">
                <a:tc>
                  <a:txBody>
                    <a:bodyPr/>
                    <a:lstStyle/>
                    <a:p>
                      <a:pPr>
                        <a:lnSpc>
                          <a:spcPct val="100000"/>
                        </a:lnSpc>
                        <a:spcAft>
                          <a:spcPts val="600"/>
                        </a:spcAft>
                        <a:defRPr sz="1600" b="0">
                          <a:solidFill>
                            <a:srgbClr val="172B3A"/>
                          </a:solidFill>
                          <a:latin typeface="Arial"/>
                        </a:defRPr>
                      </a:pPr>
                      <a:r>
                        <a:t>SPY</a:t>
                      </a:r>
                    </a:p>
                  </a:txBody>
                  <a:tcPr marT="64008" marB="64008" anchor="ctr">
                    <a:solidFill>
                      <a:srgbClr val="F2F5F7"/>
                    </a:solidFill>
                  </a:tcPr>
                </a:tc>
                <a:tc>
                  <a:txBody>
                    <a:bodyPr/>
                    <a:lstStyle/>
                    <a:p>
                      <a:pPr>
                        <a:lnSpc>
                          <a:spcPct val="100000"/>
                        </a:lnSpc>
                        <a:spcAft>
                          <a:spcPts val="600"/>
                        </a:spcAft>
                        <a:defRPr sz="1600" b="0">
                          <a:solidFill>
                            <a:srgbClr val="172B3A"/>
                          </a:solidFill>
                          <a:latin typeface="Arial"/>
                        </a:defRPr>
                      </a:pPr>
                      <a:r>
                        <a:t>10</a:t>
                      </a:r>
                    </a:p>
                  </a:txBody>
                  <a:tcPr marT="64008" marB="64008" anchor="ctr">
                    <a:solidFill>
                      <a:srgbClr val="F2F5F7"/>
                    </a:solidFill>
                  </a:tcPr>
                </a:tc>
                <a:tc>
                  <a:txBody>
                    <a:bodyPr/>
                    <a:lstStyle/>
                    <a:p>
                      <a:pPr>
                        <a:lnSpc>
                          <a:spcPct val="100000"/>
                        </a:lnSpc>
                        <a:spcAft>
                          <a:spcPts val="600"/>
                        </a:spcAft>
                        <a:defRPr sz="1600" b="0">
                          <a:solidFill>
                            <a:srgbClr val="172B3A"/>
                          </a:solidFill>
                          <a:latin typeface="Arial"/>
                        </a:defRPr>
                      </a:pPr>
                      <a:r>
                        <a:t>805.5</a:t>
                      </a:r>
                    </a:p>
                  </a:txBody>
                  <a:tcPr marT="64008" marB="64008" anchor="ctr">
                    <a:solidFill>
                      <a:srgbClr val="F2F5F7"/>
                    </a:solidFill>
                  </a:tcPr>
                </a:tc>
                <a:tc>
                  <a:txBody>
                    <a:bodyPr/>
                    <a:lstStyle/>
                    <a:p>
                      <a:pPr>
                        <a:lnSpc>
                          <a:spcPct val="100000"/>
                        </a:lnSpc>
                        <a:spcAft>
                          <a:spcPts val="600"/>
                        </a:spcAft>
                        <a:defRPr sz="1600" b="0">
                          <a:solidFill>
                            <a:srgbClr val="172B3A"/>
                          </a:solidFill>
                          <a:latin typeface="Arial"/>
                        </a:defRPr>
                      </a:pPr>
                      <a:r>
                        <a:t>763 - 917</a:t>
                      </a:r>
                    </a:p>
                  </a:txBody>
                  <a:tcPr marT="64008" marB="64008" anchor="ctr">
                    <a:solidFill>
                      <a:srgbClr val="F2F5F7"/>
                    </a:solidFill>
                  </a:tcPr>
                </a:tc>
                <a:extLst>
                  <a:ext uri="{0D108BD9-81ED-4DB2-BD59-A6C34878D82A}">
                    <a16:rowId xmlns:a16="http://schemas.microsoft.com/office/drawing/2014/main" val="10003"/>
                  </a:ext>
                </a:extLst>
              </a:tr>
              <a:tr h="436880">
                <a:tc>
                  <a:txBody>
                    <a:bodyPr/>
                    <a:lstStyle/>
                    <a:p>
                      <a:pPr>
                        <a:lnSpc>
                          <a:spcPct val="100000"/>
                        </a:lnSpc>
                        <a:spcAft>
                          <a:spcPts val="600"/>
                        </a:spcAft>
                        <a:defRPr sz="1600" b="0">
                          <a:solidFill>
                            <a:srgbClr val="172B3A"/>
                          </a:solidFill>
                          <a:latin typeface="Arial"/>
                        </a:defRPr>
                      </a:pPr>
                      <a:r>
                        <a:t>IWM</a:t>
                      </a:r>
                    </a:p>
                  </a:txBody>
                  <a:tcPr marT="64008" marB="64008" anchor="ctr">
                    <a:solidFill>
                      <a:srgbClr val="FFFFFF"/>
                    </a:solidFill>
                  </a:tcPr>
                </a:tc>
                <a:tc>
                  <a:txBody>
                    <a:bodyPr/>
                    <a:lstStyle/>
                    <a:p>
                      <a:pPr>
                        <a:lnSpc>
                          <a:spcPct val="100000"/>
                        </a:lnSpc>
                        <a:spcAft>
                          <a:spcPts val="600"/>
                        </a:spcAft>
                        <a:defRPr sz="1600" b="0">
                          <a:solidFill>
                            <a:srgbClr val="172B3A"/>
                          </a:solidFill>
                          <a:latin typeface="Arial"/>
                        </a:defRPr>
                      </a:pPr>
                      <a:r>
                        <a:t>10</a:t>
                      </a:r>
                    </a:p>
                  </a:txBody>
                  <a:tcPr marT="64008" marB="64008" anchor="ctr">
                    <a:solidFill>
                      <a:srgbClr val="FFFFFF"/>
                    </a:solidFill>
                  </a:tcPr>
                </a:tc>
                <a:tc>
                  <a:txBody>
                    <a:bodyPr/>
                    <a:lstStyle/>
                    <a:p>
                      <a:pPr>
                        <a:lnSpc>
                          <a:spcPct val="100000"/>
                        </a:lnSpc>
                        <a:spcAft>
                          <a:spcPts val="600"/>
                        </a:spcAft>
                        <a:defRPr sz="1600" b="0">
                          <a:solidFill>
                            <a:srgbClr val="172B3A"/>
                          </a:solidFill>
                          <a:latin typeface="Arial"/>
                        </a:defRPr>
                      </a:pPr>
                      <a:r>
                        <a:t>757.5</a:t>
                      </a:r>
                    </a:p>
                  </a:txBody>
                  <a:tcPr marT="64008" marB="64008" anchor="ctr">
                    <a:solidFill>
                      <a:srgbClr val="FFFFFF"/>
                    </a:solidFill>
                  </a:tcPr>
                </a:tc>
                <a:tc>
                  <a:txBody>
                    <a:bodyPr/>
                    <a:lstStyle/>
                    <a:p>
                      <a:pPr>
                        <a:lnSpc>
                          <a:spcPct val="100000"/>
                        </a:lnSpc>
                        <a:spcAft>
                          <a:spcPts val="600"/>
                        </a:spcAft>
                        <a:defRPr sz="1600" b="0">
                          <a:solidFill>
                            <a:srgbClr val="172B3A"/>
                          </a:solidFill>
                          <a:latin typeface="Arial"/>
                        </a:defRPr>
                      </a:pPr>
                      <a:r>
                        <a:t>728 - 864</a:t>
                      </a:r>
                    </a:p>
                  </a:txBody>
                  <a:tcPr marT="64008" marB="64008" anchor="ctr">
                    <a:solidFill>
                      <a:srgbClr val="FFFFFF"/>
                    </a:solidFill>
                  </a:tcPr>
                </a:tc>
                <a:extLst>
                  <a:ext uri="{0D108BD9-81ED-4DB2-BD59-A6C34878D82A}">
                    <a16:rowId xmlns:a16="http://schemas.microsoft.com/office/drawing/2014/main" val="10004"/>
                  </a:ext>
                </a:extLst>
              </a:tr>
              <a:tr h="436880">
                <a:tc>
                  <a:txBody>
                    <a:bodyPr/>
                    <a:lstStyle/>
                    <a:p>
                      <a:pPr>
                        <a:lnSpc>
                          <a:spcPct val="100000"/>
                        </a:lnSpc>
                        <a:spcAft>
                          <a:spcPts val="600"/>
                        </a:spcAft>
                        <a:defRPr sz="1600" b="0">
                          <a:solidFill>
                            <a:srgbClr val="172B3A"/>
                          </a:solidFill>
                          <a:latin typeface="Arial"/>
                        </a:defRPr>
                      </a:pPr>
                      <a:r>
                        <a:t>ES_Z24</a:t>
                      </a:r>
                    </a:p>
                  </a:txBody>
                  <a:tcPr marT="64008" marB="64008" anchor="ctr">
                    <a:solidFill>
                      <a:srgbClr val="F2F5F7"/>
                    </a:solidFill>
                  </a:tcPr>
                </a:tc>
                <a:tc>
                  <a:txBody>
                    <a:bodyPr/>
                    <a:lstStyle/>
                    <a:p>
                      <a:pPr>
                        <a:lnSpc>
                          <a:spcPct val="100000"/>
                        </a:lnSpc>
                        <a:spcAft>
                          <a:spcPts val="600"/>
                        </a:spcAft>
                        <a:defRPr sz="1600" b="0">
                          <a:solidFill>
                            <a:srgbClr val="172B3A"/>
                          </a:solidFill>
                          <a:latin typeface="Arial"/>
                        </a:defRPr>
                      </a:pPr>
                      <a:r>
                        <a:t>11</a:t>
                      </a:r>
                    </a:p>
                  </a:txBody>
                  <a:tcPr marT="64008" marB="64008" anchor="ctr">
                    <a:solidFill>
                      <a:srgbClr val="F2F5F7"/>
                    </a:solidFill>
                  </a:tcPr>
                </a:tc>
                <a:tc>
                  <a:txBody>
                    <a:bodyPr/>
                    <a:lstStyle/>
                    <a:p>
                      <a:pPr>
                        <a:lnSpc>
                          <a:spcPct val="100000"/>
                        </a:lnSpc>
                        <a:spcAft>
                          <a:spcPts val="600"/>
                        </a:spcAft>
                        <a:defRPr sz="1600" b="0">
                          <a:solidFill>
                            <a:srgbClr val="172B3A"/>
                          </a:solidFill>
                          <a:latin typeface="Arial"/>
                        </a:defRPr>
                      </a:pPr>
                      <a:r>
                        <a:t>1,380.0</a:t>
                      </a:r>
                    </a:p>
                  </a:txBody>
                  <a:tcPr marT="64008" marB="64008" anchor="ctr">
                    <a:solidFill>
                      <a:srgbClr val="F2F5F7"/>
                    </a:solidFill>
                  </a:tcPr>
                </a:tc>
                <a:tc>
                  <a:txBody>
                    <a:bodyPr/>
                    <a:lstStyle/>
                    <a:p>
                      <a:pPr>
                        <a:lnSpc>
                          <a:spcPct val="100000"/>
                        </a:lnSpc>
                        <a:spcAft>
                          <a:spcPts val="600"/>
                        </a:spcAft>
                        <a:defRPr sz="1600" b="0">
                          <a:solidFill>
                            <a:srgbClr val="172B3A"/>
                          </a:solidFill>
                          <a:latin typeface="Arial"/>
                        </a:defRPr>
                      </a:pPr>
                      <a:r>
                        <a:t>360 - 1,380</a:t>
                      </a:r>
                    </a:p>
                  </a:txBody>
                  <a:tcPr marT="64008" marB="64008" anchor="ctr">
                    <a:solidFill>
                      <a:srgbClr val="F2F5F7"/>
                    </a:solidFill>
                  </a:tcPr>
                </a:tc>
                <a:extLst>
                  <a:ext uri="{0D108BD9-81ED-4DB2-BD59-A6C34878D82A}">
                    <a16:rowId xmlns:a16="http://schemas.microsoft.com/office/drawing/2014/main" val="10005"/>
                  </a:ext>
                </a:extLst>
              </a:tr>
              <a:tr h="436880">
                <a:tc>
                  <a:txBody>
                    <a:bodyPr/>
                    <a:lstStyle/>
                    <a:p>
                      <a:pPr>
                        <a:lnSpc>
                          <a:spcPct val="100000"/>
                        </a:lnSpc>
                        <a:spcAft>
                          <a:spcPts val="600"/>
                        </a:spcAft>
                        <a:defRPr sz="1600" b="0">
                          <a:solidFill>
                            <a:srgbClr val="172B3A"/>
                          </a:solidFill>
                          <a:latin typeface="Arial"/>
                        </a:defRPr>
                      </a:pPr>
                      <a:r>
                        <a:t>CL_Z24</a:t>
                      </a:r>
                    </a:p>
                  </a:txBody>
                  <a:tcPr marT="64008" marB="64008" anchor="ctr">
                    <a:solidFill>
                      <a:srgbClr val="FFFFFF"/>
                    </a:solidFill>
                  </a:tcPr>
                </a:tc>
                <a:tc>
                  <a:txBody>
                    <a:bodyPr/>
                    <a:lstStyle/>
                    <a:p>
                      <a:pPr>
                        <a:lnSpc>
                          <a:spcPct val="100000"/>
                        </a:lnSpc>
                        <a:spcAft>
                          <a:spcPts val="600"/>
                        </a:spcAft>
                        <a:defRPr sz="1600" b="0">
                          <a:solidFill>
                            <a:srgbClr val="172B3A"/>
                          </a:solidFill>
                          <a:latin typeface="Arial"/>
                        </a:defRPr>
                      </a:pPr>
                      <a:r>
                        <a:t>11</a:t>
                      </a:r>
                    </a:p>
                  </a:txBody>
                  <a:tcPr marT="64008" marB="64008" anchor="ctr">
                    <a:solidFill>
                      <a:srgbClr val="FFFFFF"/>
                    </a:solidFill>
                  </a:tcPr>
                </a:tc>
                <a:tc>
                  <a:txBody>
                    <a:bodyPr/>
                    <a:lstStyle/>
                    <a:p>
                      <a:pPr>
                        <a:lnSpc>
                          <a:spcPct val="100000"/>
                        </a:lnSpc>
                        <a:spcAft>
                          <a:spcPts val="600"/>
                        </a:spcAft>
                        <a:defRPr sz="1600" b="0">
                          <a:solidFill>
                            <a:srgbClr val="172B3A"/>
                          </a:solidFill>
                          <a:latin typeface="Arial"/>
                        </a:defRPr>
                      </a:pPr>
                      <a:r>
                        <a:t>1,361.0</a:t>
                      </a:r>
                    </a:p>
                  </a:txBody>
                  <a:tcPr marT="64008" marB="64008" anchor="ctr">
                    <a:solidFill>
                      <a:srgbClr val="FFFFFF"/>
                    </a:solidFill>
                  </a:tcPr>
                </a:tc>
                <a:tc>
                  <a:txBody>
                    <a:bodyPr/>
                    <a:lstStyle/>
                    <a:p>
                      <a:pPr>
                        <a:lnSpc>
                          <a:spcPct val="100000"/>
                        </a:lnSpc>
                        <a:spcAft>
                          <a:spcPts val="600"/>
                        </a:spcAft>
                        <a:defRPr sz="1600" b="0">
                          <a:solidFill>
                            <a:srgbClr val="172B3A"/>
                          </a:solidFill>
                          <a:latin typeface="Arial"/>
                        </a:defRPr>
                      </a:pPr>
                      <a:r>
                        <a:t>357 - 1,378</a:t>
                      </a:r>
                    </a:p>
                  </a:txBody>
                  <a:tcPr marT="64008" marB="64008" anchor="ctr">
                    <a:solidFill>
                      <a:srgbClr val="FFFFFF"/>
                    </a:solidFill>
                  </a:tcPr>
                </a:tc>
                <a:extLst>
                  <a:ext uri="{0D108BD9-81ED-4DB2-BD59-A6C34878D82A}">
                    <a16:rowId xmlns:a16="http://schemas.microsoft.com/office/drawing/2014/main" val="10006"/>
                  </a:ext>
                </a:extLst>
              </a:tr>
              <a:tr h="436880">
                <a:tc>
                  <a:txBody>
                    <a:bodyPr/>
                    <a:lstStyle/>
                    <a:p>
                      <a:pPr>
                        <a:lnSpc>
                          <a:spcPct val="100000"/>
                        </a:lnSpc>
                        <a:spcAft>
                          <a:spcPts val="600"/>
                        </a:spcAft>
                        <a:defRPr sz="1600" b="0">
                          <a:solidFill>
                            <a:srgbClr val="172B3A"/>
                          </a:solidFill>
                          <a:latin typeface="Arial"/>
                        </a:defRPr>
                      </a:pPr>
                      <a:r>
                        <a:t>BTC</a:t>
                      </a:r>
                    </a:p>
                  </a:txBody>
                  <a:tcPr marT="64008" marB="64008" anchor="ctr">
                    <a:solidFill>
                      <a:srgbClr val="F2F5F7"/>
                    </a:solidFill>
                  </a:tcPr>
                </a:tc>
                <a:tc>
                  <a:txBody>
                    <a:bodyPr/>
                    <a:lstStyle/>
                    <a:p>
                      <a:pPr>
                        <a:lnSpc>
                          <a:spcPct val="100000"/>
                        </a:lnSpc>
                        <a:spcAft>
                          <a:spcPts val="600"/>
                        </a:spcAft>
                        <a:defRPr sz="1600" b="0">
                          <a:solidFill>
                            <a:srgbClr val="172B3A"/>
                          </a:solidFill>
                          <a:latin typeface="Arial"/>
                        </a:defRPr>
                      </a:pPr>
                      <a:r>
                        <a:t>12</a:t>
                      </a:r>
                    </a:p>
                  </a:txBody>
                  <a:tcPr marT="64008" marB="64008" anchor="ctr">
                    <a:solidFill>
                      <a:srgbClr val="F2F5F7"/>
                    </a:solidFill>
                  </a:tcPr>
                </a:tc>
                <a:tc>
                  <a:txBody>
                    <a:bodyPr/>
                    <a:lstStyle/>
                    <a:p>
                      <a:pPr>
                        <a:lnSpc>
                          <a:spcPct val="100000"/>
                        </a:lnSpc>
                        <a:spcAft>
                          <a:spcPts val="600"/>
                        </a:spcAft>
                        <a:defRPr sz="1600" b="0">
                          <a:solidFill>
                            <a:srgbClr val="172B3A"/>
                          </a:solidFill>
                          <a:latin typeface="Arial"/>
                        </a:defRPr>
                      </a:pPr>
                      <a:r>
                        <a:t>1,440.0</a:t>
                      </a:r>
                    </a:p>
                  </a:txBody>
                  <a:tcPr marT="64008" marB="64008" anchor="ctr">
                    <a:solidFill>
                      <a:srgbClr val="F2F5F7"/>
                    </a:solidFill>
                  </a:tcPr>
                </a:tc>
                <a:tc>
                  <a:txBody>
                    <a:bodyPr/>
                    <a:lstStyle/>
                    <a:p>
                      <a:pPr>
                        <a:lnSpc>
                          <a:spcPct val="100000"/>
                        </a:lnSpc>
                        <a:spcAft>
                          <a:spcPts val="600"/>
                        </a:spcAft>
                        <a:defRPr sz="1600" b="0">
                          <a:solidFill>
                            <a:srgbClr val="172B3A"/>
                          </a:solidFill>
                          <a:latin typeface="Arial"/>
                        </a:defRPr>
                      </a:pPr>
                      <a:r>
                        <a:t>1,440 - 1,440</a:t>
                      </a:r>
                    </a:p>
                  </a:txBody>
                  <a:tcPr marT="64008" marB="64008" anchor="ctr">
                    <a:solidFill>
                      <a:srgbClr val="F2F5F7"/>
                    </a:solidFill>
                  </a:tcPr>
                </a:tc>
                <a:extLst>
                  <a:ext uri="{0D108BD9-81ED-4DB2-BD59-A6C34878D82A}">
                    <a16:rowId xmlns:a16="http://schemas.microsoft.com/office/drawing/2014/main" val="10007"/>
                  </a:ext>
                </a:extLst>
              </a:tr>
              <a:tr h="436880">
                <a:tc>
                  <a:txBody>
                    <a:bodyPr/>
                    <a:lstStyle/>
                    <a:p>
                      <a:pPr>
                        <a:lnSpc>
                          <a:spcPct val="100000"/>
                        </a:lnSpc>
                        <a:spcAft>
                          <a:spcPts val="600"/>
                        </a:spcAft>
                        <a:defRPr sz="1600" b="0">
                          <a:solidFill>
                            <a:srgbClr val="172B3A"/>
                          </a:solidFill>
                          <a:latin typeface="Arial"/>
                        </a:defRPr>
                      </a:pPr>
                      <a:r>
                        <a:t>ETH</a:t>
                      </a:r>
                    </a:p>
                  </a:txBody>
                  <a:tcPr marT="64008" marB="64008" anchor="ctr">
                    <a:solidFill>
                      <a:srgbClr val="FFFFFF"/>
                    </a:solidFill>
                  </a:tcPr>
                </a:tc>
                <a:tc>
                  <a:txBody>
                    <a:bodyPr/>
                    <a:lstStyle/>
                    <a:p>
                      <a:pPr>
                        <a:lnSpc>
                          <a:spcPct val="100000"/>
                        </a:lnSpc>
                        <a:spcAft>
                          <a:spcPts val="600"/>
                        </a:spcAft>
                        <a:defRPr sz="1600" b="0">
                          <a:solidFill>
                            <a:srgbClr val="172B3A"/>
                          </a:solidFill>
                          <a:latin typeface="Arial"/>
                        </a:defRPr>
                      </a:pPr>
                      <a:r>
                        <a:t>12</a:t>
                      </a:r>
                    </a:p>
                  </a:txBody>
                  <a:tcPr marT="64008" marB="64008" anchor="ctr">
                    <a:solidFill>
                      <a:srgbClr val="FFFFFF"/>
                    </a:solidFill>
                  </a:tcPr>
                </a:tc>
                <a:tc>
                  <a:txBody>
                    <a:bodyPr/>
                    <a:lstStyle/>
                    <a:p>
                      <a:pPr>
                        <a:lnSpc>
                          <a:spcPct val="100000"/>
                        </a:lnSpc>
                        <a:spcAft>
                          <a:spcPts val="600"/>
                        </a:spcAft>
                        <a:defRPr sz="1600" b="0">
                          <a:solidFill>
                            <a:srgbClr val="172B3A"/>
                          </a:solidFill>
                          <a:latin typeface="Arial"/>
                        </a:defRPr>
                      </a:pPr>
                      <a:r>
                        <a:t>1,440.0</a:t>
                      </a:r>
                    </a:p>
                  </a:txBody>
                  <a:tcPr marT="64008" marB="64008" anchor="ctr">
                    <a:solidFill>
                      <a:srgbClr val="FFFFFF"/>
                    </a:solidFill>
                  </a:tcPr>
                </a:tc>
                <a:tc>
                  <a:txBody>
                    <a:bodyPr/>
                    <a:lstStyle/>
                    <a:p>
                      <a:pPr>
                        <a:lnSpc>
                          <a:spcPct val="100000"/>
                        </a:lnSpc>
                        <a:spcAft>
                          <a:spcPts val="600"/>
                        </a:spcAft>
                        <a:defRPr sz="1600" b="0">
                          <a:solidFill>
                            <a:srgbClr val="172B3A"/>
                          </a:solidFill>
                          <a:latin typeface="Arial"/>
                        </a:defRPr>
                      </a:pPr>
                      <a:r>
                        <a:t>1,440 - 1,440</a:t>
                      </a:r>
                    </a:p>
                  </a:txBody>
                  <a:tcPr marT="64008" marB="64008" anchor="ctr">
                    <a:solidFill>
                      <a:srgbClr val="FFFFFF"/>
                    </a:solidFill>
                  </a:tcPr>
                </a:tc>
                <a:extLst>
                  <a:ext uri="{0D108BD9-81ED-4DB2-BD59-A6C34878D82A}">
                    <a16:rowId xmlns:a16="http://schemas.microsoft.com/office/drawing/2014/main" val="10008"/>
                  </a:ext>
                </a:extLst>
              </a:tr>
            </a:tbl>
          </a:graphicData>
        </a:graphic>
      </p:graphicFrame>
      <p:sp>
        <p:nvSpPr>
          <p:cNvPr id="213" name="TextBox 212"/>
          <p:cNvSpPr txBox="1"/>
          <p:nvPr/>
        </p:nvSpPr>
        <p:spPr>
          <a:xfrm>
            <a:off x="9784080" y="1783080"/>
            <a:ext cx="1783080" cy="3749039"/>
          </a:xfrm>
          <a:prstGeom prst="rect">
            <a:avLst/>
          </a:prstGeom>
          <a:noFill/>
        </p:spPr>
        <p:txBody>
          <a:bodyPr wrap="square" lIns="18288" tIns="22860" rIns="18288" bIns="22860">
            <a:spAutoFit/>
          </a:bodyPr>
          <a:lstStyle/>
          <a:p>
            <a:r>
              <a:rPr sz="1400">
                <a:solidFill>
                  <a:srgbClr val="1B2D3B"/>
                </a:solidFill>
              </a:rPr>
              <a:t>BTC / ETH</a:t>
            </a:r>
          </a:p>
          <a:p>
            <a:r>
              <a:rPr sz="1400">
                <a:solidFill>
                  <a:srgbClr val="1B2D3B"/>
                </a:solidFill>
              </a:rPr>
              <a:t>1,440 per raw date</a:t>
            </a:r>
          </a:p>
          <a:p>
            <a:endParaRPr sz="1400">
              <a:solidFill>
                <a:srgbClr val="1B2D3B"/>
              </a:solidFill>
            </a:endParaRPr>
          </a:p>
          <a:p>
            <a:r>
              <a:rPr sz="1400">
                <a:solidFill>
                  <a:srgbClr val="1B2D3B"/>
                </a:solidFill>
              </a:rPr>
              <a:t>Stocks / ETFs</a:t>
            </a:r>
          </a:p>
          <a:p>
            <a:r>
              <a:rPr sz="1400">
                <a:solidFill>
                  <a:srgbClr val="1B2D3B"/>
                </a:solidFill>
              </a:rPr>
              <a:t>Fewer bars; zero-row dates</a:t>
            </a:r>
          </a:p>
          <a:p>
            <a:endParaRPr sz="1400">
              <a:solidFill>
                <a:srgbClr val="1B2D3B"/>
              </a:solidFill>
            </a:endParaRPr>
          </a:p>
          <a:p>
            <a:r>
              <a:rPr sz="1400">
                <a:solidFill>
                  <a:srgbClr val="1B2D3B"/>
                </a:solidFill>
              </a:rPr>
              <a:t>Futures</a:t>
            </a:r>
          </a:p>
          <a:p>
            <a:r>
              <a:rPr sz="1400">
                <a:solidFill>
                  <a:srgbClr val="1B2D3B"/>
                </a:solidFill>
              </a:rPr>
              <a:t>Distinct calendars</a:t>
            </a:r>
          </a:p>
        </p:txBody>
      </p:sp>
      <p:sp>
        <p:nvSpPr>
          <p:cNvPr id="214" name="TextBox 213"/>
          <p:cNvSpPr txBox="1"/>
          <p:nvPr/>
        </p:nvSpPr>
        <p:spPr>
          <a:xfrm>
            <a:off x="640080" y="5760720"/>
            <a:ext cx="1371600" cy="457200"/>
          </a:xfrm>
          <a:prstGeom prst="rect">
            <a:avLst/>
          </a:prstGeom>
          <a:noFill/>
        </p:spPr>
        <p:txBody>
          <a:bodyPr wrap="square" lIns="18288" tIns="22860" rIns="18288" bIns="22860">
            <a:spAutoFit/>
          </a:bodyPr>
          <a:lstStyle/>
          <a:p>
            <a:pPr>
              <a:lnSpc>
                <a:spcPct val="100000"/>
              </a:lnSpc>
              <a:spcAft>
                <a:spcPts val="0"/>
              </a:spcAft>
              <a:defRPr sz="1200" b="1">
                <a:solidFill>
                  <a:srgbClr val="087E8B"/>
                </a:solidFill>
                <a:latin typeface="Arial"/>
              </a:defRPr>
            </a:pPr>
            <a:r>
              <a:t>DIAGNOSTIC</a:t>
            </a:r>
          </a:p>
        </p:txBody>
      </p:sp>
      <p:sp>
        <p:nvSpPr>
          <p:cNvPr id="215" name="TextBox 214"/>
          <p:cNvSpPr txBox="1"/>
          <p:nvPr/>
        </p:nvSpPr>
        <p:spPr>
          <a:xfrm>
            <a:off x="2011680" y="5687568"/>
            <a:ext cx="9464040" cy="621792"/>
          </a:xfrm>
          <a:prstGeom prst="rect">
            <a:avLst/>
          </a:prstGeom>
          <a:noFill/>
        </p:spPr>
        <p:txBody>
          <a:bodyPr wrap="square" lIns="18288" tIns="22860" rIns="18288" bIns="22860">
            <a:spAutoFit/>
          </a:bodyPr>
          <a:lstStyle/>
          <a:p>
            <a:pPr>
              <a:lnSpc>
                <a:spcPct val="100000"/>
              </a:lnSpc>
              <a:spcAft>
                <a:spcPts val="600"/>
              </a:spcAft>
              <a:defRPr sz="1800" b="0">
                <a:solidFill>
                  <a:srgbClr val="102A43"/>
                </a:solidFill>
                <a:latin typeface="Arial"/>
              </a:defRPr>
            </a:pPr>
            <a:r>
              <a:t>Freeze class-specific session/calendar rules before constructing a comparable intraday benchmark.</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BFCFD"/>
        </a:solidFill>
        <a:effectLst/>
      </p:bgPr>
    </p:bg>
    <p:spTree>
      <p:nvGrpSpPr>
        <p:cNvPr id="1" name="Shape 235"/>
        <p:cNvGrpSpPr/>
        <p:nvPr/>
      </p:nvGrpSpPr>
      <p:grpSpPr>
        <a:xfrm>
          <a:off x="0" y="0"/>
          <a:ext cx="0" cy="0"/>
          <a:chOff x="0" y="0"/>
          <a:chExt cx="0" cy="0"/>
        </a:xfrm>
      </p:grpSpPr>
      <p:sp>
        <p:nvSpPr>
          <p:cNvPr id="236" name="Google Shape;236;p13"/>
          <p:cNvSpPr/>
          <p:nvPr/>
        </p:nvSpPr>
        <p:spPr>
          <a:xfrm>
            <a:off x="0" y="0"/>
            <a:ext cx="114300" cy="6858000"/>
          </a:xfrm>
          <a:prstGeom prst="rect">
            <a:avLst/>
          </a:prstGeom>
          <a:solidFill>
            <a:srgbClr val="087E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13"/>
          <p:cNvSpPr/>
          <p:nvPr/>
        </p:nvSpPr>
        <p:spPr>
          <a:xfrm>
            <a:off x="609600" y="285750"/>
            <a:ext cx="4381500" cy="209550"/>
          </a:xfrm>
          <a:prstGeom prst="rect">
            <a:avLst/>
          </a:prstGeom>
          <a:noFill/>
          <a:ln>
            <a:noFill/>
          </a:ln>
        </p:spPr>
        <p:txBody>
          <a:bodyPr spcFirstLastPara="1" wrap="square" lIns="18288" tIns="22860" rIns="18288" bIns="22860" anchor="t" anchorCtr="0">
            <a:noAutofit/>
          </a:bodyPr>
          <a:lstStyle/>
          <a:p>
            <a:pPr marL="0" marR="0" lvl="0" indent="0" algn="l" rtl="0">
              <a:lnSpc>
                <a:spcPct val="100000"/>
              </a:lnSpc>
              <a:spcBef>
                <a:spcPts val="0"/>
              </a:spcBef>
              <a:spcAft>
                <a:spcPts val="0"/>
              </a:spcAft>
              <a:buNone/>
              <a:defRPr sz="1125" b="1">
                <a:solidFill>
                  <a:srgbClr val="087E8B"/>
                </a:solidFill>
                <a:latin typeface="Arial"/>
              </a:defRPr>
            </a:pPr>
            <a:r>
              <a:t>OPEN DECISIONS AND NEXT STEPS</a:t>
            </a:r>
          </a:p>
        </p:txBody>
      </p:sp>
      <p:sp>
        <p:nvSpPr>
          <p:cNvPr id="238" name="Google Shape;238;p13"/>
          <p:cNvSpPr/>
          <p:nvPr/>
        </p:nvSpPr>
        <p:spPr>
          <a:xfrm>
            <a:off x="609600" y="514350"/>
            <a:ext cx="10934700" cy="590550"/>
          </a:xfrm>
          <a:prstGeom prst="rect">
            <a:avLst/>
          </a:prstGeom>
          <a:noFill/>
          <a:ln>
            <a:noFill/>
          </a:ln>
        </p:spPr>
        <p:txBody>
          <a:bodyPr spcFirstLastPara="1" wrap="square" lIns="18288" tIns="22860" rIns="18288" bIns="22860" anchor="t" anchorCtr="0">
            <a:noAutofit/>
          </a:bodyPr>
          <a:lstStyle/>
          <a:p>
            <a:pPr marL="0" marR="0" lvl="0" indent="0" algn="l" rtl="0">
              <a:lnSpc>
                <a:spcPct val="100000"/>
              </a:lnSpc>
              <a:spcBef>
                <a:spcPts val="0"/>
              </a:spcBef>
              <a:spcAft>
                <a:spcPts val="600"/>
              </a:spcAft>
              <a:buNone/>
              <a:defRPr sz="2800" b="1">
                <a:solidFill>
                  <a:srgbClr val="102A43"/>
                </a:solidFill>
                <a:latin typeface="Arial"/>
              </a:defRPr>
            </a:pPr>
            <a:r>
              <a:t>Freeze the design before estimating spreads</a:t>
            </a:r>
          </a:p>
        </p:txBody>
      </p:sp>
      <p:sp>
        <p:nvSpPr>
          <p:cNvPr id="239" name="Google Shape;239;p13"/>
          <p:cNvSpPr/>
          <p:nvPr/>
        </p:nvSpPr>
        <p:spPr>
          <a:xfrm>
            <a:off x="628650" y="1123950"/>
            <a:ext cx="10668000" cy="323850"/>
          </a:xfrm>
          <a:prstGeom prst="rect">
            <a:avLst/>
          </a:prstGeom>
          <a:noFill/>
          <a:ln>
            <a:noFill/>
          </a:ln>
        </p:spPr>
        <p:txBody>
          <a:bodyPr spcFirstLastPara="1" wrap="square" lIns="18288" tIns="22860" rIns="18288" bIns="22860" anchor="t" anchorCtr="0">
            <a:noAutofit/>
          </a:bodyPr>
          <a:lstStyle/>
          <a:p>
            <a:pPr marL="0" marR="0" lvl="0" indent="0" algn="l" rtl="0">
              <a:lnSpc>
                <a:spcPct val="100000"/>
              </a:lnSpc>
              <a:spcBef>
                <a:spcPts val="0"/>
              </a:spcBef>
              <a:spcAft>
                <a:spcPts val="600"/>
              </a:spcAft>
              <a:buNone/>
              <a:defRPr sz="1500" b="0">
                <a:solidFill>
                  <a:srgbClr val="5F6F7A"/>
                </a:solidFill>
                <a:latin typeface="Arial"/>
              </a:defRPr>
            </a:pPr>
            <a:r>
              <a:t>NEXT STEPS | Sequence, not completed methodology</a:t>
            </a:r>
          </a:p>
        </p:txBody>
      </p:sp>
      <p:sp>
        <p:nvSpPr>
          <p:cNvPr id="240" name="Google Shape;240;p13"/>
          <p:cNvSpPr/>
          <p:nvPr/>
        </p:nvSpPr>
        <p:spPr>
          <a:xfrm>
            <a:off x="590550" y="6496050"/>
            <a:ext cx="11010900" cy="9525"/>
          </a:xfrm>
          <a:prstGeom prst="rect">
            <a:avLst/>
          </a:prstGeom>
          <a:solidFill>
            <a:srgbClr val="CFD8D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13"/>
          <p:cNvSpPr/>
          <p:nvPr/>
        </p:nvSpPr>
        <p:spPr>
          <a:xfrm>
            <a:off x="609600" y="6572250"/>
            <a:ext cx="4191000" cy="17145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050" b="0">
                <a:solidFill>
                  <a:srgbClr val="5F6F7A"/>
                </a:solidFill>
                <a:latin typeface="Arial"/>
                <a:ea typeface="Arial"/>
                <a:cs typeface="Arial"/>
                <a:sym typeface="Arial"/>
              </a:rPr>
              <a:t>MMF 1941   Project progress update</a:t>
            </a:r>
            <a:endParaRPr/>
          </a:p>
        </p:txBody>
      </p:sp>
      <p:sp>
        <p:nvSpPr>
          <p:cNvPr id="242" name="Google Shape;242;p13"/>
          <p:cNvSpPr/>
          <p:nvPr/>
        </p:nvSpPr>
        <p:spPr>
          <a:xfrm>
            <a:off x="11049000" y="6543675"/>
            <a:ext cx="533400" cy="190500"/>
          </a:xfrm>
          <a:prstGeom prst="rect">
            <a:avLst/>
          </a:prstGeom>
          <a:noFill/>
          <a:ln>
            <a:noFill/>
          </a:ln>
        </p:spPr>
        <p:txBody>
          <a:bodyPr spcFirstLastPara="1" wrap="square" lIns="18288" tIns="22860" rIns="18288" bIns="22860" anchor="t" anchorCtr="0">
            <a:noAutofit/>
          </a:bodyPr>
          <a:lstStyle/>
          <a:p>
            <a:pPr marL="0" marR="0" lvl="0" indent="0" algn="r" rtl="0">
              <a:lnSpc>
                <a:spcPct val="100000"/>
              </a:lnSpc>
              <a:spcBef>
                <a:spcPts val="0"/>
              </a:spcBef>
              <a:spcAft>
                <a:spcPts val="0"/>
              </a:spcAft>
              <a:buNone/>
              <a:defRPr sz="1125" b="0">
                <a:solidFill>
                  <a:srgbClr val="102A43"/>
                </a:solidFill>
                <a:latin typeface="Arial"/>
              </a:defRPr>
            </a:pPr>
            <a:r>
              <a:t>11</a:t>
            </a:r>
          </a:p>
        </p:txBody>
      </p:sp>
      <p:sp>
        <p:nvSpPr>
          <p:cNvPr id="243" name="Rectangle 242"/>
          <p:cNvSpPr/>
          <p:nvPr/>
        </p:nvSpPr>
        <p:spPr>
          <a:xfrm>
            <a:off x="640080" y="1737360"/>
            <a:ext cx="3520440" cy="3611880"/>
          </a:xfrm>
          <a:prstGeom prst="rect">
            <a:avLst/>
          </a:prstGeom>
          <a:solidFill>
            <a:srgbClr val="F2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4" name="TextBox 243"/>
          <p:cNvSpPr txBox="1"/>
          <p:nvPr/>
        </p:nvSpPr>
        <p:spPr>
          <a:xfrm>
            <a:off x="804671" y="1856231"/>
            <a:ext cx="3191256" cy="365760"/>
          </a:xfrm>
          <a:prstGeom prst="rect">
            <a:avLst/>
          </a:prstGeom>
          <a:noFill/>
        </p:spPr>
        <p:txBody>
          <a:bodyPr wrap="square" lIns="18288" tIns="22860" rIns="18288" bIns="22860">
            <a:spAutoFit/>
          </a:bodyPr>
          <a:lstStyle/>
          <a:p>
            <a:pPr>
              <a:lnSpc>
                <a:spcPct val="100000"/>
              </a:lnSpc>
              <a:spcAft>
                <a:spcPts val="600"/>
              </a:spcAft>
              <a:defRPr sz="1500" b="1">
                <a:solidFill>
                  <a:srgbClr val="087E8B"/>
                </a:solidFill>
                <a:latin typeface="Arial"/>
              </a:defRPr>
            </a:pPr>
            <a:r>
              <a:t>1. METADATA</a:t>
            </a:r>
          </a:p>
        </p:txBody>
      </p:sp>
      <p:sp>
        <p:nvSpPr>
          <p:cNvPr id="245" name="TextBox 244"/>
          <p:cNvSpPr txBox="1"/>
          <p:nvPr/>
        </p:nvSpPr>
        <p:spPr>
          <a:xfrm>
            <a:off x="804671" y="2377439"/>
            <a:ext cx="3191256" cy="2834640"/>
          </a:xfrm>
          <a:prstGeom prst="rect">
            <a:avLst/>
          </a:prstGeom>
          <a:noFill/>
        </p:spPr>
        <p:txBody>
          <a:bodyPr wrap="square" lIns="18288" tIns="22860" rIns="18288" bIns="22860">
            <a:spAutoFit/>
          </a:bodyPr>
          <a:lstStyle/>
          <a:p>
            <a:pPr>
              <a:lnSpc>
                <a:spcPct val="100000"/>
              </a:lnSpc>
              <a:spcAft>
                <a:spcPts val="600"/>
              </a:spcAft>
              <a:defRPr sz="2000" b="0">
                <a:solidFill>
                  <a:srgbClr val="172B3A"/>
                </a:solidFill>
                <a:latin typeface="Arial"/>
              </a:defRPr>
            </a:pPr>
            <a:r>
              <a:t>Confirm timezone / bar labels</a:t>
            </a:r>
          </a:p>
          <a:p>
            <a:pPr>
              <a:lnSpc>
                <a:spcPct val="100000"/>
              </a:lnSpc>
              <a:spcAft>
                <a:spcPts val="600"/>
              </a:spcAft>
              <a:defRPr sz="2000" b="0">
                <a:solidFill>
                  <a:srgbClr val="172B3A"/>
                </a:solidFill>
                <a:latin typeface="Arial"/>
              </a:defRPr>
            </a:pPr>
            <a:r>
              <a:t>Freeze class-specific sessions</a:t>
            </a:r>
          </a:p>
          <a:p>
            <a:pPr>
              <a:lnSpc>
                <a:spcPct val="100000"/>
              </a:lnSpc>
              <a:spcAft>
                <a:spcPts val="600"/>
              </a:spcAft>
              <a:defRPr sz="2000" b="0">
                <a:solidFill>
                  <a:srgbClr val="172B3A"/>
                </a:solidFill>
                <a:latin typeface="Arial"/>
              </a:defRPr>
            </a:pPr>
            <a:r>
              <a:t>Resolve FX availability</a:t>
            </a:r>
          </a:p>
          <a:p>
            <a:pPr>
              <a:lnSpc>
                <a:spcPct val="100000"/>
              </a:lnSpc>
              <a:spcAft>
                <a:spcPts val="600"/>
              </a:spcAft>
              <a:defRPr sz="2000" b="0">
                <a:solidFill>
                  <a:srgbClr val="172B3A"/>
                </a:solidFill>
                <a:latin typeface="Arial"/>
              </a:defRPr>
            </a:pPr>
            <a:r>
              <a:t>Review adjustments and units</a:t>
            </a:r>
          </a:p>
        </p:txBody>
      </p:sp>
      <p:sp>
        <p:nvSpPr>
          <p:cNvPr id="246" name="Rectangle 245"/>
          <p:cNvSpPr/>
          <p:nvPr/>
        </p:nvSpPr>
        <p:spPr>
          <a:xfrm>
            <a:off x="4343400" y="1737360"/>
            <a:ext cx="3520440" cy="3611880"/>
          </a:xfrm>
          <a:prstGeom prst="rect">
            <a:avLst/>
          </a:prstGeom>
          <a:solidFill>
            <a:srgbClr val="F2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7" name="TextBox 246"/>
          <p:cNvSpPr txBox="1"/>
          <p:nvPr/>
        </p:nvSpPr>
        <p:spPr>
          <a:xfrm>
            <a:off x="4507992" y="1856231"/>
            <a:ext cx="3191256" cy="365760"/>
          </a:xfrm>
          <a:prstGeom prst="rect">
            <a:avLst/>
          </a:prstGeom>
          <a:noFill/>
        </p:spPr>
        <p:txBody>
          <a:bodyPr wrap="square" lIns="18288" tIns="22860" rIns="18288" bIns="22860">
            <a:spAutoFit/>
          </a:bodyPr>
          <a:lstStyle/>
          <a:p>
            <a:pPr>
              <a:lnSpc>
                <a:spcPct val="100000"/>
              </a:lnSpc>
              <a:spcAft>
                <a:spcPts val="600"/>
              </a:spcAft>
              <a:defRPr sz="1500" b="1">
                <a:solidFill>
                  <a:srgbClr val="246BCE"/>
                </a:solidFill>
                <a:latin typeface="Arial"/>
              </a:defRPr>
            </a:pPr>
            <a:r>
              <a:t>2. DESIGN</a:t>
            </a:r>
          </a:p>
        </p:txBody>
      </p:sp>
      <p:sp>
        <p:nvSpPr>
          <p:cNvPr id="248" name="TextBox 247"/>
          <p:cNvSpPr txBox="1"/>
          <p:nvPr/>
        </p:nvSpPr>
        <p:spPr>
          <a:xfrm>
            <a:off x="4507992" y="2377439"/>
            <a:ext cx="3191256" cy="2834640"/>
          </a:xfrm>
          <a:prstGeom prst="rect">
            <a:avLst/>
          </a:prstGeom>
          <a:noFill/>
        </p:spPr>
        <p:txBody>
          <a:bodyPr wrap="square" lIns="18288" tIns="22860" rIns="18288" bIns="22860">
            <a:spAutoFit/>
          </a:bodyPr>
          <a:lstStyle/>
          <a:p>
            <a:pPr>
              <a:lnSpc>
                <a:spcPct val="100000"/>
              </a:lnSpc>
              <a:spcAft>
                <a:spcPts val="600"/>
              </a:spcAft>
              <a:defRPr sz="2000" b="0">
                <a:solidFill>
                  <a:srgbClr val="172B3A"/>
                </a:solidFill>
                <a:latin typeface="Arial"/>
              </a:defRPr>
            </a:pPr>
            <a:r>
              <a:t>Define exact intraday benchmark</a:t>
            </a:r>
          </a:p>
          <a:p>
            <a:pPr>
              <a:lnSpc>
                <a:spcPct val="100000"/>
              </a:lnSpc>
              <a:spcAft>
                <a:spcPts val="600"/>
              </a:spcAft>
              <a:defRPr sz="2000" b="0">
                <a:solidFill>
                  <a:srgbClr val="172B3A"/>
                </a:solidFill>
                <a:latin typeface="Arial"/>
              </a:defRPr>
            </a:pPr>
            <a:r>
              <a:t>Freeze negative / undefined treatment</a:t>
            </a:r>
          </a:p>
          <a:p>
            <a:pPr>
              <a:lnSpc>
                <a:spcPct val="100000"/>
              </a:lnSpc>
              <a:spcAft>
                <a:spcPts val="600"/>
              </a:spcAft>
              <a:defRPr sz="2000" b="0">
                <a:solidFill>
                  <a:srgbClr val="172B3A"/>
                </a:solidFill>
                <a:latin typeface="Arial"/>
              </a:defRPr>
            </a:pPr>
            <a:r>
              <a:t>Choose liquidity-stratified universe</a:t>
            </a:r>
          </a:p>
          <a:p>
            <a:pPr>
              <a:lnSpc>
                <a:spcPct val="100000"/>
              </a:lnSpc>
              <a:spcAft>
                <a:spcPts val="600"/>
              </a:spcAft>
              <a:defRPr sz="2000" b="0">
                <a:solidFill>
                  <a:srgbClr val="172B3A"/>
                </a:solidFill>
                <a:latin typeface="Arial"/>
              </a:defRPr>
            </a:pPr>
            <a:r>
              <a:t>Set futures contract policy</a:t>
            </a:r>
          </a:p>
        </p:txBody>
      </p:sp>
      <p:sp>
        <p:nvSpPr>
          <p:cNvPr id="249" name="Rectangle 248"/>
          <p:cNvSpPr/>
          <p:nvPr/>
        </p:nvSpPr>
        <p:spPr>
          <a:xfrm>
            <a:off x="8046720" y="1737360"/>
            <a:ext cx="3474720" cy="3611880"/>
          </a:xfrm>
          <a:prstGeom prst="rect">
            <a:avLst/>
          </a:prstGeom>
          <a:solidFill>
            <a:srgbClr val="F2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0" name="TextBox 249"/>
          <p:cNvSpPr txBox="1"/>
          <p:nvPr/>
        </p:nvSpPr>
        <p:spPr>
          <a:xfrm>
            <a:off x="8211312" y="1856231"/>
            <a:ext cx="3145536" cy="365760"/>
          </a:xfrm>
          <a:prstGeom prst="rect">
            <a:avLst/>
          </a:prstGeom>
          <a:noFill/>
        </p:spPr>
        <p:txBody>
          <a:bodyPr wrap="square" lIns="18288" tIns="22860" rIns="18288" bIns="22860">
            <a:spAutoFit/>
          </a:bodyPr>
          <a:lstStyle/>
          <a:p>
            <a:pPr>
              <a:lnSpc>
                <a:spcPct val="100000"/>
              </a:lnSpc>
              <a:spcAft>
                <a:spcPts val="600"/>
              </a:spcAft>
              <a:defRPr sz="1500" b="1">
                <a:solidFill>
                  <a:srgbClr val="087E8B"/>
                </a:solidFill>
                <a:latin typeface="Arial"/>
              </a:defRPr>
            </a:pPr>
            <a:r>
              <a:t>3. EXECUTION</a:t>
            </a:r>
          </a:p>
        </p:txBody>
      </p:sp>
      <p:sp>
        <p:nvSpPr>
          <p:cNvPr id="251" name="TextBox 250"/>
          <p:cNvSpPr txBox="1"/>
          <p:nvPr/>
        </p:nvSpPr>
        <p:spPr>
          <a:xfrm>
            <a:off x="8211312" y="2377439"/>
            <a:ext cx="3145536" cy="2834640"/>
          </a:xfrm>
          <a:prstGeom prst="rect">
            <a:avLst/>
          </a:prstGeom>
          <a:noFill/>
        </p:spPr>
        <p:txBody>
          <a:bodyPr wrap="square" lIns="18288" tIns="22860" rIns="18288" bIns="22860">
            <a:spAutoFit/>
          </a:bodyPr>
          <a:lstStyle/>
          <a:p>
            <a:pPr>
              <a:lnSpc>
                <a:spcPct val="100000"/>
              </a:lnSpc>
              <a:spcAft>
                <a:spcPts val="600"/>
              </a:spcAft>
              <a:defRPr sz="2000" b="0">
                <a:solidFill>
                  <a:srgbClr val="172B3A"/>
                </a:solidFill>
                <a:latin typeface="Arial"/>
              </a:defRPr>
            </a:pPr>
            <a:r>
              <a:t>Full Bloomberg daily pull</a:t>
            </a:r>
          </a:p>
          <a:p>
            <a:pPr>
              <a:lnSpc>
                <a:spcPct val="100000"/>
              </a:lnSpc>
              <a:spcAft>
                <a:spcPts val="600"/>
              </a:spcAft>
              <a:defRPr sz="2000" b="0">
                <a:solidFill>
                  <a:srgbClr val="172B3A"/>
                </a:solidFill>
                <a:latin typeface="Arial"/>
              </a:defRPr>
            </a:pPr>
            <a:r>
              <a:t>Build asset-day framework</a:t>
            </a:r>
          </a:p>
          <a:p>
            <a:pPr>
              <a:lnSpc>
                <a:spcPct val="100000"/>
              </a:lnSpc>
              <a:spcAft>
                <a:spcPts val="600"/>
              </a:spcAft>
              <a:defRPr sz="2000" b="0">
                <a:solidFill>
                  <a:srgbClr val="172B3A"/>
                </a:solidFill>
                <a:latin typeface="Arial"/>
              </a:defRPr>
            </a:pPr>
            <a:r>
              <a:t>Only after design freeze:</a:t>
            </a:r>
          </a:p>
          <a:p>
            <a:pPr>
              <a:lnSpc>
                <a:spcPct val="100000"/>
              </a:lnSpc>
              <a:spcAft>
                <a:spcPts val="600"/>
              </a:spcAft>
              <a:defRPr sz="2000" b="0">
                <a:solidFill>
                  <a:srgbClr val="172B3A"/>
                </a:solidFill>
                <a:latin typeface="Arial"/>
              </a:defRPr>
            </a:pPr>
            <a:r>
              <a:t>estimate CS / AR / EDGE</a:t>
            </a:r>
          </a:p>
        </p:txBody>
      </p:sp>
      <p:sp>
        <p:nvSpPr>
          <p:cNvPr id="252" name="TextBox 251"/>
          <p:cNvSpPr txBox="1"/>
          <p:nvPr/>
        </p:nvSpPr>
        <p:spPr>
          <a:xfrm>
            <a:off x="640080" y="5760720"/>
            <a:ext cx="1371600" cy="457200"/>
          </a:xfrm>
          <a:prstGeom prst="rect">
            <a:avLst/>
          </a:prstGeom>
          <a:noFill/>
        </p:spPr>
        <p:txBody>
          <a:bodyPr wrap="square" lIns="18288" tIns="22860" rIns="18288" bIns="22860">
            <a:spAutoFit/>
          </a:bodyPr>
          <a:lstStyle/>
          <a:p>
            <a:pPr>
              <a:lnSpc>
                <a:spcPct val="100000"/>
              </a:lnSpc>
              <a:spcAft>
                <a:spcPts val="0"/>
              </a:spcAft>
              <a:defRPr sz="1200" b="1">
                <a:solidFill>
                  <a:srgbClr val="087E8B"/>
                </a:solidFill>
                <a:latin typeface="Arial"/>
              </a:defRPr>
            </a:pPr>
            <a:r>
              <a:t>DISCUSSION</a:t>
            </a:r>
          </a:p>
        </p:txBody>
      </p:sp>
      <p:sp>
        <p:nvSpPr>
          <p:cNvPr id="253" name="TextBox 252"/>
          <p:cNvSpPr txBox="1"/>
          <p:nvPr/>
        </p:nvSpPr>
        <p:spPr>
          <a:xfrm>
            <a:off x="1832610" y="5443091"/>
            <a:ext cx="9464040" cy="1077218"/>
          </a:xfrm>
          <a:prstGeom prst="rect">
            <a:avLst/>
          </a:prstGeom>
          <a:noFill/>
        </p:spPr>
        <p:txBody>
          <a:bodyPr wrap="square" lIns="18288" tIns="22860" rIns="18288" bIns="22860">
            <a:spAutoFit/>
          </a:bodyPr>
          <a:lstStyle/>
          <a:p>
            <a:pPr>
              <a:lnSpc>
                <a:spcPct val="100000"/>
              </a:lnSpc>
              <a:spcAft>
                <a:spcPts val="600"/>
              </a:spcAft>
              <a:defRPr sz="1900" b="0">
                <a:solidFill>
                  <a:srgbClr val="102A43"/>
                </a:solidFill>
                <a:latin typeface="Arial"/>
              </a:defRPr>
            </a:pPr>
            <a:r>
              <a:rPr lang="en-US" dirty="0"/>
              <a:t>Feedback / clarification requested: </a:t>
            </a:r>
          </a:p>
          <a:p>
            <a:pPr>
              <a:lnSpc>
                <a:spcPct val="100000"/>
              </a:lnSpc>
              <a:spcAft>
                <a:spcPts val="600"/>
              </a:spcAft>
              <a:defRPr sz="1900" b="0">
                <a:solidFill>
                  <a:srgbClr val="102A43"/>
                </a:solidFill>
                <a:latin typeface="Arial"/>
              </a:defRPr>
            </a:pPr>
            <a:r>
              <a:rPr lang="en-US" dirty="0"/>
              <a:t>1. Where should the project source the missing intraday FX data? </a:t>
            </a:r>
          </a:p>
          <a:p>
            <a:pPr>
              <a:lnSpc>
                <a:spcPct val="100000"/>
              </a:lnSpc>
              <a:spcAft>
                <a:spcPts val="600"/>
              </a:spcAft>
              <a:defRPr sz="1900" b="0">
                <a:solidFill>
                  <a:srgbClr val="102A43"/>
                </a:solidFill>
                <a:latin typeface="Arial"/>
              </a:defRPr>
            </a:pPr>
            <a:r>
              <a:rPr lang="en-US" dirty="0"/>
              <a:t>2. What is the intended source for daily OHLC data for futures, FX and crypto?</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BFCFD"/>
        </a:solidFill>
        <a:effectLst/>
      </p:bgPr>
    </p:bg>
    <p:spTree>
      <p:nvGrpSpPr>
        <p:cNvPr id="1" name="Shape 252"/>
        <p:cNvGrpSpPr/>
        <p:nvPr/>
      </p:nvGrpSpPr>
      <p:grpSpPr>
        <a:xfrm>
          <a:off x="0" y="0"/>
          <a:ext cx="0" cy="0"/>
          <a:chOff x="0" y="0"/>
          <a:chExt cx="0" cy="0"/>
        </a:xfrm>
      </p:grpSpPr>
      <p:sp>
        <p:nvSpPr>
          <p:cNvPr id="253" name="Google Shape;253;p14"/>
          <p:cNvSpPr/>
          <p:nvPr/>
        </p:nvSpPr>
        <p:spPr>
          <a:xfrm>
            <a:off x="0" y="0"/>
            <a:ext cx="114300" cy="6858000"/>
          </a:xfrm>
          <a:prstGeom prst="rect">
            <a:avLst/>
          </a:prstGeom>
          <a:solidFill>
            <a:srgbClr val="087E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 name="Google Shape;254;p14"/>
          <p:cNvSpPr/>
          <p:nvPr/>
        </p:nvSpPr>
        <p:spPr>
          <a:xfrm>
            <a:off x="609600" y="285750"/>
            <a:ext cx="4381500" cy="209550"/>
          </a:xfrm>
          <a:prstGeom prst="rect">
            <a:avLst/>
          </a:prstGeom>
          <a:noFill/>
          <a:ln>
            <a:noFill/>
          </a:ln>
        </p:spPr>
        <p:txBody>
          <a:bodyPr spcFirstLastPara="1" wrap="square" lIns="18288" tIns="22860" rIns="18288" bIns="22860" anchor="t" anchorCtr="0">
            <a:noAutofit/>
          </a:bodyPr>
          <a:lstStyle/>
          <a:p>
            <a:pPr marL="0" marR="0" lvl="0" indent="0" algn="l" rtl="0">
              <a:lnSpc>
                <a:spcPct val="100000"/>
              </a:lnSpc>
              <a:spcBef>
                <a:spcPts val="0"/>
              </a:spcBef>
              <a:spcAft>
                <a:spcPts val="0"/>
              </a:spcAft>
              <a:buNone/>
              <a:defRPr sz="1125" b="1">
                <a:solidFill>
                  <a:srgbClr val="087E8B"/>
                </a:solidFill>
                <a:latin typeface="Arial"/>
              </a:defRPr>
            </a:pPr>
            <a:r>
              <a:t>APPENDIX - SOURCES AND LINEAGE</a:t>
            </a:r>
          </a:p>
        </p:txBody>
      </p:sp>
      <p:sp>
        <p:nvSpPr>
          <p:cNvPr id="255" name="Google Shape;255;p14"/>
          <p:cNvSpPr/>
          <p:nvPr/>
        </p:nvSpPr>
        <p:spPr>
          <a:xfrm>
            <a:off x="609600" y="514350"/>
            <a:ext cx="10934700" cy="590550"/>
          </a:xfrm>
          <a:prstGeom prst="rect">
            <a:avLst/>
          </a:prstGeom>
          <a:noFill/>
          <a:ln>
            <a:noFill/>
          </a:ln>
        </p:spPr>
        <p:txBody>
          <a:bodyPr spcFirstLastPara="1" wrap="square" lIns="18288" tIns="22860" rIns="18288" bIns="22860" anchor="t" anchorCtr="0">
            <a:noAutofit/>
          </a:bodyPr>
          <a:lstStyle/>
          <a:p>
            <a:pPr marL="0" marR="0" lvl="0" indent="0" algn="l" rtl="0">
              <a:lnSpc>
                <a:spcPct val="100000"/>
              </a:lnSpc>
              <a:spcBef>
                <a:spcPts val="0"/>
              </a:spcBef>
              <a:spcAft>
                <a:spcPts val="600"/>
              </a:spcAft>
              <a:buNone/>
              <a:defRPr sz="2800" b="1">
                <a:solidFill>
                  <a:srgbClr val="102A43"/>
                </a:solidFill>
                <a:latin typeface="Arial"/>
              </a:defRPr>
            </a:pPr>
            <a:r>
              <a:t>Every displayed result maps to a saved artifact</a:t>
            </a:r>
          </a:p>
        </p:txBody>
      </p:sp>
      <p:sp>
        <p:nvSpPr>
          <p:cNvPr id="256" name="Google Shape;256;p14"/>
          <p:cNvSpPr/>
          <p:nvPr/>
        </p:nvSpPr>
        <p:spPr>
          <a:xfrm>
            <a:off x="628650" y="1123950"/>
            <a:ext cx="10668000" cy="323850"/>
          </a:xfrm>
          <a:prstGeom prst="rect">
            <a:avLst/>
          </a:prstGeom>
          <a:noFill/>
          <a:ln>
            <a:noFill/>
          </a:ln>
        </p:spPr>
        <p:txBody>
          <a:bodyPr spcFirstLastPara="1" wrap="square" lIns="18288" tIns="22860" rIns="18288" bIns="22860" anchor="t" anchorCtr="0">
            <a:noAutofit/>
          </a:bodyPr>
          <a:lstStyle/>
          <a:p>
            <a:pPr marL="0" marR="0" lvl="0" indent="0" algn="l" rtl="0">
              <a:lnSpc>
                <a:spcPct val="100000"/>
              </a:lnSpc>
              <a:spcBef>
                <a:spcPts val="0"/>
              </a:spcBef>
              <a:spcAft>
                <a:spcPts val="600"/>
              </a:spcAft>
              <a:buNone/>
              <a:defRPr sz="1500" b="0">
                <a:solidFill>
                  <a:srgbClr val="5F6F7A"/>
                </a:solidFill>
                <a:latin typeface="Arial"/>
              </a:defRPr>
            </a:pPr>
            <a:r>
              <a:t>LINEAGE | Sources, parser, diagnostics and presentation</a:t>
            </a:r>
          </a:p>
        </p:txBody>
      </p:sp>
      <p:sp>
        <p:nvSpPr>
          <p:cNvPr id="257" name="Google Shape;257;p14"/>
          <p:cNvSpPr/>
          <p:nvPr/>
        </p:nvSpPr>
        <p:spPr>
          <a:xfrm>
            <a:off x="590550" y="6496050"/>
            <a:ext cx="11010900" cy="9525"/>
          </a:xfrm>
          <a:prstGeom prst="rect">
            <a:avLst/>
          </a:prstGeom>
          <a:solidFill>
            <a:srgbClr val="CFD8D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14"/>
          <p:cNvSpPr/>
          <p:nvPr/>
        </p:nvSpPr>
        <p:spPr>
          <a:xfrm>
            <a:off x="609600" y="6572250"/>
            <a:ext cx="4191000" cy="17145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050" b="0">
                <a:solidFill>
                  <a:srgbClr val="5F6F7A"/>
                </a:solidFill>
                <a:latin typeface="Arial"/>
                <a:ea typeface="Arial"/>
                <a:cs typeface="Arial"/>
                <a:sym typeface="Arial"/>
              </a:rPr>
              <a:t>MMF 1941   Project progress update</a:t>
            </a:r>
            <a:endParaRPr/>
          </a:p>
        </p:txBody>
      </p:sp>
      <p:sp>
        <p:nvSpPr>
          <p:cNvPr id="259" name="Google Shape;259;p14"/>
          <p:cNvSpPr/>
          <p:nvPr/>
        </p:nvSpPr>
        <p:spPr>
          <a:xfrm>
            <a:off x="11049000" y="6543675"/>
            <a:ext cx="533400" cy="190500"/>
          </a:xfrm>
          <a:prstGeom prst="rect">
            <a:avLst/>
          </a:prstGeom>
          <a:noFill/>
          <a:ln>
            <a:noFill/>
          </a:ln>
        </p:spPr>
        <p:txBody>
          <a:bodyPr spcFirstLastPara="1" wrap="square" lIns="18288" tIns="22860" rIns="18288" bIns="22860" anchor="t" anchorCtr="0">
            <a:noAutofit/>
          </a:bodyPr>
          <a:lstStyle/>
          <a:p>
            <a:pPr marL="0" marR="0" lvl="0" indent="0" algn="r" rtl="0">
              <a:lnSpc>
                <a:spcPct val="100000"/>
              </a:lnSpc>
              <a:spcBef>
                <a:spcPts val="0"/>
              </a:spcBef>
              <a:spcAft>
                <a:spcPts val="0"/>
              </a:spcAft>
              <a:buNone/>
              <a:defRPr sz="1125" b="0">
                <a:solidFill>
                  <a:srgbClr val="102A43"/>
                </a:solidFill>
                <a:latin typeface="Arial"/>
              </a:defRPr>
            </a:pPr>
            <a:r>
              <a:t>12</a:t>
            </a:r>
          </a:p>
        </p:txBody>
      </p:sp>
      <p:graphicFrame>
        <p:nvGraphicFramePr>
          <p:cNvPr id="260" name="Table 259"/>
          <p:cNvGraphicFramePr>
            <a:graphicFrameLocks noGrp="1"/>
          </p:cNvGraphicFramePr>
          <p:nvPr/>
        </p:nvGraphicFramePr>
        <p:xfrm>
          <a:off x="640080" y="1737360"/>
          <a:ext cx="10881360" cy="3060192"/>
        </p:xfrm>
        <a:graphic>
          <a:graphicData uri="http://schemas.openxmlformats.org/drawingml/2006/table">
            <a:tbl>
              <a:tblPr firstRow="1" bandRow="1">
                <a:tableStyleId>{5C22544A-7EE6-4342-B048-85BDC9FD1C3A}</a:tableStyleId>
              </a:tblPr>
              <a:tblGrid>
                <a:gridCol w="2560320">
                  <a:extLst>
                    <a:ext uri="{9D8B030D-6E8A-4147-A177-3AD203B41FA5}">
                      <a16:colId xmlns:a16="http://schemas.microsoft.com/office/drawing/2014/main" val="20000"/>
                    </a:ext>
                  </a:extLst>
                </a:gridCol>
                <a:gridCol w="4846320">
                  <a:extLst>
                    <a:ext uri="{9D8B030D-6E8A-4147-A177-3AD203B41FA5}">
                      <a16:colId xmlns:a16="http://schemas.microsoft.com/office/drawing/2014/main" val="20001"/>
                    </a:ext>
                  </a:extLst>
                </a:gridCol>
                <a:gridCol w="3474720">
                  <a:extLst>
                    <a:ext uri="{9D8B030D-6E8A-4147-A177-3AD203B41FA5}">
                      <a16:colId xmlns:a16="http://schemas.microsoft.com/office/drawing/2014/main" val="20002"/>
                    </a:ext>
                  </a:extLst>
                </a:gridCol>
              </a:tblGrid>
              <a:tr h="603504">
                <a:tc>
                  <a:txBody>
                    <a:bodyPr/>
                    <a:lstStyle/>
                    <a:p>
                      <a:pPr>
                        <a:lnSpc>
                          <a:spcPct val="100000"/>
                        </a:lnSpc>
                        <a:spcAft>
                          <a:spcPts val="600"/>
                        </a:spcAft>
                        <a:defRPr sz="1700" b="1">
                          <a:solidFill>
                            <a:srgbClr val="FFFFFF"/>
                          </a:solidFill>
                          <a:latin typeface="Arial"/>
                        </a:defRPr>
                      </a:pPr>
                      <a:r>
                        <a:t>Source / stage</a:t>
                      </a:r>
                    </a:p>
                  </a:txBody>
                  <a:tcPr marT="64008" marB="64008" anchor="ctr">
                    <a:solidFill>
                      <a:srgbClr val="102A43"/>
                    </a:solidFill>
                  </a:tcPr>
                </a:tc>
                <a:tc>
                  <a:txBody>
                    <a:bodyPr/>
                    <a:lstStyle/>
                    <a:p>
                      <a:pPr>
                        <a:lnSpc>
                          <a:spcPct val="100000"/>
                        </a:lnSpc>
                        <a:spcAft>
                          <a:spcPts val="600"/>
                        </a:spcAft>
                        <a:defRPr sz="1700" b="1">
                          <a:solidFill>
                            <a:srgbClr val="FFFFFF"/>
                          </a:solidFill>
                          <a:latin typeface="Arial"/>
                        </a:defRPr>
                      </a:pPr>
                      <a:r>
                        <a:t>Retained evidence</a:t>
                      </a:r>
                    </a:p>
                  </a:txBody>
                  <a:tcPr marT="64008" marB="64008" anchor="ctr">
                    <a:solidFill>
                      <a:srgbClr val="102A43"/>
                    </a:solidFill>
                  </a:tcPr>
                </a:tc>
                <a:tc>
                  <a:txBody>
                    <a:bodyPr/>
                    <a:lstStyle/>
                    <a:p>
                      <a:pPr>
                        <a:lnSpc>
                          <a:spcPct val="100000"/>
                        </a:lnSpc>
                        <a:spcAft>
                          <a:spcPts val="600"/>
                        </a:spcAft>
                        <a:defRPr sz="1700" b="1">
                          <a:solidFill>
                            <a:srgbClr val="FFFFFF"/>
                          </a:solidFill>
                          <a:latin typeface="Arial"/>
                        </a:defRPr>
                      </a:pPr>
                      <a:r>
                        <a:t>Role / restriction</a:t>
                      </a:r>
                    </a:p>
                  </a:txBody>
                  <a:tcPr marT="64008" marB="64008" anchor="ctr">
                    <a:solidFill>
                      <a:srgbClr val="102A43"/>
                    </a:solidFill>
                  </a:tcPr>
                </a:tc>
                <a:extLst>
                  <a:ext uri="{0D108BD9-81ED-4DB2-BD59-A6C34878D82A}">
                    <a16:rowId xmlns:a16="http://schemas.microsoft.com/office/drawing/2014/main" val="10000"/>
                  </a:ext>
                </a:extLst>
              </a:tr>
              <a:tr h="603504">
                <a:tc>
                  <a:txBody>
                    <a:bodyPr/>
                    <a:lstStyle/>
                    <a:p>
                      <a:pPr>
                        <a:lnSpc>
                          <a:spcPct val="100000"/>
                        </a:lnSpc>
                        <a:spcAft>
                          <a:spcPts val="600"/>
                        </a:spcAft>
                        <a:defRPr sz="1700" b="0">
                          <a:solidFill>
                            <a:srgbClr val="172B3A"/>
                          </a:solidFill>
                          <a:latin typeface="Arial"/>
                        </a:defRPr>
                      </a:pPr>
                      <a:r>
                        <a:t>First Rate via RiskLab</a:t>
                      </a:r>
                    </a:p>
                  </a:txBody>
                  <a:tcPr marT="64008" marB="64008" anchor="ctr">
                    <a:solidFill>
                      <a:srgbClr val="F2F5F7"/>
                    </a:solidFill>
                  </a:tcPr>
                </a:tc>
                <a:tc>
                  <a:txBody>
                    <a:bodyPr/>
                    <a:lstStyle/>
                    <a:p>
                      <a:pPr>
                        <a:lnSpc>
                          <a:spcPct val="100000"/>
                        </a:lnSpc>
                        <a:spcAft>
                          <a:spcPts val="600"/>
                        </a:spcAft>
                        <a:defRPr sz="1700" b="0">
                          <a:solidFill>
                            <a:srgbClr val="172B3A"/>
                          </a:solidFill>
                          <a:latin typeface="Arial"/>
                        </a:defRPr>
                      </a:pPr>
                      <a:r>
                        <a:t>intraday_data; source paths + scan audit</a:t>
                      </a:r>
                    </a:p>
                  </a:txBody>
                  <a:tcPr marT="64008" marB="64008" anchor="ctr">
                    <a:solidFill>
                      <a:srgbClr val="F2F5F7"/>
                    </a:solidFill>
                  </a:tcPr>
                </a:tc>
                <a:tc>
                  <a:txBody>
                    <a:bodyPr/>
                    <a:lstStyle/>
                    <a:p>
                      <a:pPr>
                        <a:lnSpc>
                          <a:spcPct val="100000"/>
                        </a:lnSpc>
                        <a:spcAft>
                          <a:spcPts val="600"/>
                        </a:spcAft>
                        <a:defRPr sz="1700" b="0">
                          <a:solidFill>
                            <a:srgbClr val="172B3A"/>
                          </a:solidFill>
                          <a:latin typeface="Arial"/>
                        </a:defRPr>
                      </a:pPr>
                      <a:r>
                        <a:t>Local intraday OHLCV only</a:t>
                      </a:r>
                    </a:p>
                  </a:txBody>
                  <a:tcPr marT="64008" marB="64008" anchor="ctr">
                    <a:solidFill>
                      <a:srgbClr val="F2F5F7"/>
                    </a:solidFill>
                  </a:tcPr>
                </a:tc>
                <a:extLst>
                  <a:ext uri="{0D108BD9-81ED-4DB2-BD59-A6C34878D82A}">
                    <a16:rowId xmlns:a16="http://schemas.microsoft.com/office/drawing/2014/main" val="10001"/>
                  </a:ext>
                </a:extLst>
              </a:tr>
              <a:tr h="603504">
                <a:tc>
                  <a:txBody>
                    <a:bodyPr/>
                    <a:lstStyle/>
                    <a:p>
                      <a:pPr>
                        <a:lnSpc>
                          <a:spcPct val="100000"/>
                        </a:lnSpc>
                        <a:spcAft>
                          <a:spcPts val="600"/>
                        </a:spcAft>
                        <a:defRPr sz="1700" b="0">
                          <a:solidFill>
                            <a:srgbClr val="172B3A"/>
                          </a:solidFill>
                          <a:latin typeface="Arial"/>
                        </a:defRPr>
                      </a:pPr>
                      <a:r>
                        <a:t>Bloomberg</a:t>
                      </a:r>
                    </a:p>
                  </a:txBody>
                  <a:tcPr marT="64008" marB="64008" anchor="ctr">
                    <a:solidFill>
                      <a:srgbClr val="FFFFFF"/>
                    </a:solidFill>
                  </a:tcPr>
                </a:tc>
                <a:tc>
                  <a:txBody>
                    <a:bodyPr/>
                    <a:lstStyle/>
                    <a:p>
                      <a:pPr>
                        <a:lnSpc>
                          <a:spcPct val="100000"/>
                        </a:lnSpc>
                        <a:spcAft>
                          <a:spcPts val="600"/>
                        </a:spcAft>
                        <a:defRPr sz="1700" b="0">
                          <a:solidFill>
                            <a:srgbClr val="172B3A"/>
                          </a:solidFill>
                          <a:latin typeface="Arial"/>
                        </a:defRPr>
                      </a:pPr>
                      <a:r>
                        <a:t>Raw + static workbook; source log + hashes</a:t>
                      </a:r>
                    </a:p>
                  </a:txBody>
                  <a:tcPr marT="64008" marB="64008" anchor="ctr">
                    <a:solidFill>
                      <a:srgbClr val="FFFFFF"/>
                    </a:solidFill>
                  </a:tcPr>
                </a:tc>
                <a:tc>
                  <a:txBody>
                    <a:bodyPr/>
                    <a:lstStyle/>
                    <a:p>
                      <a:pPr>
                        <a:lnSpc>
                          <a:spcPct val="100000"/>
                        </a:lnSpc>
                        <a:spcAft>
                          <a:spcPts val="600"/>
                        </a:spcAft>
                        <a:defRPr sz="1700" b="0">
                          <a:solidFill>
                            <a:srgbClr val="172B3A"/>
                          </a:solidFill>
                          <a:latin typeface="Arial"/>
                        </a:defRPr>
                      </a:pPr>
                      <a:r>
                        <a:t>Daily/EOD/reference only</a:t>
                      </a:r>
                    </a:p>
                  </a:txBody>
                  <a:tcPr marT="64008" marB="64008" anchor="ctr">
                    <a:solidFill>
                      <a:srgbClr val="FFFFFF"/>
                    </a:solidFill>
                  </a:tcPr>
                </a:tc>
                <a:extLst>
                  <a:ext uri="{0D108BD9-81ED-4DB2-BD59-A6C34878D82A}">
                    <a16:rowId xmlns:a16="http://schemas.microsoft.com/office/drawing/2014/main" val="10002"/>
                  </a:ext>
                </a:extLst>
              </a:tr>
              <a:tr h="603504">
                <a:tc>
                  <a:txBody>
                    <a:bodyPr/>
                    <a:lstStyle/>
                    <a:p>
                      <a:pPr>
                        <a:lnSpc>
                          <a:spcPct val="100000"/>
                        </a:lnSpc>
                        <a:spcAft>
                          <a:spcPts val="600"/>
                        </a:spcAft>
                        <a:defRPr sz="1700" b="0">
                          <a:solidFill>
                            <a:srgbClr val="172B3A"/>
                          </a:solidFill>
                          <a:latin typeface="Arial"/>
                        </a:defRPr>
                      </a:pPr>
                      <a:r>
                        <a:t>Parser + diagnostics</a:t>
                      </a:r>
                    </a:p>
                  </a:txBody>
                  <a:tcPr marT="64008" marB="64008" anchor="ctr">
                    <a:solidFill>
                      <a:srgbClr val="F2F5F7"/>
                    </a:solidFill>
                  </a:tcPr>
                </a:tc>
                <a:tc>
                  <a:txBody>
                    <a:bodyPr/>
                    <a:lstStyle/>
                    <a:p>
                      <a:pPr>
                        <a:lnSpc>
                          <a:spcPct val="100000"/>
                        </a:lnSpc>
                        <a:spcAft>
                          <a:spcPts val="600"/>
                        </a:spcAft>
                        <a:defRPr sz="1700" b="0">
                          <a:solidFill>
                            <a:srgbClr val="172B3A"/>
                          </a:solidFill>
                          <a:latin typeface="Arial"/>
                        </a:defRPr>
                      </a:pPr>
                      <a:r>
                        <a:t>data_io.py; eda_diagnostics.py; CSV/PNG</a:t>
                      </a:r>
                    </a:p>
                  </a:txBody>
                  <a:tcPr marT="64008" marB="64008" anchor="ctr">
                    <a:solidFill>
                      <a:srgbClr val="F2F5F7"/>
                    </a:solidFill>
                  </a:tcPr>
                </a:tc>
                <a:tc>
                  <a:txBody>
                    <a:bodyPr/>
                    <a:lstStyle/>
                    <a:p>
                      <a:pPr>
                        <a:lnSpc>
                          <a:spcPct val="100000"/>
                        </a:lnSpc>
                        <a:spcAft>
                          <a:spcPts val="600"/>
                        </a:spcAft>
                        <a:defRPr sz="1700" b="0">
                          <a:solidFill>
                            <a:srgbClr val="172B3A"/>
                          </a:solidFill>
                          <a:latin typeface="Arial"/>
                        </a:defRPr>
                      </a:pPr>
                      <a:r>
                        <a:t>Accepted EDA; no estimators</a:t>
                      </a:r>
                    </a:p>
                  </a:txBody>
                  <a:tcPr marT="64008" marB="64008" anchor="ctr">
                    <a:solidFill>
                      <a:srgbClr val="F2F5F7"/>
                    </a:solidFill>
                  </a:tcPr>
                </a:tc>
                <a:extLst>
                  <a:ext uri="{0D108BD9-81ED-4DB2-BD59-A6C34878D82A}">
                    <a16:rowId xmlns:a16="http://schemas.microsoft.com/office/drawing/2014/main" val="10003"/>
                  </a:ext>
                </a:extLst>
              </a:tr>
              <a:tr h="603504">
                <a:tc>
                  <a:txBody>
                    <a:bodyPr/>
                    <a:lstStyle/>
                    <a:p>
                      <a:pPr>
                        <a:lnSpc>
                          <a:spcPct val="100000"/>
                        </a:lnSpc>
                        <a:spcAft>
                          <a:spcPts val="600"/>
                        </a:spcAft>
                        <a:defRPr sz="1700" b="0">
                          <a:solidFill>
                            <a:srgbClr val="172B3A"/>
                          </a:solidFill>
                          <a:latin typeface="Arial"/>
                        </a:defRPr>
                      </a:pPr>
                      <a:r>
                        <a:t>Presentation</a:t>
                      </a:r>
                    </a:p>
                  </a:txBody>
                  <a:tcPr marT="64008" marB="64008" anchor="ctr">
                    <a:solidFill>
                      <a:srgbClr val="FFFFFF"/>
                    </a:solidFill>
                  </a:tcPr>
                </a:tc>
                <a:tc>
                  <a:txBody>
                    <a:bodyPr/>
                    <a:lstStyle/>
                    <a:p>
                      <a:pPr>
                        <a:lnSpc>
                          <a:spcPct val="100000"/>
                        </a:lnSpc>
                        <a:spcAft>
                          <a:spcPts val="600"/>
                        </a:spcAft>
                        <a:defRPr sz="1700" b="0">
                          <a:solidFill>
                            <a:srgbClr val="172B3A"/>
                          </a:solidFill>
                          <a:latin typeface="Arial"/>
                        </a:defRPr>
                      </a:pPr>
                      <a:r>
                        <a:t>Supplied MMF template + build_presentation.py</a:t>
                      </a:r>
                    </a:p>
                  </a:txBody>
                  <a:tcPr marT="64008" marB="64008" anchor="ctr">
                    <a:solidFill>
                      <a:srgbClr val="FFFFFF"/>
                    </a:solidFill>
                  </a:tcPr>
                </a:tc>
                <a:tc>
                  <a:txBody>
                    <a:bodyPr/>
                    <a:lstStyle/>
                    <a:p>
                      <a:pPr>
                        <a:lnSpc>
                          <a:spcPct val="100000"/>
                        </a:lnSpc>
                        <a:spcAft>
                          <a:spcPts val="600"/>
                        </a:spcAft>
                        <a:defRPr sz="1700" b="0">
                          <a:solidFill>
                            <a:srgbClr val="172B3A"/>
                          </a:solidFill>
                          <a:latin typeface="Arial"/>
                        </a:defRPr>
                      </a:pPr>
                      <a:r>
                        <a:t>Reads accepted outputs; no new analysis</a:t>
                      </a:r>
                    </a:p>
                  </a:txBody>
                  <a:tcPr marT="64008" marB="64008" anchor="ctr">
                    <a:solidFill>
                      <a:srgbClr val="FFFFFF"/>
                    </a:solidFill>
                  </a:tcPr>
                </a:tc>
                <a:extLst>
                  <a:ext uri="{0D108BD9-81ED-4DB2-BD59-A6C34878D82A}">
                    <a16:rowId xmlns:a16="http://schemas.microsoft.com/office/drawing/2014/main" val="10004"/>
                  </a:ext>
                </a:extLst>
              </a:tr>
            </a:tbl>
          </a:graphicData>
        </a:graphic>
      </p:graphicFrame>
      <p:sp>
        <p:nvSpPr>
          <p:cNvPr id="261" name="TextBox 260"/>
          <p:cNvSpPr txBox="1"/>
          <p:nvPr/>
        </p:nvSpPr>
        <p:spPr>
          <a:xfrm>
            <a:off x="685800" y="5029200"/>
            <a:ext cx="10835640" cy="548640"/>
          </a:xfrm>
          <a:prstGeom prst="rect">
            <a:avLst/>
          </a:prstGeom>
          <a:noFill/>
        </p:spPr>
        <p:txBody>
          <a:bodyPr wrap="square" lIns="18288" tIns="22860" rIns="18288" bIns="22860">
            <a:spAutoFit/>
          </a:bodyPr>
          <a:lstStyle/>
          <a:p>
            <a:pPr>
              <a:lnSpc>
                <a:spcPct val="100000"/>
              </a:lnSpc>
              <a:spcAft>
                <a:spcPts val="600"/>
              </a:spcAft>
              <a:defRPr sz="2000" b="1">
                <a:solidFill>
                  <a:srgbClr val="102A43"/>
                </a:solidFill>
                <a:latin typeface="Arial"/>
              </a:defRPr>
            </a:pPr>
            <a:r>
              <a:t>Raw -&gt; parser -&gt; diagnostics -&gt; analytic output (planned) -&gt; presentation</a:t>
            </a:r>
          </a:p>
        </p:txBody>
      </p:sp>
      <p:sp>
        <p:nvSpPr>
          <p:cNvPr id="262" name="TextBox 261"/>
          <p:cNvSpPr txBox="1"/>
          <p:nvPr/>
        </p:nvSpPr>
        <p:spPr>
          <a:xfrm>
            <a:off x="640080" y="5760720"/>
            <a:ext cx="1371600" cy="457200"/>
          </a:xfrm>
          <a:prstGeom prst="rect">
            <a:avLst/>
          </a:prstGeom>
          <a:noFill/>
        </p:spPr>
        <p:txBody>
          <a:bodyPr wrap="square" lIns="18288" tIns="22860" rIns="18288" bIns="22860">
            <a:spAutoFit/>
          </a:bodyPr>
          <a:lstStyle/>
          <a:p>
            <a:pPr>
              <a:lnSpc>
                <a:spcPct val="100000"/>
              </a:lnSpc>
              <a:spcAft>
                <a:spcPts val="0"/>
              </a:spcAft>
              <a:defRPr sz="1200" b="1">
                <a:solidFill>
                  <a:srgbClr val="087E8B"/>
                </a:solidFill>
                <a:latin typeface="Arial"/>
              </a:defRPr>
            </a:pPr>
            <a:r>
              <a:t>STATUS</a:t>
            </a:r>
          </a:p>
        </p:txBody>
      </p:sp>
      <p:sp>
        <p:nvSpPr>
          <p:cNvPr id="263" name="TextBox 262"/>
          <p:cNvSpPr txBox="1"/>
          <p:nvPr/>
        </p:nvSpPr>
        <p:spPr>
          <a:xfrm>
            <a:off x="2011680" y="5687568"/>
            <a:ext cx="9464040" cy="621792"/>
          </a:xfrm>
          <a:prstGeom prst="rect">
            <a:avLst/>
          </a:prstGeom>
          <a:noFill/>
        </p:spPr>
        <p:txBody>
          <a:bodyPr wrap="square" lIns="18288" tIns="22860" rIns="18288" bIns="22860">
            <a:spAutoFit/>
          </a:bodyPr>
          <a:lstStyle/>
          <a:p>
            <a:pPr>
              <a:lnSpc>
                <a:spcPct val="100000"/>
              </a:lnSpc>
              <a:spcAft>
                <a:spcPts val="600"/>
              </a:spcAft>
              <a:defRPr sz="1900" b="0">
                <a:solidFill>
                  <a:srgbClr val="102A43"/>
                </a:solidFill>
                <a:latin typeface="Arial"/>
              </a:defRPr>
            </a:pPr>
            <a:r>
              <a:t>Current deck uses diagnostics directly; the analytic asset-day output is still planned.</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BFCFD"/>
        </a:solidFill>
        <a:effectLst/>
      </p:bgPr>
    </p:bg>
    <p:spTree>
      <p:nvGrpSpPr>
        <p:cNvPr id="1" name="Shape 274"/>
        <p:cNvGrpSpPr/>
        <p:nvPr/>
      </p:nvGrpSpPr>
      <p:grpSpPr>
        <a:xfrm>
          <a:off x="0" y="0"/>
          <a:ext cx="0" cy="0"/>
          <a:chOff x="0" y="0"/>
          <a:chExt cx="0" cy="0"/>
        </a:xfrm>
      </p:grpSpPr>
      <p:sp>
        <p:nvSpPr>
          <p:cNvPr id="275" name="Google Shape;275;p15"/>
          <p:cNvSpPr/>
          <p:nvPr/>
        </p:nvSpPr>
        <p:spPr>
          <a:xfrm>
            <a:off x="0" y="0"/>
            <a:ext cx="114300" cy="6858000"/>
          </a:xfrm>
          <a:prstGeom prst="rect">
            <a:avLst/>
          </a:prstGeom>
          <a:solidFill>
            <a:srgbClr val="087E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 name="Google Shape;276;p15"/>
          <p:cNvSpPr/>
          <p:nvPr/>
        </p:nvSpPr>
        <p:spPr>
          <a:xfrm>
            <a:off x="609600" y="285750"/>
            <a:ext cx="4381500" cy="209550"/>
          </a:xfrm>
          <a:prstGeom prst="rect">
            <a:avLst/>
          </a:prstGeom>
          <a:noFill/>
          <a:ln>
            <a:noFill/>
          </a:ln>
        </p:spPr>
        <p:txBody>
          <a:bodyPr spcFirstLastPara="1" wrap="square" lIns="18288" tIns="22860" rIns="18288" bIns="22860" anchor="t" anchorCtr="0">
            <a:noAutofit/>
          </a:bodyPr>
          <a:lstStyle/>
          <a:p>
            <a:pPr marL="0" marR="0" lvl="0" indent="0" algn="l" rtl="0">
              <a:lnSpc>
                <a:spcPct val="100000"/>
              </a:lnSpc>
              <a:spcBef>
                <a:spcPts val="0"/>
              </a:spcBef>
              <a:spcAft>
                <a:spcPts val="0"/>
              </a:spcAft>
              <a:buNone/>
              <a:defRPr sz="1125" b="1">
                <a:solidFill>
                  <a:srgbClr val="087E8B"/>
                </a:solidFill>
                <a:latin typeface="Arial"/>
              </a:defRPr>
            </a:pPr>
            <a:r>
              <a:t>APPENDIX - ACQUISITION AND VALIDATION</a:t>
            </a:r>
          </a:p>
        </p:txBody>
      </p:sp>
      <p:sp>
        <p:nvSpPr>
          <p:cNvPr id="277" name="Google Shape;277;p15"/>
          <p:cNvSpPr/>
          <p:nvPr/>
        </p:nvSpPr>
        <p:spPr>
          <a:xfrm>
            <a:off x="609600" y="514350"/>
            <a:ext cx="10934700" cy="590550"/>
          </a:xfrm>
          <a:prstGeom prst="rect">
            <a:avLst/>
          </a:prstGeom>
          <a:noFill/>
          <a:ln>
            <a:noFill/>
          </a:ln>
        </p:spPr>
        <p:txBody>
          <a:bodyPr spcFirstLastPara="1" wrap="square" lIns="18288" tIns="22860" rIns="18288" bIns="22860" anchor="t" anchorCtr="0">
            <a:noAutofit/>
          </a:bodyPr>
          <a:lstStyle/>
          <a:p>
            <a:pPr marL="0" marR="0" lvl="0" indent="0" algn="l" rtl="0">
              <a:lnSpc>
                <a:spcPct val="100000"/>
              </a:lnSpc>
              <a:spcBef>
                <a:spcPts val="0"/>
              </a:spcBef>
              <a:spcAft>
                <a:spcPts val="600"/>
              </a:spcAft>
              <a:buNone/>
              <a:defRPr sz="2800" b="1">
                <a:solidFill>
                  <a:srgbClr val="102A43"/>
                </a:solidFill>
                <a:latin typeface="Arial"/>
              </a:defRPr>
            </a:pPr>
            <a:r>
              <a:t>Bloomberg lineage and raw-row evidence</a:t>
            </a:r>
          </a:p>
        </p:txBody>
      </p:sp>
      <p:sp>
        <p:nvSpPr>
          <p:cNvPr id="278" name="Google Shape;278;p15"/>
          <p:cNvSpPr/>
          <p:nvPr/>
        </p:nvSpPr>
        <p:spPr>
          <a:xfrm>
            <a:off x="628650" y="1123950"/>
            <a:ext cx="10668000" cy="323850"/>
          </a:xfrm>
          <a:prstGeom prst="rect">
            <a:avLst/>
          </a:prstGeom>
          <a:noFill/>
          <a:ln>
            <a:noFill/>
          </a:ln>
        </p:spPr>
        <p:txBody>
          <a:bodyPr spcFirstLastPara="1" wrap="square" lIns="18288" tIns="22860" rIns="18288" bIns="22860" anchor="t" anchorCtr="0">
            <a:noAutofit/>
          </a:bodyPr>
          <a:lstStyle/>
          <a:p>
            <a:pPr marL="0" marR="0" lvl="0" indent="0" algn="l" rtl="0">
              <a:lnSpc>
                <a:spcPct val="100000"/>
              </a:lnSpc>
              <a:spcBef>
                <a:spcPts val="0"/>
              </a:spcBef>
              <a:spcAft>
                <a:spcPts val="600"/>
              </a:spcAft>
              <a:buNone/>
              <a:defRPr sz="1500" b="0">
                <a:solidFill>
                  <a:srgbClr val="5F6F7A"/>
                </a:solidFill>
                <a:latin typeface="Arial"/>
              </a:defRPr>
            </a:pPr>
            <a:r>
              <a:t>AUDIT EVIDENCE | Source-log metadata; accepted manual checks</a:t>
            </a:r>
          </a:p>
        </p:txBody>
      </p:sp>
      <p:sp>
        <p:nvSpPr>
          <p:cNvPr id="279" name="Google Shape;279;p15"/>
          <p:cNvSpPr/>
          <p:nvPr/>
        </p:nvSpPr>
        <p:spPr>
          <a:xfrm>
            <a:off x="590550" y="6496050"/>
            <a:ext cx="11010900" cy="9525"/>
          </a:xfrm>
          <a:prstGeom prst="rect">
            <a:avLst/>
          </a:prstGeom>
          <a:solidFill>
            <a:srgbClr val="CFD8D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 name="Google Shape;280;p15"/>
          <p:cNvSpPr/>
          <p:nvPr/>
        </p:nvSpPr>
        <p:spPr>
          <a:xfrm>
            <a:off x="609600" y="6572250"/>
            <a:ext cx="4191000" cy="17145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050" b="0">
                <a:solidFill>
                  <a:srgbClr val="5F6F7A"/>
                </a:solidFill>
                <a:latin typeface="Arial"/>
                <a:ea typeface="Arial"/>
                <a:cs typeface="Arial"/>
                <a:sym typeface="Arial"/>
              </a:rPr>
              <a:t>MMF 1941   Project progress update</a:t>
            </a:r>
            <a:endParaRPr/>
          </a:p>
        </p:txBody>
      </p:sp>
      <p:sp>
        <p:nvSpPr>
          <p:cNvPr id="281" name="Google Shape;281;p15"/>
          <p:cNvSpPr/>
          <p:nvPr/>
        </p:nvSpPr>
        <p:spPr>
          <a:xfrm>
            <a:off x="11049000" y="6543675"/>
            <a:ext cx="533400" cy="190500"/>
          </a:xfrm>
          <a:prstGeom prst="rect">
            <a:avLst/>
          </a:prstGeom>
          <a:noFill/>
          <a:ln>
            <a:noFill/>
          </a:ln>
        </p:spPr>
        <p:txBody>
          <a:bodyPr spcFirstLastPara="1" wrap="square" lIns="18288" tIns="22860" rIns="18288" bIns="22860" anchor="t" anchorCtr="0">
            <a:noAutofit/>
          </a:bodyPr>
          <a:lstStyle/>
          <a:p>
            <a:pPr marL="0" marR="0" lvl="0" indent="0" algn="r" rtl="0">
              <a:lnSpc>
                <a:spcPct val="100000"/>
              </a:lnSpc>
              <a:spcBef>
                <a:spcPts val="0"/>
              </a:spcBef>
              <a:spcAft>
                <a:spcPts val="0"/>
              </a:spcAft>
              <a:buNone/>
              <a:defRPr sz="1125" b="0">
                <a:solidFill>
                  <a:srgbClr val="102A43"/>
                </a:solidFill>
                <a:latin typeface="Arial"/>
              </a:defRPr>
            </a:pPr>
            <a:r>
              <a:t>13</a:t>
            </a:r>
          </a:p>
        </p:txBody>
      </p:sp>
      <p:sp>
        <p:nvSpPr>
          <p:cNvPr id="282" name="Rectangle 281"/>
          <p:cNvSpPr/>
          <p:nvPr/>
        </p:nvSpPr>
        <p:spPr>
          <a:xfrm>
            <a:off x="640080" y="1645920"/>
            <a:ext cx="5577840" cy="3886200"/>
          </a:xfrm>
          <a:prstGeom prst="rect">
            <a:avLst/>
          </a:prstGeom>
          <a:solidFill>
            <a:srgbClr val="F2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3" name="TextBox 282"/>
          <p:cNvSpPr txBox="1"/>
          <p:nvPr/>
        </p:nvSpPr>
        <p:spPr>
          <a:xfrm>
            <a:off x="804671" y="1764792"/>
            <a:ext cx="5248655" cy="365760"/>
          </a:xfrm>
          <a:prstGeom prst="rect">
            <a:avLst/>
          </a:prstGeom>
          <a:noFill/>
        </p:spPr>
        <p:txBody>
          <a:bodyPr wrap="square" lIns="18288" tIns="22860" rIns="18288" bIns="22860">
            <a:spAutoFit/>
          </a:bodyPr>
          <a:lstStyle/>
          <a:p>
            <a:pPr>
              <a:lnSpc>
                <a:spcPct val="100000"/>
              </a:lnSpc>
              <a:spcAft>
                <a:spcPts val="600"/>
              </a:spcAft>
              <a:defRPr sz="1500" b="1">
                <a:solidFill>
                  <a:srgbClr val="087E8B"/>
                </a:solidFill>
                <a:latin typeface="Arial"/>
              </a:defRPr>
            </a:pPr>
            <a:r>
              <a:t>BLOOMBERG SOURCE LOG</a:t>
            </a:r>
          </a:p>
        </p:txBody>
      </p:sp>
      <p:sp>
        <p:nvSpPr>
          <p:cNvPr id="284" name="TextBox 283"/>
          <p:cNvSpPr txBox="1"/>
          <p:nvPr/>
        </p:nvSpPr>
        <p:spPr>
          <a:xfrm>
            <a:off x="804671" y="2286000"/>
            <a:ext cx="5248655" cy="3108960"/>
          </a:xfrm>
          <a:prstGeom prst="rect">
            <a:avLst/>
          </a:prstGeom>
          <a:noFill/>
        </p:spPr>
        <p:txBody>
          <a:bodyPr wrap="square" lIns="18288" tIns="22860" rIns="18288" bIns="22860">
            <a:spAutoFit/>
          </a:bodyPr>
          <a:lstStyle/>
          <a:p>
            <a:r>
              <a:rPr sz="1400">
                <a:solidFill>
                  <a:srgbClr val="1B2D3B"/>
                </a:solidFill>
              </a:rPr>
              <a:t>AAPL US Equity + SPY US Equity</a:t>
            </a:r>
          </a:p>
          <a:p>
            <a:r>
              <a:rPr sz="1400">
                <a:solidFill>
                  <a:srgbClr val="1B2D3B"/>
                </a:solidFill>
              </a:rPr>
              <a:t>BDP reference / BDH daily OHLCV + bid/ask</a:t>
            </a:r>
          </a:p>
          <a:p>
            <a:r>
              <a:rPr sz="1400">
                <a:solidFill>
                  <a:srgbClr val="1B2D3B"/>
                </a:solidFill>
              </a:rPr>
              <a:t>26 entries | retrieval: 2026-09-24 / 2026-09-25</a:t>
            </a:r>
          </a:p>
          <a:p>
            <a:r>
              <a:rPr sz="1400">
                <a:solidFill>
                  <a:srgbClr val="1B2D3B"/>
                </a:solidFill>
              </a:rPr>
              <a:t>Raw + static SHA-256: verified</a:t>
            </a:r>
          </a:p>
          <a:p>
            <a:r>
              <a:rPr sz="1400">
                <a:solidFill>
                  <a:srgbClr val="1B2D3B"/>
                </a:solidFill>
              </a:rPr>
              <a:t>Raw workbook preserved; hash verified.</a:t>
            </a:r>
          </a:p>
          <a:p>
            <a:r>
              <a:rPr sz="1400">
                <a:solidFill>
                  <a:srgbClr val="1B2D3B"/>
                </a:solidFill>
              </a:rPr>
              <a:t>Adjustment defaults remain unverified.</a:t>
            </a:r>
          </a:p>
        </p:txBody>
      </p:sp>
      <p:graphicFrame>
        <p:nvGraphicFramePr>
          <p:cNvPr id="285" name="Table 284"/>
          <p:cNvGraphicFramePr>
            <a:graphicFrameLocks noGrp="1"/>
          </p:cNvGraphicFramePr>
          <p:nvPr/>
        </p:nvGraphicFramePr>
        <p:xfrm>
          <a:off x="6400800" y="2148840"/>
          <a:ext cx="4800600" cy="2560320"/>
        </p:xfrm>
        <a:graphic>
          <a:graphicData uri="http://schemas.openxmlformats.org/drawingml/2006/table">
            <a:tbl>
              <a:tblPr firstRow="1" bandRow="1">
                <a:tableStyleId>{5C22544A-7EE6-4342-B048-85BDC9FD1C3A}</a:tableStyleId>
              </a:tblPr>
              <a:tblGrid>
                <a:gridCol w="1508760">
                  <a:extLst>
                    <a:ext uri="{9D8B030D-6E8A-4147-A177-3AD203B41FA5}">
                      <a16:colId xmlns:a16="http://schemas.microsoft.com/office/drawing/2014/main" val="20000"/>
                    </a:ext>
                  </a:extLst>
                </a:gridCol>
                <a:gridCol w="2057400">
                  <a:extLst>
                    <a:ext uri="{9D8B030D-6E8A-4147-A177-3AD203B41FA5}">
                      <a16:colId xmlns:a16="http://schemas.microsoft.com/office/drawing/2014/main" val="20001"/>
                    </a:ext>
                  </a:extLst>
                </a:gridCol>
                <a:gridCol w="1234440">
                  <a:extLst>
                    <a:ext uri="{9D8B030D-6E8A-4147-A177-3AD203B41FA5}">
                      <a16:colId xmlns:a16="http://schemas.microsoft.com/office/drawing/2014/main" val="20002"/>
                    </a:ext>
                  </a:extLst>
                </a:gridCol>
              </a:tblGrid>
              <a:tr h="512064">
                <a:tc>
                  <a:txBody>
                    <a:bodyPr/>
                    <a:lstStyle/>
                    <a:p>
                      <a:pPr>
                        <a:lnSpc>
                          <a:spcPct val="100000"/>
                        </a:lnSpc>
                        <a:spcAft>
                          <a:spcPts val="600"/>
                        </a:spcAft>
                        <a:defRPr sz="1700" b="1">
                          <a:solidFill>
                            <a:srgbClr val="FFFFFF"/>
                          </a:solidFill>
                          <a:latin typeface="Arial"/>
                        </a:defRPr>
                      </a:pPr>
                      <a:r>
                        <a:t>Asset</a:t>
                      </a:r>
                    </a:p>
                  </a:txBody>
                  <a:tcPr marT="64008" marB="64008" anchor="ctr">
                    <a:solidFill>
                      <a:srgbClr val="102A43"/>
                    </a:solidFill>
                  </a:tcPr>
                </a:tc>
                <a:tc>
                  <a:txBody>
                    <a:bodyPr/>
                    <a:lstStyle/>
                    <a:p>
                      <a:pPr>
                        <a:lnSpc>
                          <a:spcPct val="100000"/>
                        </a:lnSpc>
                        <a:spcAft>
                          <a:spcPts val="600"/>
                        </a:spcAft>
                        <a:defRPr sz="1700" b="1">
                          <a:solidFill>
                            <a:srgbClr val="FFFFFF"/>
                          </a:solidFill>
                          <a:latin typeface="Arial"/>
                        </a:defRPr>
                      </a:pPr>
                      <a:r>
                        <a:t>Raw line</a:t>
                      </a:r>
                    </a:p>
                  </a:txBody>
                  <a:tcPr marT="64008" marB="64008" anchor="ctr">
                    <a:solidFill>
                      <a:srgbClr val="102A43"/>
                    </a:solidFill>
                  </a:tcPr>
                </a:tc>
                <a:tc>
                  <a:txBody>
                    <a:bodyPr/>
                    <a:lstStyle/>
                    <a:p>
                      <a:pPr>
                        <a:lnSpc>
                          <a:spcPct val="100000"/>
                        </a:lnSpc>
                        <a:spcAft>
                          <a:spcPts val="600"/>
                        </a:spcAft>
                        <a:defRPr sz="1700" b="1">
                          <a:solidFill>
                            <a:srgbClr val="FFFFFF"/>
                          </a:solidFill>
                          <a:latin typeface="Arial"/>
                        </a:defRPr>
                      </a:pPr>
                      <a:r>
                        <a:t>Check</a:t>
                      </a:r>
                    </a:p>
                  </a:txBody>
                  <a:tcPr marT="64008" marB="64008" anchor="ctr">
                    <a:solidFill>
                      <a:srgbClr val="102A43"/>
                    </a:solidFill>
                  </a:tcPr>
                </a:tc>
                <a:extLst>
                  <a:ext uri="{0D108BD9-81ED-4DB2-BD59-A6C34878D82A}">
                    <a16:rowId xmlns:a16="http://schemas.microsoft.com/office/drawing/2014/main" val="10000"/>
                  </a:ext>
                </a:extLst>
              </a:tr>
              <a:tr h="512064">
                <a:tc>
                  <a:txBody>
                    <a:bodyPr/>
                    <a:lstStyle/>
                    <a:p>
                      <a:pPr>
                        <a:lnSpc>
                          <a:spcPct val="100000"/>
                        </a:lnSpc>
                        <a:spcAft>
                          <a:spcPts val="600"/>
                        </a:spcAft>
                        <a:defRPr sz="1700" b="0">
                          <a:solidFill>
                            <a:srgbClr val="172B3A"/>
                          </a:solidFill>
                          <a:latin typeface="Arial"/>
                        </a:defRPr>
                      </a:pPr>
                      <a:r>
                        <a:t>AAPL</a:t>
                      </a:r>
                    </a:p>
                  </a:txBody>
                  <a:tcPr marT="64008" marB="64008" anchor="ctr">
                    <a:solidFill>
                      <a:srgbClr val="F2F5F7"/>
                    </a:solidFill>
                  </a:tcPr>
                </a:tc>
                <a:tc>
                  <a:txBody>
                    <a:bodyPr/>
                    <a:lstStyle/>
                    <a:p>
                      <a:pPr>
                        <a:lnSpc>
                          <a:spcPct val="100000"/>
                        </a:lnSpc>
                        <a:spcAft>
                          <a:spcPts val="600"/>
                        </a:spcAft>
                        <a:defRPr sz="1700" b="0">
                          <a:solidFill>
                            <a:srgbClr val="172B3A"/>
                          </a:solidFill>
                          <a:latin typeface="Arial"/>
                        </a:defRPr>
                      </a:pPr>
                      <a:r>
                        <a:t>3,796,340</a:t>
                      </a:r>
                    </a:p>
                  </a:txBody>
                  <a:tcPr marT="64008" marB="64008" anchor="ctr">
                    <a:solidFill>
                      <a:srgbClr val="F2F5F7"/>
                    </a:solidFill>
                  </a:tcPr>
                </a:tc>
                <a:tc>
                  <a:txBody>
                    <a:bodyPr/>
                    <a:lstStyle/>
                    <a:p>
                      <a:pPr>
                        <a:lnSpc>
                          <a:spcPct val="100000"/>
                        </a:lnSpc>
                        <a:spcAft>
                          <a:spcPts val="600"/>
                        </a:spcAft>
                        <a:defRPr sz="1700" b="0">
                          <a:solidFill>
                            <a:srgbClr val="172B3A"/>
                          </a:solidFill>
                          <a:latin typeface="Arial"/>
                        </a:defRPr>
                      </a:pPr>
                      <a:r>
                        <a:t>PASS</a:t>
                      </a:r>
                    </a:p>
                  </a:txBody>
                  <a:tcPr marT="64008" marB="64008" anchor="ctr">
                    <a:solidFill>
                      <a:srgbClr val="F2F5F7"/>
                    </a:solidFill>
                  </a:tcPr>
                </a:tc>
                <a:extLst>
                  <a:ext uri="{0D108BD9-81ED-4DB2-BD59-A6C34878D82A}">
                    <a16:rowId xmlns:a16="http://schemas.microsoft.com/office/drawing/2014/main" val="10001"/>
                  </a:ext>
                </a:extLst>
              </a:tr>
              <a:tr h="512064">
                <a:tc>
                  <a:txBody>
                    <a:bodyPr/>
                    <a:lstStyle/>
                    <a:p>
                      <a:pPr>
                        <a:lnSpc>
                          <a:spcPct val="100000"/>
                        </a:lnSpc>
                        <a:spcAft>
                          <a:spcPts val="600"/>
                        </a:spcAft>
                        <a:defRPr sz="1700" b="0">
                          <a:solidFill>
                            <a:srgbClr val="172B3A"/>
                          </a:solidFill>
                          <a:latin typeface="Arial"/>
                        </a:defRPr>
                      </a:pPr>
                      <a:r>
                        <a:t>SPY</a:t>
                      </a:r>
                    </a:p>
                  </a:txBody>
                  <a:tcPr marT="64008" marB="64008" anchor="ctr">
                    <a:solidFill>
                      <a:srgbClr val="FFFFFF"/>
                    </a:solidFill>
                  </a:tcPr>
                </a:tc>
                <a:tc>
                  <a:txBody>
                    <a:bodyPr/>
                    <a:lstStyle/>
                    <a:p>
                      <a:pPr>
                        <a:lnSpc>
                          <a:spcPct val="100000"/>
                        </a:lnSpc>
                        <a:spcAft>
                          <a:spcPts val="600"/>
                        </a:spcAft>
                        <a:defRPr sz="1700" b="0">
                          <a:solidFill>
                            <a:srgbClr val="172B3A"/>
                          </a:solidFill>
                          <a:latin typeface="Arial"/>
                        </a:defRPr>
                      </a:pPr>
                      <a:r>
                        <a:t>4,238,251</a:t>
                      </a:r>
                    </a:p>
                  </a:txBody>
                  <a:tcPr marT="64008" marB="64008" anchor="ctr">
                    <a:solidFill>
                      <a:srgbClr val="FFFFFF"/>
                    </a:solidFill>
                  </a:tcPr>
                </a:tc>
                <a:tc>
                  <a:txBody>
                    <a:bodyPr/>
                    <a:lstStyle/>
                    <a:p>
                      <a:pPr>
                        <a:lnSpc>
                          <a:spcPct val="100000"/>
                        </a:lnSpc>
                        <a:spcAft>
                          <a:spcPts val="600"/>
                        </a:spcAft>
                        <a:defRPr sz="1700" b="0">
                          <a:solidFill>
                            <a:srgbClr val="172B3A"/>
                          </a:solidFill>
                          <a:latin typeface="Arial"/>
                        </a:defRPr>
                      </a:pPr>
                      <a:r>
                        <a:t>PASS</a:t>
                      </a:r>
                    </a:p>
                  </a:txBody>
                  <a:tcPr marT="64008" marB="64008" anchor="ctr">
                    <a:solidFill>
                      <a:srgbClr val="FFFFFF"/>
                    </a:solidFill>
                  </a:tcPr>
                </a:tc>
                <a:extLst>
                  <a:ext uri="{0D108BD9-81ED-4DB2-BD59-A6C34878D82A}">
                    <a16:rowId xmlns:a16="http://schemas.microsoft.com/office/drawing/2014/main" val="10002"/>
                  </a:ext>
                </a:extLst>
              </a:tr>
              <a:tr h="512064">
                <a:tc>
                  <a:txBody>
                    <a:bodyPr/>
                    <a:lstStyle/>
                    <a:p>
                      <a:pPr>
                        <a:lnSpc>
                          <a:spcPct val="100000"/>
                        </a:lnSpc>
                        <a:spcAft>
                          <a:spcPts val="600"/>
                        </a:spcAft>
                        <a:defRPr sz="1700" b="0">
                          <a:solidFill>
                            <a:srgbClr val="172B3A"/>
                          </a:solidFill>
                          <a:latin typeface="Arial"/>
                        </a:defRPr>
                      </a:pPr>
                      <a:r>
                        <a:t>ES_Z24</a:t>
                      </a:r>
                    </a:p>
                  </a:txBody>
                  <a:tcPr marT="64008" marB="64008" anchor="ctr">
                    <a:solidFill>
                      <a:srgbClr val="F2F5F7"/>
                    </a:solidFill>
                  </a:tcPr>
                </a:tc>
                <a:tc>
                  <a:txBody>
                    <a:bodyPr/>
                    <a:lstStyle/>
                    <a:p>
                      <a:pPr>
                        <a:lnSpc>
                          <a:spcPct val="100000"/>
                        </a:lnSpc>
                        <a:spcAft>
                          <a:spcPts val="600"/>
                        </a:spcAft>
                        <a:defRPr sz="1700" b="0">
                          <a:solidFill>
                            <a:srgbClr val="172B3A"/>
                          </a:solidFill>
                          <a:latin typeface="Arial"/>
                        </a:defRPr>
                      </a:pPr>
                      <a:r>
                        <a:t>76,450</a:t>
                      </a:r>
                    </a:p>
                  </a:txBody>
                  <a:tcPr marT="64008" marB="64008" anchor="ctr">
                    <a:solidFill>
                      <a:srgbClr val="F2F5F7"/>
                    </a:solidFill>
                  </a:tcPr>
                </a:tc>
                <a:tc>
                  <a:txBody>
                    <a:bodyPr/>
                    <a:lstStyle/>
                    <a:p>
                      <a:pPr>
                        <a:lnSpc>
                          <a:spcPct val="100000"/>
                        </a:lnSpc>
                        <a:spcAft>
                          <a:spcPts val="600"/>
                        </a:spcAft>
                        <a:defRPr sz="1700" b="0">
                          <a:solidFill>
                            <a:srgbClr val="172B3A"/>
                          </a:solidFill>
                          <a:latin typeface="Arial"/>
                        </a:defRPr>
                      </a:pPr>
                      <a:r>
                        <a:t>PASS</a:t>
                      </a:r>
                    </a:p>
                  </a:txBody>
                  <a:tcPr marT="64008" marB="64008" anchor="ctr">
                    <a:solidFill>
                      <a:srgbClr val="F2F5F7"/>
                    </a:solidFill>
                  </a:tcPr>
                </a:tc>
                <a:extLst>
                  <a:ext uri="{0D108BD9-81ED-4DB2-BD59-A6C34878D82A}">
                    <a16:rowId xmlns:a16="http://schemas.microsoft.com/office/drawing/2014/main" val="10003"/>
                  </a:ext>
                </a:extLst>
              </a:tr>
              <a:tr h="512064">
                <a:tc>
                  <a:txBody>
                    <a:bodyPr/>
                    <a:lstStyle/>
                    <a:p>
                      <a:pPr>
                        <a:lnSpc>
                          <a:spcPct val="100000"/>
                        </a:lnSpc>
                        <a:spcAft>
                          <a:spcPts val="600"/>
                        </a:spcAft>
                        <a:defRPr sz="1700" b="0">
                          <a:solidFill>
                            <a:srgbClr val="172B3A"/>
                          </a:solidFill>
                          <a:latin typeface="Arial"/>
                        </a:defRPr>
                      </a:pPr>
                      <a:r>
                        <a:t>BTC</a:t>
                      </a:r>
                    </a:p>
                  </a:txBody>
                  <a:tcPr marT="64008" marB="64008" anchor="ctr">
                    <a:solidFill>
                      <a:srgbClr val="FFFFFF"/>
                    </a:solidFill>
                  </a:tcPr>
                </a:tc>
                <a:tc>
                  <a:txBody>
                    <a:bodyPr/>
                    <a:lstStyle/>
                    <a:p>
                      <a:pPr>
                        <a:lnSpc>
                          <a:spcPct val="100000"/>
                        </a:lnSpc>
                        <a:spcAft>
                          <a:spcPts val="600"/>
                        </a:spcAft>
                        <a:defRPr sz="1700" b="0">
                          <a:solidFill>
                            <a:srgbClr val="172B3A"/>
                          </a:solidFill>
                          <a:latin typeface="Arial"/>
                        </a:defRPr>
                      </a:pPr>
                      <a:r>
                        <a:t>5,344,971</a:t>
                      </a:r>
                    </a:p>
                  </a:txBody>
                  <a:tcPr marT="64008" marB="64008" anchor="ctr">
                    <a:solidFill>
                      <a:srgbClr val="FFFFFF"/>
                    </a:solidFill>
                  </a:tcPr>
                </a:tc>
                <a:tc>
                  <a:txBody>
                    <a:bodyPr/>
                    <a:lstStyle/>
                    <a:p>
                      <a:pPr>
                        <a:lnSpc>
                          <a:spcPct val="100000"/>
                        </a:lnSpc>
                        <a:spcAft>
                          <a:spcPts val="600"/>
                        </a:spcAft>
                        <a:defRPr sz="1700" b="0">
                          <a:solidFill>
                            <a:srgbClr val="172B3A"/>
                          </a:solidFill>
                          <a:latin typeface="Arial"/>
                        </a:defRPr>
                      </a:pPr>
                      <a:r>
                        <a:t>PASS</a:t>
                      </a:r>
                    </a:p>
                  </a:txBody>
                  <a:tcPr marT="64008" marB="64008" anchor="ctr">
                    <a:solidFill>
                      <a:srgbClr val="FFFFFF"/>
                    </a:solidFill>
                  </a:tcPr>
                </a:tc>
                <a:extLst>
                  <a:ext uri="{0D108BD9-81ED-4DB2-BD59-A6C34878D82A}">
                    <a16:rowId xmlns:a16="http://schemas.microsoft.com/office/drawing/2014/main" val="10004"/>
                  </a:ext>
                </a:extLst>
              </a:tr>
            </a:tbl>
          </a:graphicData>
        </a:graphic>
      </p:graphicFrame>
      <p:sp>
        <p:nvSpPr>
          <p:cNvPr id="286" name="TextBox 285"/>
          <p:cNvSpPr txBox="1"/>
          <p:nvPr/>
        </p:nvSpPr>
        <p:spPr>
          <a:xfrm>
            <a:off x="6400800" y="1709928"/>
            <a:ext cx="4754880" cy="365760"/>
          </a:xfrm>
          <a:prstGeom prst="rect">
            <a:avLst/>
          </a:prstGeom>
          <a:noFill/>
        </p:spPr>
        <p:txBody>
          <a:bodyPr wrap="square" lIns="18288" tIns="22860" rIns="18288" bIns="22860">
            <a:spAutoFit/>
          </a:bodyPr>
          <a:lstStyle/>
          <a:p>
            <a:pPr>
              <a:lnSpc>
                <a:spcPct val="100000"/>
              </a:lnSpc>
              <a:spcAft>
                <a:spcPts val="600"/>
              </a:spcAft>
              <a:defRPr sz="1600" b="1">
                <a:solidFill>
                  <a:srgbClr val="087E8B"/>
                </a:solidFill>
                <a:latin typeface="Arial"/>
              </a:defRPr>
            </a:pPr>
            <a:r>
              <a:t>MANUAL VALIDATION: 10/10</a:t>
            </a:r>
          </a:p>
        </p:txBody>
      </p:sp>
      <p:sp>
        <p:nvSpPr>
          <p:cNvPr id="287" name="TextBox 286"/>
          <p:cNvSpPr txBox="1"/>
          <p:nvPr/>
        </p:nvSpPr>
        <p:spPr>
          <a:xfrm>
            <a:off x="6400800" y="4892040"/>
            <a:ext cx="4800600" cy="594360"/>
          </a:xfrm>
          <a:prstGeom prst="rect">
            <a:avLst/>
          </a:prstGeom>
          <a:noFill/>
        </p:spPr>
        <p:txBody>
          <a:bodyPr wrap="square" lIns="18288" tIns="22860" rIns="18288" bIns="22860">
            <a:spAutoFit/>
          </a:bodyPr>
          <a:lstStyle/>
          <a:p>
            <a:pPr>
              <a:lnSpc>
                <a:spcPct val="100000"/>
              </a:lnSpc>
              <a:spcAft>
                <a:spcPts val="600"/>
              </a:spcAft>
              <a:defRPr sz="1700" b="0">
                <a:solidFill>
                  <a:srgbClr val="172B3A"/>
                </a:solidFill>
                <a:latin typeface="Arial"/>
              </a:defRPr>
            </a:pPr>
            <a:r>
              <a:t>Raw path / line / text + parsed values, range, gap and return checks retained.</a:t>
            </a:r>
          </a:p>
        </p:txBody>
      </p:sp>
      <p:sp>
        <p:nvSpPr>
          <p:cNvPr id="288" name="TextBox 287"/>
          <p:cNvSpPr txBox="1"/>
          <p:nvPr/>
        </p:nvSpPr>
        <p:spPr>
          <a:xfrm>
            <a:off x="640080" y="5760720"/>
            <a:ext cx="1371600" cy="457200"/>
          </a:xfrm>
          <a:prstGeom prst="rect">
            <a:avLst/>
          </a:prstGeom>
          <a:noFill/>
        </p:spPr>
        <p:txBody>
          <a:bodyPr wrap="square" lIns="18288" tIns="22860" rIns="18288" bIns="22860">
            <a:spAutoFit/>
          </a:bodyPr>
          <a:lstStyle/>
          <a:p>
            <a:pPr>
              <a:lnSpc>
                <a:spcPct val="100000"/>
              </a:lnSpc>
              <a:spcAft>
                <a:spcPts val="0"/>
              </a:spcAft>
              <a:defRPr sz="1200" b="1">
                <a:solidFill>
                  <a:srgbClr val="087E8B"/>
                </a:solidFill>
                <a:latin typeface="Arial"/>
              </a:defRPr>
            </a:pPr>
            <a:r>
              <a:t>LIMITATION</a:t>
            </a:r>
          </a:p>
        </p:txBody>
      </p:sp>
      <p:sp>
        <p:nvSpPr>
          <p:cNvPr id="289" name="TextBox 288"/>
          <p:cNvSpPr txBox="1"/>
          <p:nvPr/>
        </p:nvSpPr>
        <p:spPr>
          <a:xfrm>
            <a:off x="2011680" y="5687568"/>
            <a:ext cx="9464040" cy="621792"/>
          </a:xfrm>
          <a:prstGeom prst="rect">
            <a:avLst/>
          </a:prstGeom>
          <a:noFill/>
        </p:spPr>
        <p:txBody>
          <a:bodyPr wrap="square" lIns="18288" tIns="22860" rIns="18288" bIns="22860">
            <a:spAutoFit/>
          </a:bodyPr>
          <a:lstStyle/>
          <a:p>
            <a:pPr>
              <a:lnSpc>
                <a:spcPct val="100000"/>
              </a:lnSpc>
              <a:spcAft>
                <a:spcPts val="600"/>
              </a:spcAft>
              <a:defRPr sz="1900" b="0">
                <a:solidFill>
                  <a:srgbClr val="102A43"/>
                </a:solidFill>
                <a:latin typeface="Arial"/>
              </a:defRPr>
            </a:pPr>
            <a:r>
              <a:t>Bloomberg daily metadata do not resolve the local intraday timezone.</a:t>
            </a:r>
          </a:p>
        </p:txBody>
      </p:sp>
    </p:spTree>
  </p:cSld>
  <p:clrMapOvr>
    <a:masterClrMapping/>
  </p:clrMapOvr>
</p:sld>
</file>

<file path=ppt/theme/theme1.xml><?xml version="1.0" encoding="utf-8"?>
<a:theme xmlns:a="http://schemas.openxmlformats.org/drawingml/2006/main" name="RiskLab MMF 2026">
  <a:themeElements>
    <a:clrScheme name="RiskLab MMF 2026">
      <a:dk1>
        <a:srgbClr val="000000"/>
      </a:dk1>
      <a:lt1>
        <a:srgbClr val="FFFFFF"/>
      </a:lt1>
      <a:dk2>
        <a:srgbClr val="102A43"/>
      </a:dk2>
      <a:lt2>
        <a:srgbClr val="F2F5F7"/>
      </a:lt2>
      <a:accent1>
        <a:srgbClr val="087E8B"/>
      </a:accent1>
      <a:accent2>
        <a:srgbClr val="246BCE"/>
      </a:accent2>
      <a:accent3>
        <a:srgbClr val="C56A11"/>
      </a:accent3>
      <a:accent4>
        <a:srgbClr val="B5473C"/>
      </a:accent4>
      <a:accent5>
        <a:srgbClr val="2E7D5A"/>
      </a:accent5>
      <a:accent6>
        <a:srgbClr val="173F5F"/>
      </a:accent6>
      <a:hlink>
        <a:srgbClr val="246BCE"/>
      </a:hlink>
      <a:folHlink>
        <a:srgbClr val="6B4E9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RiskLab MMF 2026">
  <a:themeElements>
    <a:clrScheme name="RiskLab MMF 2026">
      <a:dk1>
        <a:srgbClr val="000000"/>
      </a:dk1>
      <a:lt1>
        <a:srgbClr val="FFFFFF"/>
      </a:lt1>
      <a:dk2>
        <a:srgbClr val="102A43"/>
      </a:dk2>
      <a:lt2>
        <a:srgbClr val="F2F5F7"/>
      </a:lt2>
      <a:accent1>
        <a:srgbClr val="087E8B"/>
      </a:accent1>
      <a:accent2>
        <a:srgbClr val="246BCE"/>
      </a:accent2>
      <a:accent3>
        <a:srgbClr val="C56A11"/>
      </a:accent3>
      <a:accent4>
        <a:srgbClr val="B5473C"/>
      </a:accent4>
      <a:accent5>
        <a:srgbClr val="2E7D5A"/>
      </a:accent5>
      <a:accent6>
        <a:srgbClr val="173F5F"/>
      </a:accent6>
      <a:hlink>
        <a:srgbClr val="246BCE"/>
      </a:hlink>
      <a:folHlink>
        <a:srgbClr val="6B4E9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123</TotalTime>
  <Words>1639</Words>
  <Application>Microsoft Office PowerPoint</Application>
  <PresentationFormat>Widescreen</PresentationFormat>
  <Paragraphs>289</Paragraphs>
  <Slides>13</Slides>
  <Notes>13</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13</vt:i4>
      </vt:variant>
    </vt:vector>
  </HeadingPairs>
  <TitlesOfParts>
    <vt:vector size="15" baseType="lpstr">
      <vt:lpstr>Arial</vt:lpstr>
      <vt:lpstr>RiskLab MMF 2026</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Jaime Corzo Galdo</cp:lastModifiedBy>
  <cp:revision>4</cp:revision>
  <dcterms:modified xsi:type="dcterms:W3CDTF">2026-09-28T21:54:55Z</dcterms:modified>
</cp:coreProperties>
</file>