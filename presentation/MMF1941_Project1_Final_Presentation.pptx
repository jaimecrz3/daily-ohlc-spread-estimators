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price summaries are widely available, but execution-cost information is harder to obtain. This presentation asks which existing daily estimator best tracks a common intraday proxy.
Transition: Start with the question and the original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CS, AR and EDGE rather than build a new estimator. The original expectations favored EDGE, downward CS bias in thin markets, and stable class rankings. Those expectations were recorded before provider performance and remain open to contradiction.
Transition: Explain the sample on which the question can actually be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completed comparison spans stocks, ETFs, futures and crypto, stratified independently by liquidity. The common-defined sample is smaller than the eligible design, and class calendars differ. FX remained in scope but blocked, with no substitute source.
Transition: Show how daily estimates and the intraday proxy enter the same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daily spread estimate is compared with the one-minute Roll measure on exactly the same asset-days. Bias describes the average signed gap, MAE typical absolute discrepancy, and RMSE gives large errors more weight. HAC inference concerns signed bias only; the accuracy ranking is descriptive.
Transition: Give the overall accuracy answer before discussing its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roughly halves typical absolute error relative to CS and AR in the frozen sample. Its advantage is against Roll, not an observed true execution cost, and it remains positively biased overall. No statistical-superiority test was specified for MAE or RMSE differences.
Transition: Ask whether that ordering survives when markets are separated.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ETFs favor CS on both criteria, while stocks favor EDGE on MAE and CS on RMSE. Futures and crypto favor EDGE on both. The figure adds tier detail; its individual cells should not be confused with the class-aggregate matrix.
Transition: Translate those boundaries into evidence about the original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EDGE leadership is partial support for dominance, not universal confirmation. Its raw-negative-rate lead also has class exceptions, while positive LOW-tier CS bias contradicts the directional expectation. Stable rankings across classes are not supported.
Transition: Explain the benchmark limitation that conditions every accuracy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 availability is the main bottleneck, particularly for ETFs. Our accuracy comparison is conditional on all measures being defined, so it cannot rank methods on the unavailable days. The coverage thresholds shown in robustness are sensitivity diagnostics, not the primary sample.
Transition: Check whether the overall finding depends on specific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EDGE leadership survives the applicable coverage, weighting and convention sensitivities. ETF and stock class leaders are preserved under matched adjusted and unadjusted Bloomberg comparisons. The stock abs-root and asset-omission results show why local conclusions need qualification.
Transition: Close with the answer and its economic scope; diagnostic material remains available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is the strongest overall match to the frozen Roll benchmark, but method choice depends on asset class and the error criterion. Daily OHLC spread estimators are useful, but they are not interchangeable across market structures.
Transition: Invite questions; use the optional appendices only for the topic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A1 prompt: the cross-fitted model predicts errors rather than generating new spreads; emphasize association, mechanical input overlap and the persistence shown by the lag placebo. This diagnostic may train on later non-overlapping periods and is not forward-only trading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only for Q&amp;A on universe construction. Selection was frozen before estimator performance; IMDX remains source-defined with uncertified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method detail. Emphasize frozen scheduled-period mappings and that negative-but-computable moments remain defined after the published/project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only when asked about class-by-tier detail. The table is descriptive and does not imply significance of rank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rates use all design-eligible days; raw-negative rates use each method’s finite raw-computable days. Negative-but-computable estimates remain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R25 and R50 are prespecified sensitivity filters, not preferred samples. Overall and class-level leader patterns survive, while thin ETF tier cells become tiny or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cross-fitting may train on later non-overlapping periods, so this is ex-post diagnostic association rather than forward-only trading validation. The lag placebo retains substantial predictability.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questions about calendars, data source independence, quote currency, look-ahead tier calibration, IMDX continuity and FX. The main message is that the evidence is conditional on the frozen proxy and available class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BFCFD"/>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068A95"/>
          </a:solidFill>
          <a:ln w="12700">
            <a:solidFill>
              <a:srgbClr val="068A95"/>
            </a:solidFill>
            <a:prstDash val="solid"/>
          </a:ln>
        </p:spPr>
      </p:sp>
      <p:sp>
        <p:nvSpPr>
          <p:cNvPr id="3" name="Shape 1"/>
          <p:cNvSpPr/>
          <p:nvPr/>
        </p:nvSpPr>
        <p:spPr>
          <a:xfrm>
            <a:off x="384048" y="6528816"/>
            <a:ext cx="11411712" cy="0"/>
          </a:xfrm>
          <a:prstGeom prst="line">
            <a:avLst/>
          </a:prstGeom>
          <a:noFill/>
          <a:ln w="10160">
            <a:solidFill>
              <a:srgbClr val="D9E0E5"/>
            </a:solidFill>
            <a:prstDash val="solid"/>
          </a:ln>
        </p:spPr>
      </p:sp>
      <p:sp>
        <p:nvSpPr>
          <p:cNvPr id="4" name="Text 2"/>
          <p:cNvSpPr/>
          <p:nvPr/>
        </p:nvSpPr>
        <p:spPr>
          <a:xfrm>
            <a:off x="393192" y="6565392"/>
            <a:ext cx="7863840" cy="164592"/>
          </a:xfrm>
          <a:prstGeom prst="rect">
            <a:avLst/>
          </a:prstGeom>
          <a:noFill/>
          <a:ln/>
        </p:spPr>
        <p:txBody>
          <a:bodyPr wrap="square" lIns="0" tIns="0" rIns="0" bIns="0" rtlCol="0" anchor="ctr"/>
          <a:lstStyle/>
          <a:p>
            <a:pPr indent="0" marL="0">
              <a:buNone/>
            </a:pPr>
            <a:r>
              <a:rPr lang="en-US" sz="680" dirty="0">
                <a:solidFill>
                  <a:srgbClr val="7C8993"/>
                </a:solidFill>
                <a:latin typeface="Arial" pitchFamily="34" charset="0"/>
                <a:ea typeface="Arial" pitchFamily="34" charset="-122"/>
                <a:cs typeface="Arial" pitchFamily="34" charset="-120"/>
              </a:rPr>
              <a:t>MMF 1941   |   Financial Data Analysis &amp; Strategies   |   Jaime Corzo Galdó</a:t>
            </a:r>
            <a:endParaRPr lang="en-US" sz="68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75488" y="502920"/>
            <a:ext cx="2377440" cy="201168"/>
          </a:xfrm>
          <a:prstGeom prst="rect">
            <a:avLst/>
          </a:prstGeom>
          <a:noFill/>
          <a:ln/>
        </p:spPr>
        <p:txBody>
          <a:bodyPr wrap="square" lIns="0" tIns="0" rIns="0" bIns="0" rtlCol="0" anchor="ctr">
            <a:normAutofit/>
          </a:bodyPr>
          <a:lstStyle/>
          <a:p>
            <a:pPr algn="l" indent="0" marL="0">
              <a:buNone/>
            </a:pPr>
            <a:r>
              <a:rPr lang="en-US" sz="820" b="1" dirty="0">
                <a:solidFill>
                  <a:srgbClr val="068A95"/>
                </a:solidFill>
                <a:latin typeface="Arial" pitchFamily="34" charset="0"/>
                <a:ea typeface="Arial" pitchFamily="34" charset="-122"/>
                <a:cs typeface="Arial" pitchFamily="34" charset="-120"/>
              </a:rPr>
              <a:t>PROJECT 1 · A04-03</a:t>
            </a:r>
            <a:endParaRPr lang="en-US" sz="820" dirty="0"/>
          </a:p>
        </p:txBody>
      </p:sp>
      <p:sp>
        <p:nvSpPr>
          <p:cNvPr id="3" name="Text 1"/>
          <p:cNvSpPr/>
          <p:nvPr/>
        </p:nvSpPr>
        <p:spPr>
          <a:xfrm>
            <a:off x="475488" y="1097280"/>
            <a:ext cx="7315200" cy="1234440"/>
          </a:xfrm>
          <a:prstGeom prst="rect">
            <a:avLst/>
          </a:prstGeom>
          <a:noFill/>
          <a:ln/>
        </p:spPr>
        <p:txBody>
          <a:bodyPr wrap="square" lIns="0" tIns="0" rIns="0" bIns="0" rtlCol="0" anchor="t">
            <a:normAutofit/>
          </a:bodyPr>
          <a:lstStyle/>
          <a:p>
            <a:pPr algn="l" indent="0" marL="0">
              <a:buNone/>
            </a:pPr>
            <a:r>
              <a:rPr lang="en-US" sz="3150" b="1" dirty="0">
                <a:solidFill>
                  <a:srgbClr val="0B2A45"/>
                </a:solidFill>
                <a:latin typeface="Arial" pitchFamily="34" charset="0"/>
                <a:ea typeface="Arial" pitchFamily="34" charset="-122"/>
                <a:cs typeface="Arial" pitchFamily="34" charset="-120"/>
              </a:rPr>
              <a:t>Which Daily OHLC Spread Estimator</a:t>
            </a:r>
            <a:endParaRPr lang="en-US" sz="3150" dirty="0"/>
          </a:p>
          <a:p>
            <a:pPr algn="l" indent="0" marL="0">
              <a:buNone/>
            </a:pPr>
            <a:r>
              <a:rPr lang="en-US" sz="3150" b="1" dirty="0">
                <a:solidFill>
                  <a:srgbClr val="0B2A45"/>
                </a:solidFill>
                <a:latin typeface="Arial" pitchFamily="34" charset="0"/>
                <a:ea typeface="Arial" pitchFamily="34" charset="-122"/>
                <a:cs typeface="Arial" pitchFamily="34" charset="-120"/>
              </a:rPr>
              <a:t>Tracks Realized Intraday Cost?</a:t>
            </a:r>
            <a:endParaRPr lang="en-US" sz="3150" dirty="0"/>
          </a:p>
        </p:txBody>
      </p:sp>
      <p:sp>
        <p:nvSpPr>
          <p:cNvPr id="4" name="Text 2"/>
          <p:cNvSpPr/>
          <p:nvPr/>
        </p:nvSpPr>
        <p:spPr>
          <a:xfrm>
            <a:off x="475488" y="2487168"/>
            <a:ext cx="5669280" cy="384048"/>
          </a:xfrm>
          <a:prstGeom prst="rect">
            <a:avLst/>
          </a:prstGeom>
          <a:noFill/>
          <a:ln/>
        </p:spPr>
        <p:txBody>
          <a:bodyPr wrap="square" lIns="0" tIns="0" rIns="0" bIns="0" rtlCol="0" anchor="ctr">
            <a:normAutofit/>
          </a:bodyPr>
          <a:lstStyle/>
          <a:p>
            <a:pPr algn="l" indent="0" marL="0">
              <a:buNone/>
            </a:pPr>
            <a:r>
              <a:rPr lang="en-US" sz="2000" b="1" dirty="0">
                <a:solidFill>
                  <a:srgbClr val="068A95"/>
                </a:solidFill>
                <a:latin typeface="Arial" pitchFamily="34" charset="0"/>
                <a:ea typeface="Arial" pitchFamily="34" charset="-122"/>
                <a:cs typeface="Arial" pitchFamily="34" charset="-120"/>
              </a:rPr>
              <a:t>A CS / AR / EDGE Horse-Race</a:t>
            </a:r>
            <a:endParaRPr lang="en-US" sz="2000" dirty="0"/>
          </a:p>
        </p:txBody>
      </p:sp>
      <p:sp>
        <p:nvSpPr>
          <p:cNvPr id="5" name="Text 3"/>
          <p:cNvSpPr/>
          <p:nvPr/>
        </p:nvSpPr>
        <p:spPr>
          <a:xfrm>
            <a:off x="475488" y="3063240"/>
            <a:ext cx="6309360" cy="438912"/>
          </a:xfrm>
          <a:prstGeom prst="rect">
            <a:avLst/>
          </a:prstGeom>
          <a:noFill/>
          <a:ln/>
        </p:spPr>
        <p:txBody>
          <a:bodyPr wrap="square" lIns="0" tIns="0" rIns="0" bIns="0" rtlCol="0" anchor="ctr">
            <a:normAutofit/>
          </a:bodyPr>
          <a:lstStyle/>
          <a:p>
            <a:pPr algn="l" indent="0" marL="0">
              <a:buNone/>
            </a:pPr>
            <a:r>
              <a:rPr lang="en-US" sz="1350" dirty="0">
                <a:solidFill>
                  <a:srgbClr val="6F7E89"/>
                </a:solidFill>
                <a:latin typeface="Arial" pitchFamily="34" charset="0"/>
                <a:ea typeface="Arial" pitchFamily="34" charset="-122"/>
                <a:cs typeface="Arial" pitchFamily="34" charset="-120"/>
              </a:rPr>
              <a:t>Comparative evidence across stocks, ETFs, futures and crypto</a:t>
            </a:r>
            <a:endParaRPr lang="en-US" sz="1350" dirty="0"/>
          </a:p>
        </p:txBody>
      </p:sp>
      <p:sp>
        <p:nvSpPr>
          <p:cNvPr id="6" name="Text 4"/>
          <p:cNvSpPr/>
          <p:nvPr/>
        </p:nvSpPr>
        <p:spPr>
          <a:xfrm>
            <a:off x="475488" y="5166360"/>
            <a:ext cx="3657600" cy="256032"/>
          </a:xfrm>
          <a:prstGeom prst="rect">
            <a:avLst/>
          </a:prstGeom>
          <a:noFill/>
          <a:ln/>
        </p:spPr>
        <p:txBody>
          <a:bodyPr wrap="square" lIns="0" tIns="0" rIns="0" bIns="0" rtlCol="0" anchor="ctr">
            <a:normAutofit/>
          </a:bodyPr>
          <a:lstStyle/>
          <a:p>
            <a:pPr algn="l" indent="0" marL="0">
              <a:buNone/>
            </a:pPr>
            <a:r>
              <a:rPr lang="en-US" sz="1220" b="1" dirty="0">
                <a:solidFill>
                  <a:srgbClr val="0B2A45"/>
                </a:solidFill>
                <a:latin typeface="Arial" pitchFamily="34" charset="0"/>
                <a:ea typeface="Arial" pitchFamily="34" charset="-122"/>
                <a:cs typeface="Arial" pitchFamily="34" charset="-120"/>
              </a:rPr>
              <a:t>Jaime Corzo Galdó</a:t>
            </a:r>
            <a:endParaRPr lang="en-US" sz="1220" dirty="0"/>
          </a:p>
        </p:txBody>
      </p:sp>
      <p:sp>
        <p:nvSpPr>
          <p:cNvPr id="7" name="Text 5"/>
          <p:cNvSpPr/>
          <p:nvPr/>
        </p:nvSpPr>
        <p:spPr>
          <a:xfrm>
            <a:off x="475488" y="5468112"/>
            <a:ext cx="4754880" cy="219456"/>
          </a:xfrm>
          <a:prstGeom prst="rect">
            <a:avLst/>
          </a:prstGeom>
          <a:noFill/>
          <a:ln/>
        </p:spPr>
        <p:txBody>
          <a:bodyPr wrap="square" lIns="0" tIns="0" rIns="0" bIns="0" rtlCol="0" anchor="ctr">
            <a:normAutofit/>
          </a:bodyPr>
          <a:lstStyle/>
          <a:p>
            <a:pPr algn="l" indent="0" marL="0">
              <a:buNone/>
            </a:pPr>
            <a:r>
              <a:rPr lang="en-US" sz="950" dirty="0">
                <a:solidFill>
                  <a:srgbClr val="6F7E89"/>
                </a:solidFill>
                <a:latin typeface="Arial" pitchFamily="34" charset="0"/>
                <a:ea typeface="Arial" pitchFamily="34" charset="-122"/>
                <a:cs typeface="Arial" pitchFamily="34" charset="-120"/>
              </a:rPr>
              <a:t>MMF 1941 · Financial Data Analysis &amp; Strategies</a:t>
            </a:r>
            <a:endParaRPr lang="en-US" sz="950" dirty="0"/>
          </a:p>
        </p:txBody>
      </p:sp>
      <p:sp>
        <p:nvSpPr>
          <p:cNvPr id="8" name="Shape 6"/>
          <p:cNvSpPr/>
          <p:nvPr/>
        </p:nvSpPr>
        <p:spPr>
          <a:xfrm>
            <a:off x="7973568" y="960120"/>
            <a:ext cx="3401568" cy="4297680"/>
          </a:xfrm>
          <a:prstGeom prst="roundRect">
            <a:avLst>
              <a:gd name="adj" fmla="val 1613"/>
            </a:avLst>
          </a:prstGeom>
          <a:solidFill>
            <a:srgbClr val="F7FAFB"/>
          </a:solidFill>
          <a:ln w="12700">
            <a:solidFill>
              <a:srgbClr val="E2E8EC"/>
            </a:solidFill>
            <a:prstDash val="solid"/>
          </a:ln>
          <a:effectLst>
            <a:outerShdw sx="100000" sy="100000" kx="0" ky="0" algn="bl" rotWithShape="0" blurRad="19050" dist="50800" dir="2700000">
              <a:srgbClr val="DDE3E7">
                <a:alpha val="20000"/>
              </a:srgbClr>
            </a:outerShdw>
          </a:effectLst>
        </p:spPr>
      </p:sp>
      <p:sp>
        <p:nvSpPr>
          <p:cNvPr id="9" name="Text 7"/>
          <p:cNvSpPr/>
          <p:nvPr/>
        </p:nvSpPr>
        <p:spPr>
          <a:xfrm>
            <a:off x="8257032" y="1216152"/>
            <a:ext cx="27432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DAILY OHLC → INTRADAY BENCHMARK</a:t>
            </a:r>
            <a:endParaRPr lang="en-US" sz="750" dirty="0"/>
          </a:p>
        </p:txBody>
      </p:sp>
      <p:sp>
        <p:nvSpPr>
          <p:cNvPr id="10" name="Shape 8"/>
          <p:cNvSpPr/>
          <p:nvPr/>
        </p:nvSpPr>
        <p:spPr>
          <a:xfrm>
            <a:off x="8366760" y="2573122"/>
            <a:ext cx="0" cy="603504"/>
          </a:xfrm>
          <a:prstGeom prst="line">
            <a:avLst/>
          </a:prstGeom>
          <a:noFill/>
          <a:ln w="13970">
            <a:solidFill>
              <a:srgbClr val="6E7F8C"/>
            </a:solidFill>
            <a:prstDash val="solid"/>
          </a:ln>
        </p:spPr>
      </p:sp>
      <p:sp>
        <p:nvSpPr>
          <p:cNvPr id="11" name="Shape 9"/>
          <p:cNvSpPr/>
          <p:nvPr/>
        </p:nvSpPr>
        <p:spPr>
          <a:xfrm>
            <a:off x="8284464" y="2774290"/>
            <a:ext cx="164592" cy="210312"/>
          </a:xfrm>
          <a:prstGeom prst="rect">
            <a:avLst/>
          </a:prstGeom>
          <a:solidFill>
            <a:srgbClr val="8BA4B5"/>
          </a:solidFill>
          <a:ln w="12700">
            <a:solidFill>
              <a:srgbClr val="8BA4B5"/>
            </a:solidFill>
            <a:prstDash val="solid"/>
          </a:ln>
        </p:spPr>
      </p:sp>
      <p:sp>
        <p:nvSpPr>
          <p:cNvPr id="12" name="Shape 10"/>
          <p:cNvSpPr/>
          <p:nvPr/>
        </p:nvSpPr>
        <p:spPr>
          <a:xfrm>
            <a:off x="8732520" y="2276856"/>
            <a:ext cx="0" cy="603504"/>
          </a:xfrm>
          <a:prstGeom prst="line">
            <a:avLst/>
          </a:prstGeom>
          <a:noFill/>
          <a:ln w="13970">
            <a:solidFill>
              <a:srgbClr val="6E7F8C"/>
            </a:solidFill>
            <a:prstDash val="solid"/>
          </a:ln>
        </p:spPr>
      </p:sp>
      <p:sp>
        <p:nvSpPr>
          <p:cNvPr id="13" name="Shape 11"/>
          <p:cNvSpPr/>
          <p:nvPr/>
        </p:nvSpPr>
        <p:spPr>
          <a:xfrm>
            <a:off x="8650224" y="2478024"/>
            <a:ext cx="164592" cy="210312"/>
          </a:xfrm>
          <a:prstGeom prst="rect">
            <a:avLst/>
          </a:prstGeom>
          <a:solidFill>
            <a:srgbClr val="068A95"/>
          </a:solidFill>
          <a:ln w="12700">
            <a:solidFill>
              <a:srgbClr val="068A95"/>
            </a:solidFill>
            <a:prstDash val="solid"/>
          </a:ln>
        </p:spPr>
      </p:sp>
      <p:sp>
        <p:nvSpPr>
          <p:cNvPr id="14" name="Shape 12"/>
          <p:cNvSpPr/>
          <p:nvPr/>
        </p:nvSpPr>
        <p:spPr>
          <a:xfrm>
            <a:off x="9098280" y="2671877"/>
            <a:ext cx="0" cy="603504"/>
          </a:xfrm>
          <a:prstGeom prst="line">
            <a:avLst/>
          </a:prstGeom>
          <a:noFill/>
          <a:ln w="13970">
            <a:solidFill>
              <a:srgbClr val="6E7F8C"/>
            </a:solidFill>
            <a:prstDash val="solid"/>
          </a:ln>
        </p:spPr>
      </p:sp>
      <p:sp>
        <p:nvSpPr>
          <p:cNvPr id="15" name="Shape 13"/>
          <p:cNvSpPr/>
          <p:nvPr/>
        </p:nvSpPr>
        <p:spPr>
          <a:xfrm>
            <a:off x="9015984" y="2873045"/>
            <a:ext cx="164592" cy="210312"/>
          </a:xfrm>
          <a:prstGeom prst="rect">
            <a:avLst/>
          </a:prstGeom>
          <a:solidFill>
            <a:srgbClr val="8BA4B5"/>
          </a:solidFill>
          <a:ln w="12700">
            <a:solidFill>
              <a:srgbClr val="8BA4B5"/>
            </a:solidFill>
            <a:prstDash val="solid"/>
          </a:ln>
        </p:spPr>
      </p:sp>
      <p:sp>
        <p:nvSpPr>
          <p:cNvPr id="16" name="Shape 14"/>
          <p:cNvSpPr/>
          <p:nvPr/>
        </p:nvSpPr>
        <p:spPr>
          <a:xfrm>
            <a:off x="9464040" y="2079346"/>
            <a:ext cx="0" cy="603504"/>
          </a:xfrm>
          <a:prstGeom prst="line">
            <a:avLst/>
          </a:prstGeom>
          <a:noFill/>
          <a:ln w="13970">
            <a:solidFill>
              <a:srgbClr val="6E7F8C"/>
            </a:solidFill>
            <a:prstDash val="solid"/>
          </a:ln>
        </p:spPr>
      </p:sp>
      <p:sp>
        <p:nvSpPr>
          <p:cNvPr id="17" name="Shape 15"/>
          <p:cNvSpPr/>
          <p:nvPr/>
        </p:nvSpPr>
        <p:spPr>
          <a:xfrm>
            <a:off x="9381744" y="2280514"/>
            <a:ext cx="164592" cy="210312"/>
          </a:xfrm>
          <a:prstGeom prst="rect">
            <a:avLst/>
          </a:prstGeom>
          <a:solidFill>
            <a:srgbClr val="068A95"/>
          </a:solidFill>
          <a:ln w="12700">
            <a:solidFill>
              <a:srgbClr val="068A95"/>
            </a:solidFill>
            <a:prstDash val="solid"/>
          </a:ln>
        </p:spPr>
      </p:sp>
      <p:sp>
        <p:nvSpPr>
          <p:cNvPr id="18" name="Shape 16"/>
          <p:cNvSpPr/>
          <p:nvPr/>
        </p:nvSpPr>
        <p:spPr>
          <a:xfrm>
            <a:off x="9829800" y="2342693"/>
            <a:ext cx="0" cy="603504"/>
          </a:xfrm>
          <a:prstGeom prst="line">
            <a:avLst/>
          </a:prstGeom>
          <a:noFill/>
          <a:ln w="13970">
            <a:solidFill>
              <a:srgbClr val="6E7F8C"/>
            </a:solidFill>
            <a:prstDash val="solid"/>
          </a:ln>
        </p:spPr>
      </p:sp>
      <p:sp>
        <p:nvSpPr>
          <p:cNvPr id="19" name="Shape 17"/>
          <p:cNvSpPr/>
          <p:nvPr/>
        </p:nvSpPr>
        <p:spPr>
          <a:xfrm>
            <a:off x="9747504" y="2543861"/>
            <a:ext cx="164592" cy="210312"/>
          </a:xfrm>
          <a:prstGeom prst="rect">
            <a:avLst/>
          </a:prstGeom>
          <a:solidFill>
            <a:srgbClr val="8BA4B5"/>
          </a:solidFill>
          <a:ln w="12700">
            <a:solidFill>
              <a:srgbClr val="8BA4B5"/>
            </a:solidFill>
            <a:prstDash val="solid"/>
          </a:ln>
        </p:spPr>
      </p:sp>
      <p:sp>
        <p:nvSpPr>
          <p:cNvPr id="20" name="Shape 18"/>
          <p:cNvSpPr/>
          <p:nvPr/>
        </p:nvSpPr>
        <p:spPr>
          <a:xfrm>
            <a:off x="10195560" y="1881835"/>
            <a:ext cx="0" cy="603504"/>
          </a:xfrm>
          <a:prstGeom prst="line">
            <a:avLst/>
          </a:prstGeom>
          <a:noFill/>
          <a:ln w="13970">
            <a:solidFill>
              <a:srgbClr val="6E7F8C"/>
            </a:solidFill>
            <a:prstDash val="solid"/>
          </a:ln>
        </p:spPr>
      </p:sp>
      <p:sp>
        <p:nvSpPr>
          <p:cNvPr id="21" name="Shape 19"/>
          <p:cNvSpPr/>
          <p:nvPr/>
        </p:nvSpPr>
        <p:spPr>
          <a:xfrm>
            <a:off x="10113264" y="2083003"/>
            <a:ext cx="164592" cy="210312"/>
          </a:xfrm>
          <a:prstGeom prst="rect">
            <a:avLst/>
          </a:prstGeom>
          <a:solidFill>
            <a:srgbClr val="068A95"/>
          </a:solidFill>
          <a:ln w="12700">
            <a:solidFill>
              <a:srgbClr val="068A95"/>
            </a:solidFill>
            <a:prstDash val="solid"/>
          </a:ln>
        </p:spPr>
      </p:sp>
      <p:sp>
        <p:nvSpPr>
          <p:cNvPr id="22" name="Shape 20"/>
          <p:cNvSpPr/>
          <p:nvPr/>
        </p:nvSpPr>
        <p:spPr>
          <a:xfrm>
            <a:off x="10561320" y="2145182"/>
            <a:ext cx="0" cy="603504"/>
          </a:xfrm>
          <a:prstGeom prst="line">
            <a:avLst/>
          </a:prstGeom>
          <a:noFill/>
          <a:ln w="13970">
            <a:solidFill>
              <a:srgbClr val="6E7F8C"/>
            </a:solidFill>
            <a:prstDash val="solid"/>
          </a:ln>
        </p:spPr>
      </p:sp>
      <p:sp>
        <p:nvSpPr>
          <p:cNvPr id="23" name="Shape 21"/>
          <p:cNvSpPr/>
          <p:nvPr/>
        </p:nvSpPr>
        <p:spPr>
          <a:xfrm>
            <a:off x="10479024" y="2346350"/>
            <a:ext cx="164592" cy="210312"/>
          </a:xfrm>
          <a:prstGeom prst="rect">
            <a:avLst/>
          </a:prstGeom>
          <a:solidFill>
            <a:srgbClr val="8BA4B5"/>
          </a:solidFill>
          <a:ln w="12700">
            <a:solidFill>
              <a:srgbClr val="8BA4B5"/>
            </a:solidFill>
            <a:prstDash val="solid"/>
          </a:ln>
        </p:spPr>
      </p:sp>
      <p:sp>
        <p:nvSpPr>
          <p:cNvPr id="24" name="Shape 22"/>
          <p:cNvSpPr/>
          <p:nvPr/>
        </p:nvSpPr>
        <p:spPr>
          <a:xfrm>
            <a:off x="10927080" y="1717243"/>
            <a:ext cx="0" cy="603504"/>
          </a:xfrm>
          <a:prstGeom prst="line">
            <a:avLst/>
          </a:prstGeom>
          <a:noFill/>
          <a:ln w="13970">
            <a:solidFill>
              <a:srgbClr val="6E7F8C"/>
            </a:solidFill>
            <a:prstDash val="solid"/>
          </a:ln>
        </p:spPr>
      </p:sp>
      <p:sp>
        <p:nvSpPr>
          <p:cNvPr id="25" name="Shape 23"/>
          <p:cNvSpPr/>
          <p:nvPr/>
        </p:nvSpPr>
        <p:spPr>
          <a:xfrm>
            <a:off x="10844784" y="1918411"/>
            <a:ext cx="164592" cy="210312"/>
          </a:xfrm>
          <a:prstGeom prst="rect">
            <a:avLst/>
          </a:prstGeom>
          <a:solidFill>
            <a:srgbClr val="068A95"/>
          </a:solidFill>
          <a:ln w="12700">
            <a:solidFill>
              <a:srgbClr val="068A95"/>
            </a:solidFill>
            <a:prstDash val="solid"/>
          </a:ln>
        </p:spPr>
      </p:sp>
      <p:sp>
        <p:nvSpPr>
          <p:cNvPr id="26" name="Shape 24"/>
          <p:cNvSpPr/>
          <p:nvPr/>
        </p:nvSpPr>
        <p:spPr>
          <a:xfrm>
            <a:off x="8247888" y="4160520"/>
            <a:ext cx="365760" cy="-137160"/>
          </a:xfrm>
          <a:prstGeom prst="line">
            <a:avLst/>
          </a:prstGeom>
          <a:noFill/>
          <a:ln w="26670">
            <a:solidFill>
              <a:srgbClr val="C8902F"/>
            </a:solidFill>
            <a:prstDash val="solid"/>
          </a:ln>
        </p:spPr>
      </p:sp>
      <p:sp>
        <p:nvSpPr>
          <p:cNvPr id="27" name="Shape 25"/>
          <p:cNvSpPr/>
          <p:nvPr/>
        </p:nvSpPr>
        <p:spPr>
          <a:xfrm>
            <a:off x="8613648" y="4023360"/>
            <a:ext cx="365760" cy="54864"/>
          </a:xfrm>
          <a:prstGeom prst="line">
            <a:avLst/>
          </a:prstGeom>
          <a:noFill/>
          <a:ln w="26670">
            <a:solidFill>
              <a:srgbClr val="C8902F"/>
            </a:solidFill>
            <a:prstDash val="solid"/>
          </a:ln>
        </p:spPr>
      </p:sp>
      <p:sp>
        <p:nvSpPr>
          <p:cNvPr id="28" name="Shape 26"/>
          <p:cNvSpPr/>
          <p:nvPr/>
        </p:nvSpPr>
        <p:spPr>
          <a:xfrm>
            <a:off x="8979408" y="4078224"/>
            <a:ext cx="365760" cy="-237744"/>
          </a:xfrm>
          <a:prstGeom prst="line">
            <a:avLst/>
          </a:prstGeom>
          <a:noFill/>
          <a:ln w="26670">
            <a:solidFill>
              <a:srgbClr val="C8902F"/>
            </a:solidFill>
            <a:prstDash val="solid"/>
          </a:ln>
        </p:spPr>
      </p:sp>
      <p:sp>
        <p:nvSpPr>
          <p:cNvPr id="29" name="Shape 27"/>
          <p:cNvSpPr/>
          <p:nvPr/>
        </p:nvSpPr>
        <p:spPr>
          <a:xfrm>
            <a:off x="9345168" y="3840480"/>
            <a:ext cx="365760" cy="109728"/>
          </a:xfrm>
          <a:prstGeom prst="line">
            <a:avLst/>
          </a:prstGeom>
          <a:noFill/>
          <a:ln w="26670">
            <a:solidFill>
              <a:srgbClr val="C8902F"/>
            </a:solidFill>
            <a:prstDash val="solid"/>
          </a:ln>
        </p:spPr>
      </p:sp>
      <p:sp>
        <p:nvSpPr>
          <p:cNvPr id="30" name="Shape 28"/>
          <p:cNvSpPr/>
          <p:nvPr/>
        </p:nvSpPr>
        <p:spPr>
          <a:xfrm>
            <a:off x="9710928" y="3950208"/>
            <a:ext cx="365760" cy="-246888"/>
          </a:xfrm>
          <a:prstGeom prst="line">
            <a:avLst/>
          </a:prstGeom>
          <a:noFill/>
          <a:ln w="26670">
            <a:solidFill>
              <a:srgbClr val="C8902F"/>
            </a:solidFill>
            <a:prstDash val="solid"/>
          </a:ln>
        </p:spPr>
      </p:sp>
      <p:sp>
        <p:nvSpPr>
          <p:cNvPr id="31" name="Shape 29"/>
          <p:cNvSpPr/>
          <p:nvPr/>
        </p:nvSpPr>
        <p:spPr>
          <a:xfrm>
            <a:off x="10076688" y="3703320"/>
            <a:ext cx="365760" cy="64008"/>
          </a:xfrm>
          <a:prstGeom prst="line">
            <a:avLst/>
          </a:prstGeom>
          <a:noFill/>
          <a:ln w="26670">
            <a:solidFill>
              <a:srgbClr val="C8902F"/>
            </a:solidFill>
            <a:prstDash val="solid"/>
          </a:ln>
        </p:spPr>
      </p:sp>
      <p:sp>
        <p:nvSpPr>
          <p:cNvPr id="32" name="Shape 30"/>
          <p:cNvSpPr/>
          <p:nvPr/>
        </p:nvSpPr>
        <p:spPr>
          <a:xfrm>
            <a:off x="10442448" y="3767328"/>
            <a:ext cx="365760" cy="-274320"/>
          </a:xfrm>
          <a:prstGeom prst="line">
            <a:avLst/>
          </a:prstGeom>
          <a:noFill/>
          <a:ln w="26670">
            <a:solidFill>
              <a:srgbClr val="C8902F"/>
            </a:solidFill>
            <a:prstDash val="solid"/>
          </a:ln>
        </p:spPr>
      </p:sp>
      <p:sp>
        <p:nvSpPr>
          <p:cNvPr id="33" name="Shape 31"/>
          <p:cNvSpPr/>
          <p:nvPr/>
        </p:nvSpPr>
        <p:spPr>
          <a:xfrm>
            <a:off x="10808208" y="3493008"/>
            <a:ext cx="329184" cy="100584"/>
          </a:xfrm>
          <a:prstGeom prst="line">
            <a:avLst/>
          </a:prstGeom>
          <a:noFill/>
          <a:ln w="26670">
            <a:solidFill>
              <a:srgbClr val="C8902F"/>
            </a:solidFill>
            <a:prstDash val="solid"/>
          </a:ln>
        </p:spPr>
      </p:sp>
      <p:sp>
        <p:nvSpPr>
          <p:cNvPr id="34" name="Text 32"/>
          <p:cNvSpPr/>
          <p:nvPr/>
        </p:nvSpPr>
        <p:spPr>
          <a:xfrm>
            <a:off x="8275320" y="4617720"/>
            <a:ext cx="548640" cy="256032"/>
          </a:xfrm>
          <a:prstGeom prst="rect">
            <a:avLst/>
          </a:prstGeom>
          <a:noFill/>
          <a:ln/>
        </p:spPr>
        <p:txBody>
          <a:bodyPr wrap="square" lIns="0" tIns="0" rIns="0" bIns="0" rtlCol="0" anchor="ctr">
            <a:normAutofit/>
          </a:bodyPr>
          <a:lstStyle/>
          <a:p>
            <a:pPr algn="ctr" indent="0" marL="0">
              <a:buNone/>
            </a:pPr>
            <a:r>
              <a:rPr lang="en-US" sz="1200" b="1" dirty="0">
                <a:solidFill>
                  <a:srgbClr val="2F5D7C"/>
                </a:solidFill>
                <a:latin typeface="Arial" pitchFamily="34" charset="0"/>
                <a:ea typeface="Arial" pitchFamily="34" charset="-122"/>
                <a:cs typeface="Arial" pitchFamily="34" charset="-120"/>
              </a:rPr>
              <a:t>CS</a:t>
            </a:r>
            <a:endParaRPr lang="en-US" sz="1200" dirty="0"/>
          </a:p>
        </p:txBody>
      </p:sp>
      <p:sp>
        <p:nvSpPr>
          <p:cNvPr id="35" name="Text 33"/>
          <p:cNvSpPr/>
          <p:nvPr/>
        </p:nvSpPr>
        <p:spPr>
          <a:xfrm>
            <a:off x="9308592" y="4617720"/>
            <a:ext cx="548640" cy="256032"/>
          </a:xfrm>
          <a:prstGeom prst="rect">
            <a:avLst/>
          </a:prstGeom>
          <a:noFill/>
          <a:ln/>
        </p:spPr>
        <p:txBody>
          <a:bodyPr wrap="square" lIns="0" tIns="0" rIns="0" bIns="0" rtlCol="0" anchor="ctr">
            <a:normAutofit/>
          </a:bodyPr>
          <a:lstStyle/>
          <a:p>
            <a:pPr algn="ctr" indent="0" marL="0">
              <a:buNone/>
            </a:pPr>
            <a:r>
              <a:rPr lang="en-US" sz="1200" b="1" dirty="0">
                <a:solidFill>
                  <a:srgbClr val="74828C"/>
                </a:solidFill>
                <a:latin typeface="Arial" pitchFamily="34" charset="0"/>
                <a:ea typeface="Arial" pitchFamily="34" charset="-122"/>
                <a:cs typeface="Arial" pitchFamily="34" charset="-120"/>
              </a:rPr>
              <a:t>AR</a:t>
            </a:r>
            <a:endParaRPr lang="en-US" sz="1200" dirty="0"/>
          </a:p>
        </p:txBody>
      </p:sp>
      <p:sp>
        <p:nvSpPr>
          <p:cNvPr id="36" name="Text 34"/>
          <p:cNvSpPr/>
          <p:nvPr/>
        </p:nvSpPr>
        <p:spPr>
          <a:xfrm>
            <a:off x="10277856" y="4617720"/>
            <a:ext cx="658368" cy="256032"/>
          </a:xfrm>
          <a:prstGeom prst="rect">
            <a:avLst/>
          </a:prstGeom>
          <a:noFill/>
          <a:ln/>
        </p:spPr>
        <p:txBody>
          <a:bodyPr wrap="square" lIns="0" tIns="0" rIns="0" bIns="0" rtlCol="0" anchor="ctr">
            <a:normAutofit/>
          </a:bodyPr>
          <a:lstStyle/>
          <a:p>
            <a:pPr algn="ctr" indent="0" marL="0">
              <a:buNone/>
            </a:pPr>
            <a:r>
              <a:rPr lang="en-US" sz="1200" b="1" dirty="0">
                <a:solidFill>
                  <a:srgbClr val="068A95"/>
                </a:solidFill>
                <a:latin typeface="Arial" pitchFamily="34" charset="0"/>
                <a:ea typeface="Arial" pitchFamily="34" charset="-122"/>
                <a:cs typeface="Arial" pitchFamily="34" charset="-120"/>
              </a:rPr>
              <a:t>EDGE</a:t>
            </a:r>
            <a:endParaRPr lang="en-US" sz="1200" dirty="0"/>
          </a:p>
        </p:txBody>
      </p:sp>
      <p:sp>
        <p:nvSpPr>
          <p:cNvPr id="37" name="Text 35"/>
          <p:cNvSpPr/>
          <p:nvPr/>
        </p:nvSpPr>
        <p:spPr>
          <a:xfrm>
            <a:off x="9582912" y="4956048"/>
            <a:ext cx="411480" cy="201168"/>
          </a:xfrm>
          <a:prstGeom prst="rect">
            <a:avLst/>
          </a:prstGeom>
          <a:noFill/>
          <a:ln/>
        </p:spPr>
        <p:txBody>
          <a:bodyPr wrap="square" lIns="0" tIns="0" rIns="0" bIns="0" rtlCol="0" anchor="ctr">
            <a:normAutofit/>
          </a:bodyPr>
          <a:lstStyle/>
          <a:p>
            <a:pPr algn="ctr" indent="0" marL="0">
              <a:buNone/>
            </a:pPr>
            <a:r>
              <a:rPr lang="en-US" sz="900" dirty="0">
                <a:solidFill>
                  <a:srgbClr val="6F7E89"/>
                </a:solidFill>
                <a:latin typeface="Arial" pitchFamily="34" charset="0"/>
                <a:ea typeface="Arial" pitchFamily="34" charset="-122"/>
                <a:cs typeface="Arial" pitchFamily="34" charset="-120"/>
              </a:rPr>
              <a:t>vs.</a:t>
            </a:r>
            <a:endParaRPr lang="en-US" sz="900" dirty="0"/>
          </a:p>
        </p:txBody>
      </p:sp>
      <p:sp>
        <p:nvSpPr>
          <p:cNvPr id="38" name="Text 36"/>
          <p:cNvSpPr/>
          <p:nvPr/>
        </p:nvSpPr>
        <p:spPr>
          <a:xfrm>
            <a:off x="8796528" y="4956048"/>
            <a:ext cx="2057400" cy="201168"/>
          </a:xfrm>
          <a:prstGeom prst="rect">
            <a:avLst/>
          </a:prstGeom>
          <a:noFill/>
          <a:ln/>
        </p:spPr>
        <p:txBody>
          <a:bodyPr wrap="square" lIns="0" tIns="0" rIns="0" bIns="0" rtlCol="0" anchor="ctr">
            <a:normAutofit/>
          </a:bodyPr>
          <a:lstStyle/>
          <a:p>
            <a:pPr algn="ctr" indent="0" marL="0">
              <a:buNone/>
            </a:pPr>
            <a:r>
              <a:rPr lang="en-US" sz="950" b="1" dirty="0">
                <a:solidFill>
                  <a:srgbClr val="C8902F"/>
                </a:solidFill>
                <a:latin typeface="Arial" pitchFamily="34" charset="0"/>
                <a:ea typeface="Arial" pitchFamily="34" charset="-122"/>
                <a:cs typeface="Arial" pitchFamily="34" charset="-120"/>
              </a:rPr>
              <a:t>1-min Roll proxy</a:t>
            </a:r>
            <a:endParaRPr lang="en-US" sz="95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RESEARCH QUESTION</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Which estimator tracks the intraday proxy best?</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A pre-specified horse race among existing daily-OHLC spread estimators</a:t>
            </a:r>
            <a:endParaRPr lang="en-US" sz="1070" dirty="0"/>
          </a:p>
        </p:txBody>
      </p:sp>
      <p:sp>
        <p:nvSpPr>
          <p:cNvPr id="5" name="Shape 3"/>
          <p:cNvSpPr/>
          <p:nvPr/>
        </p:nvSpPr>
        <p:spPr>
          <a:xfrm>
            <a:off x="420624" y="1417320"/>
            <a:ext cx="11100816" cy="960120"/>
          </a:xfrm>
          <a:prstGeom prst="roundRect">
            <a:avLst>
              <a:gd name="adj" fmla="val 5714"/>
            </a:avLst>
          </a:prstGeom>
          <a:solidFill>
            <a:srgbClr val="EAF1F6"/>
          </a:solidFill>
          <a:ln w="12700">
            <a:solidFill>
              <a:srgbClr val="D9E4EC"/>
            </a:solidFill>
            <a:prstDash val="solid"/>
          </a:ln>
          <a:effectLst>
            <a:outerShdw sx="100000" sy="100000" kx="0" ky="0" algn="bl" rotWithShape="0" blurRad="19050" dist="50800" dir="2700000">
              <a:srgbClr val="DDE3E7">
                <a:alpha val="20000"/>
              </a:srgbClr>
            </a:outerShdw>
          </a:effectLst>
        </p:spPr>
      </p:sp>
      <p:sp>
        <p:nvSpPr>
          <p:cNvPr id="6" name="Text 4"/>
          <p:cNvSpPr/>
          <p:nvPr/>
        </p:nvSpPr>
        <p:spPr>
          <a:xfrm>
            <a:off x="713232" y="1627632"/>
            <a:ext cx="10469880" cy="530352"/>
          </a:xfrm>
          <a:prstGeom prst="rect">
            <a:avLst/>
          </a:prstGeom>
          <a:noFill/>
          <a:ln/>
        </p:spPr>
        <p:txBody>
          <a:bodyPr wrap="square" lIns="0" tIns="0" rIns="0" bIns="0" rtlCol="0" anchor="ctr">
            <a:normAutofit/>
          </a:bodyPr>
          <a:lstStyle/>
          <a:p>
            <a:pPr algn="ctr" indent="0" marL="0">
              <a:buNone/>
            </a:pPr>
            <a:r>
              <a:rPr lang="en-US" sz="1900" b="1" dirty="0">
                <a:solidFill>
                  <a:srgbClr val="0B2A45"/>
                </a:solidFill>
                <a:latin typeface="Arial" pitchFamily="34" charset="0"/>
                <a:ea typeface="Arial" pitchFamily="34" charset="-122"/>
                <a:cs typeface="Arial" pitchFamily="34" charset="-120"/>
              </a:rPr>
              <a:t>Which daily-OHLC spread estimator best matches a one-minute Roll benchmark, and where do the methods break down?</a:t>
            </a:r>
            <a:endParaRPr lang="en-US" sz="1900" dirty="0"/>
          </a:p>
        </p:txBody>
      </p:sp>
      <p:sp>
        <p:nvSpPr>
          <p:cNvPr id="7" name="Shape 5"/>
          <p:cNvSpPr/>
          <p:nvPr/>
        </p:nvSpPr>
        <p:spPr>
          <a:xfrm>
            <a:off x="960120" y="2761488"/>
            <a:ext cx="1417320" cy="347472"/>
          </a:xfrm>
          <a:prstGeom prst="roundRect">
            <a:avLst>
              <a:gd name="adj" fmla="val 15789"/>
            </a:avLst>
          </a:prstGeom>
          <a:solidFill>
            <a:srgbClr val="FFFFFF"/>
          </a:solidFill>
          <a:ln w="12700">
            <a:solidFill>
              <a:srgbClr val="2F5D7C"/>
            </a:solidFill>
            <a:prstDash val="solid"/>
          </a:ln>
        </p:spPr>
      </p:sp>
      <p:sp>
        <p:nvSpPr>
          <p:cNvPr id="8" name="Shape 6"/>
          <p:cNvSpPr/>
          <p:nvPr/>
        </p:nvSpPr>
        <p:spPr>
          <a:xfrm>
            <a:off x="1033272" y="2857500"/>
            <a:ext cx="146304" cy="146304"/>
          </a:xfrm>
          <a:prstGeom prst="ellipse">
            <a:avLst/>
          </a:prstGeom>
          <a:solidFill>
            <a:srgbClr val="2F5D7C"/>
          </a:solidFill>
          <a:ln w="12700">
            <a:solidFill>
              <a:srgbClr val="2F5D7C"/>
            </a:solidFill>
            <a:prstDash val="solid"/>
          </a:ln>
        </p:spPr>
      </p:sp>
      <p:sp>
        <p:nvSpPr>
          <p:cNvPr id="9" name="Text 7"/>
          <p:cNvSpPr/>
          <p:nvPr/>
        </p:nvSpPr>
        <p:spPr>
          <a:xfrm>
            <a:off x="1234440" y="2825496"/>
            <a:ext cx="1069848" cy="201168"/>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CS</a:t>
            </a:r>
            <a:endParaRPr lang="en-US" sz="1020" dirty="0"/>
          </a:p>
        </p:txBody>
      </p:sp>
      <p:sp>
        <p:nvSpPr>
          <p:cNvPr id="10" name="Shape 8"/>
          <p:cNvSpPr/>
          <p:nvPr/>
        </p:nvSpPr>
        <p:spPr>
          <a:xfrm>
            <a:off x="2788920" y="2761488"/>
            <a:ext cx="1417320" cy="347472"/>
          </a:xfrm>
          <a:prstGeom prst="roundRect">
            <a:avLst>
              <a:gd name="adj" fmla="val 15789"/>
            </a:avLst>
          </a:prstGeom>
          <a:solidFill>
            <a:srgbClr val="FFFFFF"/>
          </a:solidFill>
          <a:ln w="12700">
            <a:solidFill>
              <a:srgbClr val="74828C"/>
            </a:solidFill>
            <a:prstDash val="solid"/>
          </a:ln>
        </p:spPr>
      </p:sp>
      <p:sp>
        <p:nvSpPr>
          <p:cNvPr id="11" name="Shape 9"/>
          <p:cNvSpPr/>
          <p:nvPr/>
        </p:nvSpPr>
        <p:spPr>
          <a:xfrm>
            <a:off x="2862072" y="2857500"/>
            <a:ext cx="146304" cy="146304"/>
          </a:xfrm>
          <a:prstGeom prst="ellipse">
            <a:avLst/>
          </a:prstGeom>
          <a:solidFill>
            <a:srgbClr val="74828C"/>
          </a:solidFill>
          <a:ln w="12700">
            <a:solidFill>
              <a:srgbClr val="74828C"/>
            </a:solidFill>
            <a:prstDash val="solid"/>
          </a:ln>
        </p:spPr>
      </p:sp>
      <p:sp>
        <p:nvSpPr>
          <p:cNvPr id="12" name="Text 10"/>
          <p:cNvSpPr/>
          <p:nvPr/>
        </p:nvSpPr>
        <p:spPr>
          <a:xfrm>
            <a:off x="3063240" y="2825496"/>
            <a:ext cx="1069848" cy="201168"/>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AR</a:t>
            </a:r>
            <a:endParaRPr lang="en-US" sz="1020" dirty="0"/>
          </a:p>
        </p:txBody>
      </p:sp>
      <p:sp>
        <p:nvSpPr>
          <p:cNvPr id="13" name="Shape 11"/>
          <p:cNvSpPr/>
          <p:nvPr/>
        </p:nvSpPr>
        <p:spPr>
          <a:xfrm>
            <a:off x="4617720" y="2761488"/>
            <a:ext cx="1417320" cy="347472"/>
          </a:xfrm>
          <a:prstGeom prst="roundRect">
            <a:avLst>
              <a:gd name="adj" fmla="val 15789"/>
            </a:avLst>
          </a:prstGeom>
          <a:solidFill>
            <a:srgbClr val="FFFFFF"/>
          </a:solidFill>
          <a:ln w="12700">
            <a:solidFill>
              <a:srgbClr val="068A95"/>
            </a:solidFill>
            <a:prstDash val="solid"/>
          </a:ln>
        </p:spPr>
      </p:sp>
      <p:sp>
        <p:nvSpPr>
          <p:cNvPr id="14" name="Shape 12"/>
          <p:cNvSpPr/>
          <p:nvPr/>
        </p:nvSpPr>
        <p:spPr>
          <a:xfrm>
            <a:off x="4690872" y="2857500"/>
            <a:ext cx="146304" cy="146304"/>
          </a:xfrm>
          <a:prstGeom prst="ellipse">
            <a:avLst/>
          </a:prstGeom>
          <a:solidFill>
            <a:srgbClr val="068A95"/>
          </a:solidFill>
          <a:ln w="12700">
            <a:solidFill>
              <a:srgbClr val="068A95"/>
            </a:solidFill>
            <a:prstDash val="solid"/>
          </a:ln>
        </p:spPr>
      </p:sp>
      <p:sp>
        <p:nvSpPr>
          <p:cNvPr id="15" name="Text 13"/>
          <p:cNvSpPr/>
          <p:nvPr/>
        </p:nvSpPr>
        <p:spPr>
          <a:xfrm>
            <a:off x="4892040" y="2825496"/>
            <a:ext cx="1069848" cy="201168"/>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EDGE</a:t>
            </a:r>
            <a:endParaRPr lang="en-US" sz="1020" dirty="0"/>
          </a:p>
        </p:txBody>
      </p:sp>
      <p:sp>
        <p:nvSpPr>
          <p:cNvPr id="16" name="Text 14"/>
          <p:cNvSpPr/>
          <p:nvPr/>
        </p:nvSpPr>
        <p:spPr>
          <a:xfrm>
            <a:off x="6172200" y="2834640"/>
            <a:ext cx="822960" cy="182880"/>
          </a:xfrm>
          <a:prstGeom prst="rect">
            <a:avLst/>
          </a:prstGeom>
          <a:noFill/>
          <a:ln/>
        </p:spPr>
        <p:txBody>
          <a:bodyPr wrap="square" lIns="0" tIns="0" rIns="0" bIns="0" rtlCol="0" anchor="ctr">
            <a:normAutofit/>
          </a:bodyPr>
          <a:lstStyle/>
          <a:p>
            <a:pPr algn="ctr" indent="0" marL="0">
              <a:buNone/>
            </a:pPr>
            <a:r>
              <a:rPr lang="en-US" sz="950" dirty="0">
                <a:solidFill>
                  <a:srgbClr val="6F7E89"/>
                </a:solidFill>
                <a:latin typeface="Arial" pitchFamily="34" charset="0"/>
                <a:ea typeface="Arial" pitchFamily="34" charset="-122"/>
                <a:cs typeface="Arial" pitchFamily="34" charset="-120"/>
              </a:rPr>
              <a:t>compare</a:t>
            </a:r>
            <a:endParaRPr lang="en-US" sz="950" dirty="0"/>
          </a:p>
        </p:txBody>
      </p:sp>
      <p:sp>
        <p:nvSpPr>
          <p:cNvPr id="17" name="Shape 15"/>
          <p:cNvSpPr/>
          <p:nvPr/>
        </p:nvSpPr>
        <p:spPr>
          <a:xfrm>
            <a:off x="7178040" y="2560320"/>
            <a:ext cx="2423160" cy="749808"/>
          </a:xfrm>
          <a:prstGeom prst="roundRect">
            <a:avLst>
              <a:gd name="adj" fmla="val 7317"/>
            </a:avLst>
          </a:prstGeom>
          <a:solidFill>
            <a:srgbClr val="F7EEDB"/>
          </a:solidFill>
          <a:ln w="12700">
            <a:solidFill>
              <a:srgbClr val="E7D5B4"/>
            </a:solidFill>
            <a:prstDash val="solid"/>
          </a:ln>
        </p:spPr>
      </p:sp>
      <p:sp>
        <p:nvSpPr>
          <p:cNvPr id="18" name="Text 16"/>
          <p:cNvSpPr/>
          <p:nvPr/>
        </p:nvSpPr>
        <p:spPr>
          <a:xfrm>
            <a:off x="7333488" y="2697480"/>
            <a:ext cx="2103120" cy="420624"/>
          </a:xfrm>
          <a:prstGeom prst="rect">
            <a:avLst/>
          </a:prstGeom>
          <a:noFill/>
          <a:ln/>
        </p:spPr>
        <p:txBody>
          <a:bodyPr wrap="square" lIns="0" tIns="0" rIns="0" bIns="0" rtlCol="0" anchor="ctr">
            <a:normAutofit/>
          </a:bodyPr>
          <a:lstStyle/>
          <a:p>
            <a:pPr algn="ctr" indent="0" marL="0">
              <a:buNone/>
            </a:pPr>
            <a:r>
              <a:rPr lang="en-US" sz="1300" b="1" dirty="0">
                <a:solidFill>
                  <a:srgbClr val="7C5A1F"/>
                </a:solidFill>
                <a:latin typeface="Arial" pitchFamily="34" charset="0"/>
                <a:ea typeface="Arial" pitchFamily="34" charset="-122"/>
                <a:cs typeface="Arial" pitchFamily="34" charset="-120"/>
              </a:rPr>
              <a:t>1-minute Roll</a:t>
            </a:r>
            <a:endParaRPr lang="en-US" sz="1300" dirty="0"/>
          </a:p>
          <a:p>
            <a:pPr algn="ctr" indent="0" marL="0">
              <a:buNone/>
            </a:pPr>
            <a:r>
              <a:rPr lang="en-US" sz="1300" b="1" dirty="0">
                <a:solidFill>
                  <a:srgbClr val="7C5A1F"/>
                </a:solidFill>
                <a:latin typeface="Arial" pitchFamily="34" charset="0"/>
                <a:ea typeface="Arial" pitchFamily="34" charset="-122"/>
                <a:cs typeface="Arial" pitchFamily="34" charset="-120"/>
              </a:rPr>
              <a:t>benchmark</a:t>
            </a:r>
            <a:endParaRPr lang="en-US" sz="1300" dirty="0"/>
          </a:p>
        </p:txBody>
      </p:sp>
      <p:sp>
        <p:nvSpPr>
          <p:cNvPr id="19" name="Text 17"/>
          <p:cNvSpPr/>
          <p:nvPr/>
        </p:nvSpPr>
        <p:spPr>
          <a:xfrm>
            <a:off x="502920" y="3840480"/>
            <a:ext cx="22860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ORIGINAL HYPOTHESES</a:t>
            </a:r>
            <a:endParaRPr lang="en-US" sz="750" dirty="0"/>
          </a:p>
        </p:txBody>
      </p:sp>
      <p:sp>
        <p:nvSpPr>
          <p:cNvPr id="20" name="Shape 18"/>
          <p:cNvSpPr/>
          <p:nvPr/>
        </p:nvSpPr>
        <p:spPr>
          <a:xfrm>
            <a:off x="530352" y="4133088"/>
            <a:ext cx="3401568" cy="1133856"/>
          </a:xfrm>
          <a:prstGeom prst="roundRect">
            <a:avLst>
              <a:gd name="adj" fmla="val 4839"/>
            </a:avLst>
          </a:prstGeom>
          <a:solidFill>
            <a:srgbClr val="FFFFFF"/>
          </a:solidFill>
          <a:ln w="12700">
            <a:solidFill>
              <a:srgbClr val="DCE3E8"/>
            </a:solidFill>
            <a:prstDash val="solid"/>
          </a:ln>
          <a:effectLst>
            <a:outerShdw sx="100000" sy="100000" kx="0" ky="0" algn="bl" rotWithShape="0" blurRad="19050" dist="50800" dir="2700000">
              <a:srgbClr val="DDE3E7">
                <a:alpha val="20000"/>
              </a:srgbClr>
            </a:outerShdw>
          </a:effectLst>
        </p:spPr>
      </p:sp>
      <p:sp>
        <p:nvSpPr>
          <p:cNvPr id="21" name="Text 19"/>
          <p:cNvSpPr/>
          <p:nvPr/>
        </p:nvSpPr>
        <p:spPr>
          <a:xfrm>
            <a:off x="676656" y="4288536"/>
            <a:ext cx="502920" cy="274320"/>
          </a:xfrm>
          <a:prstGeom prst="rect">
            <a:avLst/>
          </a:prstGeom>
          <a:noFill/>
          <a:ln/>
        </p:spPr>
        <p:txBody>
          <a:bodyPr wrap="square" lIns="0" tIns="0" rIns="0" bIns="0" rtlCol="0" anchor="ctr">
            <a:normAutofit/>
          </a:bodyPr>
          <a:lstStyle/>
          <a:p>
            <a:pPr algn="l" indent="0" marL="0">
              <a:buNone/>
            </a:pPr>
            <a:r>
              <a:rPr lang="en-US" sz="1250" b="1" dirty="0">
                <a:solidFill>
                  <a:srgbClr val="068A95"/>
                </a:solidFill>
                <a:latin typeface="Arial" pitchFamily="34" charset="0"/>
                <a:ea typeface="Arial" pitchFamily="34" charset="-122"/>
                <a:cs typeface="Arial" pitchFamily="34" charset="-120"/>
              </a:rPr>
              <a:t>H1</a:t>
            </a:r>
            <a:endParaRPr lang="en-US" sz="1250" dirty="0"/>
          </a:p>
        </p:txBody>
      </p:sp>
      <p:sp>
        <p:nvSpPr>
          <p:cNvPr id="22" name="Text 20"/>
          <p:cNvSpPr/>
          <p:nvPr/>
        </p:nvSpPr>
        <p:spPr>
          <a:xfrm>
            <a:off x="1216152" y="4233672"/>
            <a:ext cx="2487168" cy="640080"/>
          </a:xfrm>
          <a:prstGeom prst="rect">
            <a:avLst/>
          </a:prstGeom>
          <a:noFill/>
          <a:ln/>
        </p:spPr>
        <p:txBody>
          <a:bodyPr wrap="square" lIns="0" tIns="0" rIns="0" bIns="0" rtlCol="0" anchor="ctr">
            <a:normAutofit/>
          </a:bodyPr>
          <a:lstStyle/>
          <a:p>
            <a:pPr algn="l" indent="0" marL="0">
              <a:buNone/>
            </a:pPr>
            <a:r>
              <a:rPr lang="en-US" sz="1220" b="1" dirty="0">
                <a:solidFill>
                  <a:srgbClr val="0B2A45"/>
                </a:solidFill>
                <a:latin typeface="Arial" pitchFamily="34" charset="0"/>
                <a:ea typeface="Arial" pitchFamily="34" charset="-122"/>
                <a:cs typeface="Arial" pitchFamily="34" charset="-120"/>
              </a:rPr>
              <a:t>EDGE expected to dominate accuracy.</a:t>
            </a:r>
            <a:endParaRPr lang="en-US" sz="1220" dirty="0"/>
          </a:p>
        </p:txBody>
      </p:sp>
      <p:sp>
        <p:nvSpPr>
          <p:cNvPr id="23" name="Shape 21"/>
          <p:cNvSpPr/>
          <p:nvPr/>
        </p:nvSpPr>
        <p:spPr>
          <a:xfrm>
            <a:off x="4279392" y="4133088"/>
            <a:ext cx="3401568" cy="1133856"/>
          </a:xfrm>
          <a:prstGeom prst="roundRect">
            <a:avLst>
              <a:gd name="adj" fmla="val 4839"/>
            </a:avLst>
          </a:prstGeom>
          <a:solidFill>
            <a:srgbClr val="FFFFFF"/>
          </a:solidFill>
          <a:ln w="12700">
            <a:solidFill>
              <a:srgbClr val="DCE3E8"/>
            </a:solidFill>
            <a:prstDash val="solid"/>
          </a:ln>
          <a:effectLst>
            <a:outerShdw sx="100000" sy="100000" kx="0" ky="0" algn="bl" rotWithShape="0" blurRad="19050" dist="50800" dir="2700000">
              <a:srgbClr val="DDE3E7">
                <a:alpha val="20000"/>
              </a:srgbClr>
            </a:outerShdw>
          </a:effectLst>
        </p:spPr>
      </p:sp>
      <p:sp>
        <p:nvSpPr>
          <p:cNvPr id="24" name="Text 22"/>
          <p:cNvSpPr/>
          <p:nvPr/>
        </p:nvSpPr>
        <p:spPr>
          <a:xfrm>
            <a:off x="4425696" y="4288536"/>
            <a:ext cx="502920" cy="274320"/>
          </a:xfrm>
          <a:prstGeom prst="rect">
            <a:avLst/>
          </a:prstGeom>
          <a:noFill/>
          <a:ln/>
        </p:spPr>
        <p:txBody>
          <a:bodyPr wrap="square" lIns="0" tIns="0" rIns="0" bIns="0" rtlCol="0" anchor="ctr">
            <a:normAutofit/>
          </a:bodyPr>
          <a:lstStyle/>
          <a:p>
            <a:pPr algn="l" indent="0" marL="0">
              <a:buNone/>
            </a:pPr>
            <a:r>
              <a:rPr lang="en-US" sz="1250" b="1" dirty="0">
                <a:solidFill>
                  <a:srgbClr val="068A95"/>
                </a:solidFill>
                <a:latin typeface="Arial" pitchFamily="34" charset="0"/>
                <a:ea typeface="Arial" pitchFamily="34" charset="-122"/>
                <a:cs typeface="Arial" pitchFamily="34" charset="-120"/>
              </a:rPr>
              <a:t>H3</a:t>
            </a:r>
            <a:endParaRPr lang="en-US" sz="1250" dirty="0"/>
          </a:p>
        </p:txBody>
      </p:sp>
      <p:sp>
        <p:nvSpPr>
          <p:cNvPr id="25" name="Text 23"/>
          <p:cNvSpPr/>
          <p:nvPr/>
        </p:nvSpPr>
        <p:spPr>
          <a:xfrm>
            <a:off x="4965192" y="4233672"/>
            <a:ext cx="2487168" cy="640080"/>
          </a:xfrm>
          <a:prstGeom prst="rect">
            <a:avLst/>
          </a:prstGeom>
          <a:noFill/>
          <a:ln/>
        </p:spPr>
        <p:txBody>
          <a:bodyPr wrap="square" lIns="0" tIns="0" rIns="0" bIns="0" rtlCol="0" anchor="ctr">
            <a:normAutofit/>
          </a:bodyPr>
          <a:lstStyle/>
          <a:p>
            <a:pPr algn="l" indent="0" marL="0">
              <a:buNone/>
            </a:pPr>
            <a:r>
              <a:rPr lang="en-US" sz="1220" b="1" dirty="0">
                <a:solidFill>
                  <a:srgbClr val="0B2A45"/>
                </a:solidFill>
                <a:latin typeface="Arial" pitchFamily="34" charset="0"/>
                <a:ea typeface="Arial" pitchFamily="34" charset="-122"/>
                <a:cs typeface="Arial" pitchFamily="34" charset="-120"/>
              </a:rPr>
              <a:t>CS expected to be downward biased in thin markets.</a:t>
            </a:r>
            <a:endParaRPr lang="en-US" sz="1220" dirty="0"/>
          </a:p>
        </p:txBody>
      </p:sp>
      <p:sp>
        <p:nvSpPr>
          <p:cNvPr id="26" name="Shape 24"/>
          <p:cNvSpPr/>
          <p:nvPr/>
        </p:nvSpPr>
        <p:spPr>
          <a:xfrm>
            <a:off x="8028432" y="4133088"/>
            <a:ext cx="3401568" cy="1133856"/>
          </a:xfrm>
          <a:prstGeom prst="roundRect">
            <a:avLst>
              <a:gd name="adj" fmla="val 4839"/>
            </a:avLst>
          </a:prstGeom>
          <a:solidFill>
            <a:srgbClr val="FFFFFF"/>
          </a:solidFill>
          <a:ln w="12700">
            <a:solidFill>
              <a:srgbClr val="DCE3E8"/>
            </a:solidFill>
            <a:prstDash val="solid"/>
          </a:ln>
          <a:effectLst>
            <a:outerShdw sx="100000" sy="100000" kx="0" ky="0" algn="bl" rotWithShape="0" blurRad="19050" dist="50800" dir="2700000">
              <a:srgbClr val="DDE3E7">
                <a:alpha val="20000"/>
              </a:srgbClr>
            </a:outerShdw>
          </a:effectLst>
        </p:spPr>
      </p:sp>
      <p:sp>
        <p:nvSpPr>
          <p:cNvPr id="27" name="Text 25"/>
          <p:cNvSpPr/>
          <p:nvPr/>
        </p:nvSpPr>
        <p:spPr>
          <a:xfrm>
            <a:off x="8174736" y="4288536"/>
            <a:ext cx="502920" cy="274320"/>
          </a:xfrm>
          <a:prstGeom prst="rect">
            <a:avLst/>
          </a:prstGeom>
          <a:noFill/>
          <a:ln/>
        </p:spPr>
        <p:txBody>
          <a:bodyPr wrap="square" lIns="0" tIns="0" rIns="0" bIns="0" rtlCol="0" anchor="ctr">
            <a:normAutofit/>
          </a:bodyPr>
          <a:lstStyle/>
          <a:p>
            <a:pPr algn="l" indent="0" marL="0">
              <a:buNone/>
            </a:pPr>
            <a:r>
              <a:rPr lang="en-US" sz="1250" b="1" dirty="0">
                <a:solidFill>
                  <a:srgbClr val="068A95"/>
                </a:solidFill>
                <a:latin typeface="Arial" pitchFamily="34" charset="0"/>
                <a:ea typeface="Arial" pitchFamily="34" charset="-122"/>
                <a:cs typeface="Arial" pitchFamily="34" charset="-120"/>
              </a:rPr>
              <a:t>H4</a:t>
            </a:r>
            <a:endParaRPr lang="en-US" sz="1250" dirty="0"/>
          </a:p>
        </p:txBody>
      </p:sp>
      <p:sp>
        <p:nvSpPr>
          <p:cNvPr id="28" name="Text 26"/>
          <p:cNvSpPr/>
          <p:nvPr/>
        </p:nvSpPr>
        <p:spPr>
          <a:xfrm>
            <a:off x="8714232" y="4233672"/>
            <a:ext cx="2487168" cy="640080"/>
          </a:xfrm>
          <a:prstGeom prst="rect">
            <a:avLst/>
          </a:prstGeom>
          <a:noFill/>
          <a:ln/>
        </p:spPr>
        <p:txBody>
          <a:bodyPr wrap="square" lIns="0" tIns="0" rIns="0" bIns="0" rtlCol="0" anchor="ctr">
            <a:normAutofit/>
          </a:bodyPr>
          <a:lstStyle/>
          <a:p>
            <a:pPr algn="l" indent="0" marL="0">
              <a:buNone/>
            </a:pPr>
            <a:r>
              <a:rPr lang="en-US" sz="1220" b="1" dirty="0">
                <a:solidFill>
                  <a:srgbClr val="0B2A45"/>
                </a:solidFill>
                <a:latin typeface="Arial" pitchFamily="34" charset="0"/>
                <a:ea typeface="Arial" pitchFamily="34" charset="-122"/>
                <a:cs typeface="Arial" pitchFamily="34" charset="-120"/>
              </a:rPr>
              <a:t>Rankings expected to be stable across asset classes.</a:t>
            </a:r>
            <a:endParaRPr lang="en-US" sz="1220" dirty="0"/>
          </a:p>
        </p:txBody>
      </p:sp>
      <p:sp>
        <p:nvSpPr>
          <p:cNvPr id="29" name="Shape 27"/>
          <p:cNvSpPr/>
          <p:nvPr/>
        </p:nvSpPr>
        <p:spPr>
          <a:xfrm>
            <a:off x="3273552" y="5623560"/>
            <a:ext cx="5687568" cy="420624"/>
          </a:xfrm>
          <a:prstGeom prst="roundRect">
            <a:avLst>
              <a:gd name="adj" fmla="val 13043"/>
            </a:avLst>
          </a:prstGeom>
          <a:solidFill>
            <a:srgbClr val="E2F2F3"/>
          </a:solidFill>
          <a:ln w="12700">
            <a:solidFill>
              <a:srgbClr val="E2F2F3"/>
            </a:solidFill>
            <a:prstDash val="solid"/>
          </a:ln>
        </p:spPr>
      </p:sp>
      <p:sp>
        <p:nvSpPr>
          <p:cNvPr id="30" name="Text 28"/>
          <p:cNvSpPr/>
          <p:nvPr/>
        </p:nvSpPr>
        <p:spPr>
          <a:xfrm>
            <a:off x="3401568" y="5724144"/>
            <a:ext cx="5440680" cy="201168"/>
          </a:xfrm>
          <a:prstGeom prst="rect">
            <a:avLst/>
          </a:prstGeom>
          <a:noFill/>
          <a:ln/>
        </p:spPr>
        <p:txBody>
          <a:bodyPr wrap="square" lIns="0" tIns="0" rIns="0" bIns="0" rtlCol="0" anchor="ctr">
            <a:normAutofit/>
          </a:bodyPr>
          <a:lstStyle/>
          <a:p>
            <a:pPr algn="ctr" indent="0" marL="0">
              <a:buNone/>
            </a:pPr>
            <a:r>
              <a:rPr lang="en-US" sz="1220" b="1" dirty="0">
                <a:solidFill>
                  <a:srgbClr val="068A95"/>
                </a:solidFill>
                <a:latin typeface="Arial" pitchFamily="34" charset="0"/>
                <a:ea typeface="Arial" pitchFamily="34" charset="-122"/>
                <a:cs typeface="Arial" pitchFamily="34" charset="-120"/>
              </a:rPr>
              <a:t>These are falsifiable hypotheses, not assumptions.</a:t>
            </a:r>
            <a:endParaRPr lang="en-US" sz="122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DATA &amp; DESIGN</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Four completed asset classes, one comparable horse race</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Frozen selection precedes estimator outcomes; class calendars differ</a:t>
            </a:r>
            <a:endParaRPr lang="en-US" sz="1070" dirty="0"/>
          </a:p>
        </p:txBody>
      </p:sp>
      <p:sp>
        <p:nvSpPr>
          <p:cNvPr id="5" name="Shape 3"/>
          <p:cNvSpPr/>
          <p:nvPr/>
        </p:nvSpPr>
        <p:spPr>
          <a:xfrm>
            <a:off x="9838944" y="246888"/>
            <a:ext cx="1920240" cy="256032"/>
          </a:xfrm>
          <a:prstGeom prst="roundRect">
            <a:avLst>
              <a:gd name="adj" fmla="val 14286"/>
            </a:avLst>
          </a:prstGeom>
          <a:solidFill>
            <a:srgbClr val="E2F2F3"/>
          </a:solidFill>
          <a:ln w="12700">
            <a:solidFill>
              <a:srgbClr val="E2F2F3"/>
            </a:solidFill>
            <a:prstDash val="solid"/>
          </a:ln>
        </p:spPr>
      </p:sp>
      <p:sp>
        <p:nvSpPr>
          <p:cNvPr id="6" name="Text 4"/>
          <p:cNvSpPr/>
          <p:nvPr/>
        </p:nvSpPr>
        <p:spPr>
          <a:xfrm>
            <a:off x="9912096"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068A95"/>
                </a:solidFill>
              </a:rPr>
              <a:t>DESIGN</a:t>
            </a:r>
            <a:endParaRPr lang="en-US" sz="740" dirty="0"/>
          </a:p>
        </p:txBody>
      </p:sp>
      <p:sp>
        <p:nvSpPr>
          <p:cNvPr id="7" name="Shape 5"/>
          <p:cNvSpPr/>
          <p:nvPr/>
        </p:nvSpPr>
        <p:spPr>
          <a:xfrm>
            <a:off x="548640" y="1572768"/>
            <a:ext cx="1664208" cy="804672"/>
          </a:xfrm>
          <a:prstGeom prst="roundRect">
            <a:avLst>
              <a:gd name="adj" fmla="val 6818"/>
            </a:avLst>
          </a:prstGeom>
          <a:solidFill>
            <a:srgbClr val="FFFFFF"/>
          </a:solidFill>
          <a:ln w="12700">
            <a:solidFill>
              <a:srgbClr val="D9E1E6"/>
            </a:solidFill>
            <a:prstDash val="solid"/>
          </a:ln>
          <a:effectLst>
            <a:outerShdw sx="100000" sy="100000" kx="0" ky="0" algn="bl" rotWithShape="0" blurRad="19050" dist="50800" dir="2700000">
              <a:srgbClr val="DDE3E7">
                <a:alpha val="20000"/>
              </a:srgbClr>
            </a:outerShdw>
          </a:effectLst>
        </p:spPr>
      </p:sp>
      <p:sp>
        <p:nvSpPr>
          <p:cNvPr id="8" name="Text 6"/>
          <p:cNvSpPr/>
          <p:nvPr/>
        </p:nvSpPr>
        <p:spPr>
          <a:xfrm>
            <a:off x="640080" y="1719072"/>
            <a:ext cx="1481328" cy="201168"/>
          </a:xfrm>
          <a:prstGeom prst="rect">
            <a:avLst/>
          </a:prstGeom>
          <a:noFill/>
          <a:ln/>
        </p:spPr>
        <p:txBody>
          <a:bodyPr wrap="square" lIns="0" tIns="0" rIns="0" bIns="0" rtlCol="0" anchor="ctr">
            <a:normAutofit/>
          </a:bodyPr>
          <a:lstStyle/>
          <a:p>
            <a:pPr algn="ctr" indent="0" marL="0">
              <a:buNone/>
            </a:pPr>
            <a:r>
              <a:rPr lang="en-US" sz="1160" b="1" dirty="0">
                <a:solidFill>
                  <a:srgbClr val="0B2A45"/>
                </a:solidFill>
                <a:latin typeface="Arial" pitchFamily="34" charset="0"/>
                <a:ea typeface="Arial" pitchFamily="34" charset="-122"/>
                <a:cs typeface="Arial" pitchFamily="34" charset="-120"/>
              </a:rPr>
              <a:t>STOCKS</a:t>
            </a:r>
            <a:endParaRPr lang="en-US" sz="1160" dirty="0"/>
          </a:p>
        </p:txBody>
      </p:sp>
      <p:sp>
        <p:nvSpPr>
          <p:cNvPr id="9" name="Text 7"/>
          <p:cNvSpPr/>
          <p:nvPr/>
        </p:nvSpPr>
        <p:spPr>
          <a:xfrm>
            <a:off x="640080" y="1984248"/>
            <a:ext cx="1481328" cy="164592"/>
          </a:xfrm>
          <a:prstGeom prst="rect">
            <a:avLst/>
          </a:prstGeom>
          <a:noFill/>
          <a:ln/>
        </p:spPr>
        <p:txBody>
          <a:bodyPr wrap="square" lIns="0" tIns="0" rIns="0" bIns="0" rtlCol="0" anchor="ctr">
            <a:normAutofit/>
          </a:bodyPr>
          <a:lstStyle/>
          <a:p>
            <a:pPr algn="ctr" indent="0" marL="0">
              <a:buNone/>
            </a:pPr>
            <a:r>
              <a:rPr lang="en-US" sz="880" dirty="0">
                <a:solidFill>
                  <a:srgbClr val="6F7E89"/>
                </a:solidFill>
                <a:latin typeface="Arial" pitchFamily="34" charset="0"/>
                <a:ea typeface="Arial" pitchFamily="34" charset="-122"/>
                <a:cs typeface="Arial" pitchFamily="34" charset="-120"/>
              </a:rPr>
              <a:t>2019–2025</a:t>
            </a:r>
            <a:endParaRPr lang="en-US" sz="880" dirty="0"/>
          </a:p>
        </p:txBody>
      </p:sp>
      <p:sp>
        <p:nvSpPr>
          <p:cNvPr id="10" name="Shape 8"/>
          <p:cNvSpPr/>
          <p:nvPr/>
        </p:nvSpPr>
        <p:spPr>
          <a:xfrm>
            <a:off x="2487168" y="1572768"/>
            <a:ext cx="1664208" cy="804672"/>
          </a:xfrm>
          <a:prstGeom prst="roundRect">
            <a:avLst>
              <a:gd name="adj" fmla="val 6818"/>
            </a:avLst>
          </a:prstGeom>
          <a:solidFill>
            <a:srgbClr val="FFFFFF"/>
          </a:solidFill>
          <a:ln w="12700">
            <a:solidFill>
              <a:srgbClr val="D9E1E6"/>
            </a:solidFill>
            <a:prstDash val="solid"/>
          </a:ln>
          <a:effectLst>
            <a:outerShdw sx="100000" sy="100000" kx="0" ky="0" algn="bl" rotWithShape="0" blurRad="19050" dist="50800" dir="2700000">
              <a:srgbClr val="DDE3E7">
                <a:alpha val="20000"/>
              </a:srgbClr>
            </a:outerShdw>
          </a:effectLst>
        </p:spPr>
      </p:sp>
      <p:sp>
        <p:nvSpPr>
          <p:cNvPr id="11" name="Text 9"/>
          <p:cNvSpPr/>
          <p:nvPr/>
        </p:nvSpPr>
        <p:spPr>
          <a:xfrm>
            <a:off x="2578608" y="1719072"/>
            <a:ext cx="1481328" cy="201168"/>
          </a:xfrm>
          <a:prstGeom prst="rect">
            <a:avLst/>
          </a:prstGeom>
          <a:noFill/>
          <a:ln/>
        </p:spPr>
        <p:txBody>
          <a:bodyPr wrap="square" lIns="0" tIns="0" rIns="0" bIns="0" rtlCol="0" anchor="ctr">
            <a:normAutofit/>
          </a:bodyPr>
          <a:lstStyle/>
          <a:p>
            <a:pPr algn="ctr" indent="0" marL="0">
              <a:buNone/>
            </a:pPr>
            <a:r>
              <a:rPr lang="en-US" sz="1160" b="1" dirty="0">
                <a:solidFill>
                  <a:srgbClr val="0B2A45"/>
                </a:solidFill>
                <a:latin typeface="Arial" pitchFamily="34" charset="0"/>
                <a:ea typeface="Arial" pitchFamily="34" charset="-122"/>
                <a:cs typeface="Arial" pitchFamily="34" charset="-120"/>
              </a:rPr>
              <a:t>ETFs</a:t>
            </a:r>
            <a:endParaRPr lang="en-US" sz="1160" dirty="0"/>
          </a:p>
        </p:txBody>
      </p:sp>
      <p:sp>
        <p:nvSpPr>
          <p:cNvPr id="12" name="Text 10"/>
          <p:cNvSpPr/>
          <p:nvPr/>
        </p:nvSpPr>
        <p:spPr>
          <a:xfrm>
            <a:off x="2578608" y="1984248"/>
            <a:ext cx="1481328" cy="164592"/>
          </a:xfrm>
          <a:prstGeom prst="rect">
            <a:avLst/>
          </a:prstGeom>
          <a:noFill/>
          <a:ln/>
        </p:spPr>
        <p:txBody>
          <a:bodyPr wrap="square" lIns="0" tIns="0" rIns="0" bIns="0" rtlCol="0" anchor="ctr">
            <a:normAutofit/>
          </a:bodyPr>
          <a:lstStyle/>
          <a:p>
            <a:pPr algn="ctr" indent="0" marL="0">
              <a:buNone/>
            </a:pPr>
            <a:r>
              <a:rPr lang="en-US" sz="880" dirty="0">
                <a:solidFill>
                  <a:srgbClr val="6F7E89"/>
                </a:solidFill>
                <a:latin typeface="Arial" pitchFamily="34" charset="0"/>
                <a:ea typeface="Arial" pitchFamily="34" charset="-122"/>
                <a:cs typeface="Arial" pitchFamily="34" charset="-120"/>
              </a:rPr>
              <a:t>2020–2025</a:t>
            </a:r>
            <a:endParaRPr lang="en-US" sz="880" dirty="0"/>
          </a:p>
        </p:txBody>
      </p:sp>
      <p:sp>
        <p:nvSpPr>
          <p:cNvPr id="13" name="Shape 11"/>
          <p:cNvSpPr/>
          <p:nvPr/>
        </p:nvSpPr>
        <p:spPr>
          <a:xfrm>
            <a:off x="4425696" y="1572768"/>
            <a:ext cx="1664208" cy="804672"/>
          </a:xfrm>
          <a:prstGeom prst="roundRect">
            <a:avLst>
              <a:gd name="adj" fmla="val 6818"/>
            </a:avLst>
          </a:prstGeom>
          <a:solidFill>
            <a:srgbClr val="FFFFFF"/>
          </a:solidFill>
          <a:ln w="12700">
            <a:solidFill>
              <a:srgbClr val="D9E1E6"/>
            </a:solidFill>
            <a:prstDash val="solid"/>
          </a:ln>
          <a:effectLst>
            <a:outerShdw sx="100000" sy="100000" kx="0" ky="0" algn="bl" rotWithShape="0" blurRad="19050" dist="50800" dir="2700000">
              <a:srgbClr val="DDE3E7">
                <a:alpha val="20000"/>
              </a:srgbClr>
            </a:outerShdw>
          </a:effectLst>
        </p:spPr>
      </p:sp>
      <p:sp>
        <p:nvSpPr>
          <p:cNvPr id="14" name="Text 12"/>
          <p:cNvSpPr/>
          <p:nvPr/>
        </p:nvSpPr>
        <p:spPr>
          <a:xfrm>
            <a:off x="4517136" y="1719072"/>
            <a:ext cx="1481328" cy="201168"/>
          </a:xfrm>
          <a:prstGeom prst="rect">
            <a:avLst/>
          </a:prstGeom>
          <a:noFill/>
          <a:ln/>
        </p:spPr>
        <p:txBody>
          <a:bodyPr wrap="square" lIns="0" tIns="0" rIns="0" bIns="0" rtlCol="0" anchor="ctr">
            <a:normAutofit/>
          </a:bodyPr>
          <a:lstStyle/>
          <a:p>
            <a:pPr algn="ctr" indent="0" marL="0">
              <a:buNone/>
            </a:pPr>
            <a:r>
              <a:rPr lang="en-US" sz="1160" b="1" dirty="0">
                <a:solidFill>
                  <a:srgbClr val="0B2A45"/>
                </a:solidFill>
                <a:latin typeface="Arial" pitchFamily="34" charset="0"/>
                <a:ea typeface="Arial" pitchFamily="34" charset="-122"/>
                <a:cs typeface="Arial" pitchFamily="34" charset="-120"/>
              </a:rPr>
              <a:t>FUTURES</a:t>
            </a:r>
            <a:endParaRPr lang="en-US" sz="1160" dirty="0"/>
          </a:p>
        </p:txBody>
      </p:sp>
      <p:sp>
        <p:nvSpPr>
          <p:cNvPr id="15" name="Text 13"/>
          <p:cNvSpPr/>
          <p:nvPr/>
        </p:nvSpPr>
        <p:spPr>
          <a:xfrm>
            <a:off x="4517136" y="1984248"/>
            <a:ext cx="1481328" cy="164592"/>
          </a:xfrm>
          <a:prstGeom prst="rect">
            <a:avLst/>
          </a:prstGeom>
          <a:noFill/>
          <a:ln/>
        </p:spPr>
        <p:txBody>
          <a:bodyPr wrap="square" lIns="0" tIns="0" rIns="0" bIns="0" rtlCol="0" anchor="ctr">
            <a:normAutofit/>
          </a:bodyPr>
          <a:lstStyle/>
          <a:p>
            <a:pPr algn="ctr" indent="0" marL="0">
              <a:buNone/>
            </a:pPr>
            <a:r>
              <a:rPr lang="en-US" sz="880" dirty="0">
                <a:solidFill>
                  <a:srgbClr val="6F7E89"/>
                </a:solidFill>
                <a:latin typeface="Arial" pitchFamily="34" charset="0"/>
                <a:ea typeface="Arial" pitchFamily="34" charset="-122"/>
                <a:cs typeface="Arial" pitchFamily="34" charset="-120"/>
              </a:rPr>
              <a:t>2024</a:t>
            </a:r>
            <a:endParaRPr lang="en-US" sz="880" dirty="0"/>
          </a:p>
        </p:txBody>
      </p:sp>
      <p:sp>
        <p:nvSpPr>
          <p:cNvPr id="16" name="Shape 14"/>
          <p:cNvSpPr/>
          <p:nvPr/>
        </p:nvSpPr>
        <p:spPr>
          <a:xfrm>
            <a:off x="6364224" y="1572768"/>
            <a:ext cx="1664208" cy="804672"/>
          </a:xfrm>
          <a:prstGeom prst="roundRect">
            <a:avLst>
              <a:gd name="adj" fmla="val 6818"/>
            </a:avLst>
          </a:prstGeom>
          <a:solidFill>
            <a:srgbClr val="FFFFFF"/>
          </a:solidFill>
          <a:ln w="12700">
            <a:solidFill>
              <a:srgbClr val="D9E1E6"/>
            </a:solidFill>
            <a:prstDash val="solid"/>
          </a:ln>
          <a:effectLst>
            <a:outerShdw sx="100000" sy="100000" kx="0" ky="0" algn="bl" rotWithShape="0" blurRad="19050" dist="50800" dir="2700000">
              <a:srgbClr val="DDE3E7">
                <a:alpha val="20000"/>
              </a:srgbClr>
            </a:outerShdw>
          </a:effectLst>
        </p:spPr>
      </p:sp>
      <p:sp>
        <p:nvSpPr>
          <p:cNvPr id="17" name="Text 15"/>
          <p:cNvSpPr/>
          <p:nvPr/>
        </p:nvSpPr>
        <p:spPr>
          <a:xfrm>
            <a:off x="6455664" y="1719072"/>
            <a:ext cx="1481328" cy="201168"/>
          </a:xfrm>
          <a:prstGeom prst="rect">
            <a:avLst/>
          </a:prstGeom>
          <a:noFill/>
          <a:ln/>
        </p:spPr>
        <p:txBody>
          <a:bodyPr wrap="square" lIns="0" tIns="0" rIns="0" bIns="0" rtlCol="0" anchor="ctr">
            <a:normAutofit/>
          </a:bodyPr>
          <a:lstStyle/>
          <a:p>
            <a:pPr algn="ctr" indent="0" marL="0">
              <a:buNone/>
            </a:pPr>
            <a:r>
              <a:rPr lang="en-US" sz="1160" b="1" dirty="0">
                <a:solidFill>
                  <a:srgbClr val="0B2A45"/>
                </a:solidFill>
                <a:latin typeface="Arial" pitchFamily="34" charset="0"/>
                <a:ea typeface="Arial" pitchFamily="34" charset="-122"/>
                <a:cs typeface="Arial" pitchFamily="34" charset="-120"/>
              </a:rPr>
              <a:t>CRYPTO</a:t>
            </a:r>
            <a:endParaRPr lang="en-US" sz="1160" dirty="0"/>
          </a:p>
        </p:txBody>
      </p:sp>
      <p:sp>
        <p:nvSpPr>
          <p:cNvPr id="18" name="Text 16"/>
          <p:cNvSpPr/>
          <p:nvPr/>
        </p:nvSpPr>
        <p:spPr>
          <a:xfrm>
            <a:off x="6455664" y="1984248"/>
            <a:ext cx="1481328" cy="164592"/>
          </a:xfrm>
          <a:prstGeom prst="rect">
            <a:avLst/>
          </a:prstGeom>
          <a:noFill/>
          <a:ln/>
        </p:spPr>
        <p:txBody>
          <a:bodyPr wrap="square" lIns="0" tIns="0" rIns="0" bIns="0" rtlCol="0" anchor="ctr">
            <a:normAutofit/>
          </a:bodyPr>
          <a:lstStyle/>
          <a:p>
            <a:pPr algn="ctr" indent="0" marL="0">
              <a:buNone/>
            </a:pPr>
            <a:r>
              <a:rPr lang="en-US" sz="880" dirty="0">
                <a:solidFill>
                  <a:srgbClr val="6F7E89"/>
                </a:solidFill>
                <a:latin typeface="Arial" pitchFamily="34" charset="0"/>
                <a:ea typeface="Arial" pitchFamily="34" charset="-122"/>
                <a:cs typeface="Arial" pitchFamily="34" charset="-120"/>
              </a:rPr>
              <a:t>2022–2025</a:t>
            </a:r>
            <a:endParaRPr lang="en-US" sz="880" dirty="0"/>
          </a:p>
        </p:txBody>
      </p:sp>
      <p:sp>
        <p:nvSpPr>
          <p:cNvPr id="19" name="Shape 17"/>
          <p:cNvSpPr/>
          <p:nvPr/>
        </p:nvSpPr>
        <p:spPr>
          <a:xfrm>
            <a:off x="1380744" y="2423160"/>
            <a:ext cx="0" cy="365760"/>
          </a:xfrm>
          <a:prstGeom prst="line">
            <a:avLst/>
          </a:prstGeom>
          <a:noFill/>
          <a:ln w="19050">
            <a:solidFill>
              <a:srgbClr val="D9E0E5"/>
            </a:solidFill>
            <a:prstDash val="solid"/>
          </a:ln>
        </p:spPr>
      </p:sp>
      <p:sp>
        <p:nvSpPr>
          <p:cNvPr id="20" name="Shape 18"/>
          <p:cNvSpPr/>
          <p:nvPr/>
        </p:nvSpPr>
        <p:spPr>
          <a:xfrm>
            <a:off x="3319272" y="2423160"/>
            <a:ext cx="0" cy="365760"/>
          </a:xfrm>
          <a:prstGeom prst="line">
            <a:avLst/>
          </a:prstGeom>
          <a:noFill/>
          <a:ln w="19050">
            <a:solidFill>
              <a:srgbClr val="D9E0E5"/>
            </a:solidFill>
            <a:prstDash val="solid"/>
          </a:ln>
        </p:spPr>
      </p:sp>
      <p:sp>
        <p:nvSpPr>
          <p:cNvPr id="21" name="Shape 19"/>
          <p:cNvSpPr/>
          <p:nvPr/>
        </p:nvSpPr>
        <p:spPr>
          <a:xfrm>
            <a:off x="5257800" y="2423160"/>
            <a:ext cx="0" cy="365760"/>
          </a:xfrm>
          <a:prstGeom prst="line">
            <a:avLst/>
          </a:prstGeom>
          <a:noFill/>
          <a:ln w="19050">
            <a:solidFill>
              <a:srgbClr val="D9E0E5"/>
            </a:solidFill>
            <a:prstDash val="solid"/>
          </a:ln>
        </p:spPr>
      </p:sp>
      <p:sp>
        <p:nvSpPr>
          <p:cNvPr id="22" name="Shape 20"/>
          <p:cNvSpPr/>
          <p:nvPr/>
        </p:nvSpPr>
        <p:spPr>
          <a:xfrm>
            <a:off x="7196328" y="2423160"/>
            <a:ext cx="0" cy="365760"/>
          </a:xfrm>
          <a:prstGeom prst="line">
            <a:avLst/>
          </a:prstGeom>
          <a:noFill/>
          <a:ln w="19050">
            <a:solidFill>
              <a:srgbClr val="D9E0E5"/>
            </a:solidFill>
            <a:prstDash val="solid"/>
          </a:ln>
        </p:spPr>
      </p:sp>
      <p:sp>
        <p:nvSpPr>
          <p:cNvPr id="23" name="Shape 21"/>
          <p:cNvSpPr/>
          <p:nvPr/>
        </p:nvSpPr>
        <p:spPr>
          <a:xfrm>
            <a:off x="1380744" y="2788920"/>
            <a:ext cx="5815584" cy="0"/>
          </a:xfrm>
          <a:prstGeom prst="line">
            <a:avLst/>
          </a:prstGeom>
          <a:noFill/>
          <a:ln w="19050">
            <a:solidFill>
              <a:srgbClr val="D9E0E5"/>
            </a:solidFill>
            <a:prstDash val="solid"/>
          </a:ln>
        </p:spPr>
      </p:sp>
      <p:sp>
        <p:nvSpPr>
          <p:cNvPr id="24" name="Shape 22"/>
          <p:cNvSpPr/>
          <p:nvPr/>
        </p:nvSpPr>
        <p:spPr>
          <a:xfrm>
            <a:off x="4288536" y="2788920"/>
            <a:ext cx="0" cy="274320"/>
          </a:xfrm>
          <a:prstGeom prst="line">
            <a:avLst/>
          </a:prstGeom>
          <a:noFill/>
          <a:ln w="19050">
            <a:solidFill>
              <a:srgbClr val="D9E0E5"/>
            </a:solidFill>
            <a:prstDash val="solid"/>
          </a:ln>
        </p:spPr>
      </p:sp>
      <p:sp>
        <p:nvSpPr>
          <p:cNvPr id="25" name="Shape 23"/>
          <p:cNvSpPr/>
          <p:nvPr/>
        </p:nvSpPr>
        <p:spPr>
          <a:xfrm>
            <a:off x="3246120" y="3090672"/>
            <a:ext cx="2103120" cy="658368"/>
          </a:xfrm>
          <a:prstGeom prst="roundRect">
            <a:avLst>
              <a:gd name="adj" fmla="val 8333"/>
            </a:avLst>
          </a:prstGeom>
          <a:solidFill>
            <a:srgbClr val="EAF1F6"/>
          </a:solidFill>
          <a:ln w="12700">
            <a:solidFill>
              <a:srgbClr val="D5E2EB"/>
            </a:solidFill>
            <a:prstDash val="solid"/>
          </a:ln>
        </p:spPr>
      </p:sp>
      <p:sp>
        <p:nvSpPr>
          <p:cNvPr id="26" name="Text 24"/>
          <p:cNvSpPr/>
          <p:nvPr/>
        </p:nvSpPr>
        <p:spPr>
          <a:xfrm>
            <a:off x="3401568" y="3191256"/>
            <a:ext cx="1792224" cy="201168"/>
          </a:xfrm>
          <a:prstGeom prst="rect">
            <a:avLst/>
          </a:prstGeom>
          <a:noFill/>
          <a:ln/>
        </p:spPr>
        <p:txBody>
          <a:bodyPr wrap="square" lIns="0" tIns="0" rIns="0" bIns="0" rtlCol="0" anchor="ctr">
            <a:normAutofit/>
          </a:bodyPr>
          <a:lstStyle/>
          <a:p>
            <a:pPr algn="ctr" indent="0" marL="0">
              <a:buNone/>
            </a:pPr>
            <a:r>
              <a:rPr lang="en-US" sz="1300" b="1" dirty="0">
                <a:solidFill>
                  <a:srgbClr val="0B2A45"/>
                </a:solidFill>
                <a:latin typeface="Arial" pitchFamily="34" charset="0"/>
                <a:ea typeface="Arial" pitchFamily="34" charset="-122"/>
                <a:cs typeface="Arial" pitchFamily="34" charset="-120"/>
              </a:rPr>
              <a:t>9 assets per class</a:t>
            </a:r>
            <a:endParaRPr lang="en-US" sz="1300" dirty="0"/>
          </a:p>
        </p:txBody>
      </p:sp>
      <p:sp>
        <p:nvSpPr>
          <p:cNvPr id="27" name="Text 25"/>
          <p:cNvSpPr/>
          <p:nvPr/>
        </p:nvSpPr>
        <p:spPr>
          <a:xfrm>
            <a:off x="3401568" y="3429000"/>
            <a:ext cx="1792224" cy="146304"/>
          </a:xfrm>
          <a:prstGeom prst="rect">
            <a:avLst/>
          </a:prstGeom>
          <a:noFill/>
          <a:ln/>
        </p:spPr>
        <p:txBody>
          <a:bodyPr wrap="square" lIns="0" tIns="0" rIns="0" bIns="0" rtlCol="0" anchor="ctr">
            <a:normAutofit/>
          </a:bodyPr>
          <a:lstStyle/>
          <a:p>
            <a:pPr algn="ctr" indent="0" marL="0">
              <a:buNone/>
            </a:pPr>
            <a:r>
              <a:rPr lang="en-US" sz="830" b="1" dirty="0">
                <a:solidFill>
                  <a:srgbClr val="068A95"/>
                </a:solidFill>
                <a:latin typeface="Arial" pitchFamily="34" charset="0"/>
                <a:ea typeface="Arial" pitchFamily="34" charset="-122"/>
                <a:cs typeface="Arial" pitchFamily="34" charset="-120"/>
              </a:rPr>
              <a:t>LOW · MEDIUM · HIGH</a:t>
            </a:r>
            <a:endParaRPr lang="en-US" sz="830" dirty="0"/>
          </a:p>
        </p:txBody>
      </p:sp>
      <p:sp>
        <p:nvSpPr>
          <p:cNvPr id="28" name="Shape 26"/>
          <p:cNvSpPr/>
          <p:nvPr/>
        </p:nvSpPr>
        <p:spPr>
          <a:xfrm>
            <a:off x="5733288" y="3090672"/>
            <a:ext cx="2194560" cy="658368"/>
          </a:xfrm>
          <a:prstGeom prst="roundRect">
            <a:avLst>
              <a:gd name="adj" fmla="val 8333"/>
            </a:avLst>
          </a:prstGeom>
          <a:solidFill>
            <a:srgbClr val="FFFFFF"/>
          </a:solidFill>
          <a:ln w="12700">
            <a:solidFill>
              <a:srgbClr val="D9E0E5"/>
            </a:solidFill>
            <a:prstDash val="solid"/>
          </a:ln>
        </p:spPr>
      </p:sp>
      <p:sp>
        <p:nvSpPr>
          <p:cNvPr id="29" name="Text 27"/>
          <p:cNvSpPr/>
          <p:nvPr/>
        </p:nvSpPr>
        <p:spPr>
          <a:xfrm>
            <a:off x="5870448" y="3172968"/>
            <a:ext cx="1920240" cy="256032"/>
          </a:xfrm>
          <a:prstGeom prst="rect">
            <a:avLst/>
          </a:prstGeom>
          <a:noFill/>
          <a:ln/>
        </p:spPr>
        <p:txBody>
          <a:bodyPr wrap="square" lIns="0" tIns="0" rIns="0" bIns="0" rtlCol="0" anchor="ctr">
            <a:normAutofit/>
          </a:bodyPr>
          <a:lstStyle/>
          <a:p>
            <a:pPr algn="ctr" indent="0" marL="0">
              <a:buNone/>
            </a:pPr>
            <a:r>
              <a:rPr lang="en-US" sz="2000" b="1" dirty="0">
                <a:solidFill>
                  <a:srgbClr val="0B2A45"/>
                </a:solidFill>
                <a:latin typeface="Arial" pitchFamily="34" charset="0"/>
                <a:ea typeface="Arial" pitchFamily="34" charset="-122"/>
                <a:cs typeface="Arial" pitchFamily="34" charset="-120"/>
              </a:rPr>
              <a:t>38,232</a:t>
            </a:r>
            <a:endParaRPr lang="en-US" sz="2000" dirty="0"/>
          </a:p>
        </p:txBody>
      </p:sp>
      <p:sp>
        <p:nvSpPr>
          <p:cNvPr id="30" name="Text 28"/>
          <p:cNvSpPr/>
          <p:nvPr/>
        </p:nvSpPr>
        <p:spPr>
          <a:xfrm>
            <a:off x="5870448" y="3465576"/>
            <a:ext cx="1920240" cy="137160"/>
          </a:xfrm>
          <a:prstGeom prst="rect">
            <a:avLst/>
          </a:prstGeom>
          <a:noFill/>
          <a:ln/>
        </p:spPr>
        <p:txBody>
          <a:bodyPr wrap="square" lIns="0" tIns="0" rIns="0" bIns="0" rtlCol="0" anchor="ctr">
            <a:normAutofit/>
          </a:bodyPr>
          <a:lstStyle/>
          <a:p>
            <a:pPr algn="ctr" indent="0" marL="0">
              <a:buNone/>
            </a:pPr>
            <a:r>
              <a:rPr lang="en-US" sz="810" dirty="0">
                <a:solidFill>
                  <a:srgbClr val="6F7E89"/>
                </a:solidFill>
                <a:latin typeface="Arial" pitchFamily="34" charset="0"/>
                <a:ea typeface="Arial" pitchFamily="34" charset="-122"/>
                <a:cs typeface="Arial" pitchFamily="34" charset="-120"/>
              </a:rPr>
              <a:t>design-eligible asset-days</a:t>
            </a:r>
            <a:endParaRPr lang="en-US" sz="810" dirty="0"/>
          </a:p>
        </p:txBody>
      </p:sp>
      <p:sp>
        <p:nvSpPr>
          <p:cNvPr id="31" name="Shape 29"/>
          <p:cNvSpPr/>
          <p:nvPr/>
        </p:nvSpPr>
        <p:spPr>
          <a:xfrm>
            <a:off x="7964424" y="3419856"/>
            <a:ext cx="566928" cy="0"/>
          </a:xfrm>
          <a:prstGeom prst="line">
            <a:avLst/>
          </a:prstGeom>
          <a:noFill/>
          <a:ln w="29210">
            <a:solidFill>
              <a:srgbClr val="068A95"/>
            </a:solidFill>
            <a:prstDash val="solid"/>
          </a:ln>
        </p:spPr>
      </p:sp>
      <p:sp>
        <p:nvSpPr>
          <p:cNvPr id="32" name="Shape 30"/>
          <p:cNvSpPr/>
          <p:nvPr/>
        </p:nvSpPr>
        <p:spPr>
          <a:xfrm>
            <a:off x="8394192" y="3310128"/>
            <a:ext cx="182880" cy="219456"/>
          </a:xfrm>
          <a:prstGeom prst="chevron">
            <a:avLst/>
          </a:prstGeom>
          <a:solidFill>
            <a:srgbClr val="068A95"/>
          </a:solidFill>
          <a:ln w="12700">
            <a:solidFill>
              <a:srgbClr val="068A95"/>
            </a:solidFill>
            <a:prstDash val="solid"/>
          </a:ln>
        </p:spPr>
      </p:sp>
      <p:sp>
        <p:nvSpPr>
          <p:cNvPr id="33" name="Shape 31"/>
          <p:cNvSpPr/>
          <p:nvPr/>
        </p:nvSpPr>
        <p:spPr>
          <a:xfrm>
            <a:off x="8668512" y="3090672"/>
            <a:ext cx="2194560" cy="658368"/>
          </a:xfrm>
          <a:prstGeom prst="roundRect">
            <a:avLst>
              <a:gd name="adj" fmla="val 8333"/>
            </a:avLst>
          </a:prstGeom>
          <a:solidFill>
            <a:srgbClr val="E2F2F3"/>
          </a:solidFill>
          <a:ln w="12700">
            <a:solidFill>
              <a:srgbClr val="B9DFE1"/>
            </a:solidFill>
            <a:prstDash val="solid"/>
          </a:ln>
        </p:spPr>
      </p:sp>
      <p:sp>
        <p:nvSpPr>
          <p:cNvPr id="34" name="Text 32"/>
          <p:cNvSpPr/>
          <p:nvPr/>
        </p:nvSpPr>
        <p:spPr>
          <a:xfrm>
            <a:off x="8814816" y="3172968"/>
            <a:ext cx="1901952" cy="256032"/>
          </a:xfrm>
          <a:prstGeom prst="rect">
            <a:avLst/>
          </a:prstGeom>
          <a:noFill/>
          <a:ln/>
        </p:spPr>
        <p:txBody>
          <a:bodyPr wrap="square" lIns="0" tIns="0" rIns="0" bIns="0" rtlCol="0" anchor="ctr">
            <a:normAutofit/>
          </a:bodyPr>
          <a:lstStyle/>
          <a:p>
            <a:pPr algn="ctr" indent="0" marL="0">
              <a:buNone/>
            </a:pPr>
            <a:r>
              <a:rPr lang="en-US" sz="2000" b="1" dirty="0">
                <a:solidFill>
                  <a:srgbClr val="068A95"/>
                </a:solidFill>
                <a:latin typeface="Arial" pitchFamily="34" charset="0"/>
                <a:ea typeface="Arial" pitchFamily="34" charset="-122"/>
                <a:cs typeface="Arial" pitchFamily="34" charset="-120"/>
              </a:rPr>
              <a:t>24,377</a:t>
            </a:r>
            <a:endParaRPr lang="en-US" sz="2000" dirty="0"/>
          </a:p>
        </p:txBody>
      </p:sp>
      <p:sp>
        <p:nvSpPr>
          <p:cNvPr id="35" name="Text 33"/>
          <p:cNvSpPr/>
          <p:nvPr/>
        </p:nvSpPr>
        <p:spPr>
          <a:xfrm>
            <a:off x="8814816" y="3465576"/>
            <a:ext cx="1901952" cy="137160"/>
          </a:xfrm>
          <a:prstGeom prst="rect">
            <a:avLst/>
          </a:prstGeom>
          <a:noFill/>
          <a:ln/>
        </p:spPr>
        <p:txBody>
          <a:bodyPr wrap="square" lIns="0" tIns="0" rIns="0" bIns="0" rtlCol="0" anchor="ctr">
            <a:normAutofit/>
          </a:bodyPr>
          <a:lstStyle/>
          <a:p>
            <a:pPr algn="ctr" indent="0" marL="0">
              <a:buNone/>
            </a:pPr>
            <a:r>
              <a:rPr lang="en-US" sz="810" dirty="0">
                <a:solidFill>
                  <a:srgbClr val="6F7E89"/>
                </a:solidFill>
                <a:latin typeface="Arial" pitchFamily="34" charset="0"/>
                <a:ea typeface="Arial" pitchFamily="34" charset="-122"/>
                <a:cs typeface="Arial" pitchFamily="34" charset="-120"/>
              </a:rPr>
              <a:t>common-defined asset-days</a:t>
            </a:r>
            <a:endParaRPr lang="en-US" sz="810" dirty="0"/>
          </a:p>
        </p:txBody>
      </p:sp>
      <p:sp>
        <p:nvSpPr>
          <p:cNvPr id="36" name="Shape 34"/>
          <p:cNvSpPr/>
          <p:nvPr/>
        </p:nvSpPr>
        <p:spPr>
          <a:xfrm>
            <a:off x="548640" y="4325112"/>
            <a:ext cx="5074920" cy="987552"/>
          </a:xfrm>
          <a:prstGeom prst="roundRect">
            <a:avLst>
              <a:gd name="adj" fmla="val 5556"/>
            </a:avLst>
          </a:prstGeom>
          <a:solidFill>
            <a:srgbClr val="F5F7F8"/>
          </a:solidFill>
          <a:ln w="12700">
            <a:solidFill>
              <a:srgbClr val="E0E5E9"/>
            </a:solidFill>
            <a:prstDash val="solid"/>
          </a:ln>
        </p:spPr>
      </p:sp>
      <p:sp>
        <p:nvSpPr>
          <p:cNvPr id="37" name="Text 35"/>
          <p:cNvSpPr/>
          <p:nvPr/>
        </p:nvSpPr>
        <p:spPr>
          <a:xfrm>
            <a:off x="749808" y="4517136"/>
            <a:ext cx="16459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SELECTION RULE</a:t>
            </a:r>
            <a:endParaRPr lang="en-US" sz="750" dirty="0"/>
          </a:p>
        </p:txBody>
      </p:sp>
      <p:sp>
        <p:nvSpPr>
          <p:cNvPr id="38" name="Text 36"/>
          <p:cNvSpPr/>
          <p:nvPr/>
        </p:nvSpPr>
        <p:spPr>
          <a:xfrm>
            <a:off x="749808" y="4754880"/>
            <a:ext cx="4572000" cy="420624"/>
          </a:xfrm>
          <a:prstGeom prst="rect">
            <a:avLst/>
          </a:prstGeom>
          <a:noFill/>
          <a:ln/>
        </p:spPr>
        <p:txBody>
          <a:bodyPr wrap="square" lIns="0" tIns="0" rIns="0" bIns="0" rtlCol="0" anchor="ctr">
            <a:normAutofit/>
          </a:bodyPr>
          <a:lstStyle/>
          <a:p>
            <a:pPr algn="l" indent="0" marL="0">
              <a:buNone/>
            </a:pPr>
            <a:r>
              <a:rPr lang="en-US" sz="1120" dirty="0">
                <a:solidFill>
                  <a:srgbClr val="20313F"/>
                </a:solidFill>
                <a:latin typeface="Arial" pitchFamily="34" charset="0"/>
                <a:ea typeface="Arial" pitchFamily="34" charset="-122"/>
                <a:cs typeface="Arial" pitchFamily="34" charset="-120"/>
              </a:rPr>
              <a:t>Liquidity tiers frozen independently of estimator performance. Different class calendars are preserved rather than forced into one balanced panel.</a:t>
            </a:r>
            <a:endParaRPr lang="en-US" sz="1120" dirty="0"/>
          </a:p>
        </p:txBody>
      </p:sp>
      <p:sp>
        <p:nvSpPr>
          <p:cNvPr id="39" name="Shape 37"/>
          <p:cNvSpPr/>
          <p:nvPr/>
        </p:nvSpPr>
        <p:spPr>
          <a:xfrm>
            <a:off x="5897880" y="4325112"/>
            <a:ext cx="4965192" cy="987552"/>
          </a:xfrm>
          <a:prstGeom prst="roundRect">
            <a:avLst>
              <a:gd name="adj" fmla="val 5556"/>
            </a:avLst>
          </a:prstGeom>
          <a:solidFill>
            <a:srgbClr val="F7EEDB"/>
          </a:solidFill>
          <a:ln w="12700">
            <a:solidFill>
              <a:srgbClr val="E9DABC"/>
            </a:solidFill>
            <a:prstDash val="solid"/>
          </a:ln>
        </p:spPr>
      </p:sp>
      <p:sp>
        <p:nvSpPr>
          <p:cNvPr id="40" name="Text 38"/>
          <p:cNvSpPr/>
          <p:nvPr/>
        </p:nvSpPr>
        <p:spPr>
          <a:xfrm>
            <a:off x="6099048" y="4517136"/>
            <a:ext cx="1188720" cy="164592"/>
          </a:xfrm>
          <a:prstGeom prst="rect">
            <a:avLst/>
          </a:prstGeom>
          <a:noFill/>
          <a:ln/>
        </p:spPr>
        <p:txBody>
          <a:bodyPr wrap="square" lIns="0" tIns="0" rIns="0" bIns="0" rtlCol="0" anchor="ctr">
            <a:normAutofit/>
          </a:bodyPr>
          <a:lstStyle/>
          <a:p>
            <a:pPr algn="l" indent="0" marL="0">
              <a:buNone/>
            </a:pPr>
            <a:r>
              <a:rPr lang="en-US" sz="750" b="1" dirty="0">
                <a:solidFill>
                  <a:srgbClr val="C8902F"/>
                </a:solidFill>
                <a:latin typeface="Arial" pitchFamily="34" charset="0"/>
                <a:ea typeface="Arial" pitchFamily="34" charset="-122"/>
                <a:cs typeface="Arial" pitchFamily="34" charset="-120"/>
              </a:rPr>
              <a:t>FX STATUS</a:t>
            </a:r>
            <a:endParaRPr lang="en-US" sz="750" dirty="0"/>
          </a:p>
        </p:txBody>
      </p:sp>
      <p:sp>
        <p:nvSpPr>
          <p:cNvPr id="41" name="Text 39"/>
          <p:cNvSpPr/>
          <p:nvPr/>
        </p:nvSpPr>
        <p:spPr>
          <a:xfrm>
            <a:off x="6099048" y="4754880"/>
            <a:ext cx="4480560" cy="420624"/>
          </a:xfrm>
          <a:prstGeom prst="rect">
            <a:avLst/>
          </a:prstGeom>
          <a:noFill/>
          <a:ln/>
        </p:spPr>
        <p:txBody>
          <a:bodyPr wrap="square" lIns="0" tIns="0" rIns="0" bIns="0" rtlCol="0" anchor="ctr">
            <a:normAutofit/>
          </a:bodyPr>
          <a:lstStyle/>
          <a:p>
            <a:pPr algn="l" indent="0" marL="0">
              <a:buNone/>
            </a:pPr>
            <a:r>
              <a:rPr lang="en-US" sz="1120" b="1" dirty="0">
                <a:solidFill>
                  <a:srgbClr val="75551E"/>
                </a:solidFill>
                <a:latin typeface="Arial" pitchFamily="34" charset="0"/>
                <a:ea typeface="Arial" pitchFamily="34" charset="-122"/>
                <a:cs typeface="Arial" pitchFamily="34" charset="-120"/>
              </a:rPr>
              <a:t>FX remains in scope, but official archive access was blocked. No substitute data were used.</a:t>
            </a:r>
            <a:endParaRPr lang="en-US" sz="1120" dirty="0"/>
          </a:p>
        </p:txBody>
      </p:sp>
      <p:sp>
        <p:nvSpPr>
          <p:cNvPr id="42" name="Text 40"/>
          <p:cNvSpPr/>
          <p:nvPr/>
        </p:nvSpPr>
        <p:spPr>
          <a:xfrm>
            <a:off x="566928" y="5724144"/>
            <a:ext cx="10424160" cy="256032"/>
          </a:xfrm>
          <a:prstGeom prst="rect">
            <a:avLst/>
          </a:prstGeom>
          <a:noFill/>
          <a:ln/>
        </p:spPr>
        <p:txBody>
          <a:bodyPr wrap="square" lIns="0" tIns="0" rIns="0" bIns="0" rtlCol="0" anchor="ctr">
            <a:normAutofit/>
          </a:bodyPr>
          <a:lstStyle/>
          <a:p>
            <a:pPr algn="l" indent="0" marL="0">
              <a:buNone/>
            </a:pPr>
            <a:r>
              <a:rPr lang="en-US" sz="910" dirty="0">
                <a:solidFill>
                  <a:srgbClr val="6F7E89"/>
                </a:solidFill>
                <a:latin typeface="Arial" pitchFamily="34" charset="0"/>
                <a:ea typeface="Arial" pitchFamily="34" charset="-122"/>
                <a:cs typeface="Arial" pitchFamily="34" charset="-120"/>
              </a:rPr>
              <a:t>Common-defined conditioning can change effective date/tier composition; futures cover their verified common year only.</a:t>
            </a:r>
            <a:endParaRPr lang="en-US" sz="91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METHOD</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How the horse race works</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Same asset-days, common benchmark, transparent loss functions</a:t>
            </a:r>
            <a:endParaRPr lang="en-US" sz="1070" dirty="0"/>
          </a:p>
        </p:txBody>
      </p:sp>
      <p:sp>
        <p:nvSpPr>
          <p:cNvPr id="5" name="Shape 3"/>
          <p:cNvSpPr/>
          <p:nvPr/>
        </p:nvSpPr>
        <p:spPr>
          <a:xfrm>
            <a:off x="9573768" y="246888"/>
            <a:ext cx="1920240" cy="256032"/>
          </a:xfrm>
          <a:prstGeom prst="roundRect">
            <a:avLst>
              <a:gd name="adj" fmla="val 14286"/>
            </a:avLst>
          </a:prstGeom>
          <a:solidFill>
            <a:srgbClr val="E2F2F3"/>
          </a:solidFill>
          <a:ln w="12700">
            <a:solidFill>
              <a:srgbClr val="E2F2F3"/>
            </a:solidFill>
            <a:prstDash val="solid"/>
          </a:ln>
        </p:spPr>
      </p:sp>
      <p:sp>
        <p:nvSpPr>
          <p:cNvPr id="6" name="Text 4"/>
          <p:cNvSpPr/>
          <p:nvPr/>
        </p:nvSpPr>
        <p:spPr>
          <a:xfrm>
            <a:off x="9646920"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068A95"/>
                </a:solidFill>
              </a:rPr>
              <a:t>PRIMARY DESIGN</a:t>
            </a:r>
            <a:endParaRPr lang="en-US" sz="740" dirty="0"/>
          </a:p>
        </p:txBody>
      </p:sp>
      <p:sp>
        <p:nvSpPr>
          <p:cNvPr id="7" name="Shape 5"/>
          <p:cNvSpPr/>
          <p:nvPr/>
        </p:nvSpPr>
        <p:spPr>
          <a:xfrm>
            <a:off x="566928" y="1554480"/>
            <a:ext cx="2011680" cy="768096"/>
          </a:xfrm>
          <a:prstGeom prst="roundRect">
            <a:avLst>
              <a:gd name="adj" fmla="val 7143"/>
            </a:avLst>
          </a:prstGeom>
          <a:solidFill>
            <a:srgbClr val="EAF1F6"/>
          </a:solidFill>
          <a:ln w="12700">
            <a:solidFill>
              <a:srgbClr val="D6E3EB"/>
            </a:solidFill>
            <a:prstDash val="solid"/>
          </a:ln>
          <a:effectLst>
            <a:outerShdw sx="100000" sy="100000" kx="0" ky="0" algn="bl" rotWithShape="0" blurRad="19050" dist="50800" dir="2700000">
              <a:srgbClr val="DDE3E7">
                <a:alpha val="20000"/>
              </a:srgbClr>
            </a:outerShdw>
          </a:effectLst>
        </p:spPr>
      </p:sp>
      <p:sp>
        <p:nvSpPr>
          <p:cNvPr id="8" name="Text 6"/>
          <p:cNvSpPr/>
          <p:nvPr/>
        </p:nvSpPr>
        <p:spPr>
          <a:xfrm>
            <a:off x="749808" y="1746504"/>
            <a:ext cx="1627632" cy="219456"/>
          </a:xfrm>
          <a:prstGeom prst="rect">
            <a:avLst/>
          </a:prstGeom>
          <a:noFill/>
          <a:ln/>
        </p:spPr>
        <p:txBody>
          <a:bodyPr wrap="square" lIns="0" tIns="0" rIns="0" bIns="0" rtlCol="0" anchor="ctr">
            <a:normAutofit/>
          </a:bodyPr>
          <a:lstStyle/>
          <a:p>
            <a:pPr algn="ctr" indent="0" marL="0">
              <a:buNone/>
            </a:pPr>
            <a:r>
              <a:rPr lang="en-US" sz="1600" b="1" dirty="0">
                <a:solidFill>
                  <a:srgbClr val="0B2A45"/>
                </a:solidFill>
                <a:latin typeface="Arial" pitchFamily="34" charset="0"/>
                <a:ea typeface="Arial" pitchFamily="34" charset="-122"/>
                <a:cs typeface="Arial" pitchFamily="34" charset="-120"/>
              </a:rPr>
              <a:t>Daily OHLC</a:t>
            </a:r>
            <a:endParaRPr lang="en-US" sz="1600" dirty="0"/>
          </a:p>
        </p:txBody>
      </p:sp>
      <p:sp>
        <p:nvSpPr>
          <p:cNvPr id="9" name="Shape 7"/>
          <p:cNvSpPr/>
          <p:nvPr/>
        </p:nvSpPr>
        <p:spPr>
          <a:xfrm>
            <a:off x="566928" y="3108960"/>
            <a:ext cx="2011680" cy="768096"/>
          </a:xfrm>
          <a:prstGeom prst="roundRect">
            <a:avLst>
              <a:gd name="adj" fmla="val 7143"/>
            </a:avLst>
          </a:prstGeom>
          <a:solidFill>
            <a:srgbClr val="F7EEDB"/>
          </a:solidFill>
          <a:ln w="12700">
            <a:solidFill>
              <a:srgbClr val="E9D9B9"/>
            </a:solidFill>
            <a:prstDash val="solid"/>
          </a:ln>
          <a:effectLst>
            <a:outerShdw sx="100000" sy="100000" kx="0" ky="0" algn="bl" rotWithShape="0" blurRad="19050" dist="50800" dir="2700000">
              <a:srgbClr val="DDE3E7">
                <a:alpha val="20000"/>
              </a:srgbClr>
            </a:outerShdw>
          </a:effectLst>
        </p:spPr>
      </p:sp>
      <p:sp>
        <p:nvSpPr>
          <p:cNvPr id="10" name="Text 8"/>
          <p:cNvSpPr/>
          <p:nvPr/>
        </p:nvSpPr>
        <p:spPr>
          <a:xfrm>
            <a:off x="749808" y="3300984"/>
            <a:ext cx="1627632" cy="219456"/>
          </a:xfrm>
          <a:prstGeom prst="rect">
            <a:avLst/>
          </a:prstGeom>
          <a:noFill/>
          <a:ln/>
        </p:spPr>
        <p:txBody>
          <a:bodyPr wrap="square" lIns="0" tIns="0" rIns="0" bIns="0" rtlCol="0" anchor="ctr">
            <a:normAutofit/>
          </a:bodyPr>
          <a:lstStyle/>
          <a:p>
            <a:pPr algn="ctr" indent="0" marL="0">
              <a:buNone/>
            </a:pPr>
            <a:r>
              <a:rPr lang="en-US" sz="1600" b="1" dirty="0">
                <a:solidFill>
                  <a:srgbClr val="7A581E"/>
                </a:solidFill>
                <a:latin typeface="Arial" pitchFamily="34" charset="0"/>
                <a:ea typeface="Arial" pitchFamily="34" charset="-122"/>
                <a:cs typeface="Arial" pitchFamily="34" charset="-120"/>
              </a:rPr>
              <a:t>1-minute closes</a:t>
            </a:r>
            <a:endParaRPr lang="en-US" sz="1600" dirty="0"/>
          </a:p>
        </p:txBody>
      </p:sp>
      <p:sp>
        <p:nvSpPr>
          <p:cNvPr id="11" name="Shape 9"/>
          <p:cNvSpPr/>
          <p:nvPr/>
        </p:nvSpPr>
        <p:spPr>
          <a:xfrm>
            <a:off x="2615184" y="1938528"/>
            <a:ext cx="603504" cy="0"/>
          </a:xfrm>
          <a:prstGeom prst="line">
            <a:avLst/>
          </a:prstGeom>
          <a:noFill/>
          <a:ln w="25400">
            <a:solidFill>
              <a:srgbClr val="068A95"/>
            </a:solidFill>
            <a:prstDash val="solid"/>
          </a:ln>
        </p:spPr>
      </p:sp>
      <p:sp>
        <p:nvSpPr>
          <p:cNvPr id="12" name="Shape 10"/>
          <p:cNvSpPr/>
          <p:nvPr/>
        </p:nvSpPr>
        <p:spPr>
          <a:xfrm>
            <a:off x="3081528" y="1828800"/>
            <a:ext cx="182880" cy="219456"/>
          </a:xfrm>
          <a:prstGeom prst="chevron">
            <a:avLst/>
          </a:prstGeom>
          <a:solidFill>
            <a:srgbClr val="068A95"/>
          </a:solidFill>
          <a:ln w="12700">
            <a:solidFill>
              <a:srgbClr val="068A95"/>
            </a:solidFill>
            <a:prstDash val="solid"/>
          </a:ln>
        </p:spPr>
      </p:sp>
      <p:sp>
        <p:nvSpPr>
          <p:cNvPr id="13" name="Shape 11"/>
          <p:cNvSpPr/>
          <p:nvPr/>
        </p:nvSpPr>
        <p:spPr>
          <a:xfrm>
            <a:off x="2615184" y="3493008"/>
            <a:ext cx="603504" cy="0"/>
          </a:xfrm>
          <a:prstGeom prst="line">
            <a:avLst/>
          </a:prstGeom>
          <a:noFill/>
          <a:ln w="25400">
            <a:solidFill>
              <a:srgbClr val="C8902F"/>
            </a:solidFill>
            <a:prstDash val="solid"/>
          </a:ln>
        </p:spPr>
      </p:sp>
      <p:sp>
        <p:nvSpPr>
          <p:cNvPr id="14" name="Shape 12"/>
          <p:cNvSpPr/>
          <p:nvPr/>
        </p:nvSpPr>
        <p:spPr>
          <a:xfrm>
            <a:off x="3081528" y="3383280"/>
            <a:ext cx="182880" cy="219456"/>
          </a:xfrm>
          <a:prstGeom prst="chevron">
            <a:avLst/>
          </a:prstGeom>
          <a:solidFill>
            <a:srgbClr val="C8902F"/>
          </a:solidFill>
          <a:ln w="12700">
            <a:solidFill>
              <a:srgbClr val="C8902F"/>
            </a:solidFill>
            <a:prstDash val="solid"/>
          </a:ln>
        </p:spPr>
      </p:sp>
      <p:sp>
        <p:nvSpPr>
          <p:cNvPr id="15" name="Shape 13"/>
          <p:cNvSpPr/>
          <p:nvPr/>
        </p:nvSpPr>
        <p:spPr>
          <a:xfrm>
            <a:off x="3337560" y="1399032"/>
            <a:ext cx="3063240" cy="1078992"/>
          </a:xfrm>
          <a:prstGeom prst="roundRect">
            <a:avLst>
              <a:gd name="adj" fmla="val 5085"/>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16" name="Text 14"/>
          <p:cNvSpPr/>
          <p:nvPr/>
        </p:nvSpPr>
        <p:spPr>
          <a:xfrm>
            <a:off x="3547872" y="1581912"/>
            <a:ext cx="173736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DAILY ESTIMATORS</a:t>
            </a:r>
            <a:endParaRPr lang="en-US" sz="750" dirty="0"/>
          </a:p>
        </p:txBody>
      </p:sp>
      <p:sp>
        <p:nvSpPr>
          <p:cNvPr id="17" name="Shape 15"/>
          <p:cNvSpPr/>
          <p:nvPr/>
        </p:nvSpPr>
        <p:spPr>
          <a:xfrm>
            <a:off x="3557016" y="1901952"/>
            <a:ext cx="804672" cy="347472"/>
          </a:xfrm>
          <a:prstGeom prst="roundRect">
            <a:avLst>
              <a:gd name="adj" fmla="val 15789"/>
            </a:avLst>
          </a:prstGeom>
          <a:solidFill>
            <a:srgbClr val="FFFFFF"/>
          </a:solidFill>
          <a:ln w="12700">
            <a:solidFill>
              <a:srgbClr val="2F5D7C"/>
            </a:solidFill>
            <a:prstDash val="solid"/>
          </a:ln>
        </p:spPr>
      </p:sp>
      <p:sp>
        <p:nvSpPr>
          <p:cNvPr id="18" name="Shape 16"/>
          <p:cNvSpPr/>
          <p:nvPr/>
        </p:nvSpPr>
        <p:spPr>
          <a:xfrm>
            <a:off x="3630168" y="1997964"/>
            <a:ext cx="146304" cy="146304"/>
          </a:xfrm>
          <a:prstGeom prst="ellipse">
            <a:avLst/>
          </a:prstGeom>
          <a:solidFill>
            <a:srgbClr val="2F5D7C"/>
          </a:solidFill>
          <a:ln w="12700">
            <a:solidFill>
              <a:srgbClr val="2F5D7C"/>
            </a:solidFill>
            <a:prstDash val="solid"/>
          </a:ln>
        </p:spPr>
      </p:sp>
      <p:sp>
        <p:nvSpPr>
          <p:cNvPr id="19" name="Text 17"/>
          <p:cNvSpPr/>
          <p:nvPr/>
        </p:nvSpPr>
        <p:spPr>
          <a:xfrm>
            <a:off x="3831336" y="1965960"/>
            <a:ext cx="457200" cy="201168"/>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CS</a:t>
            </a:r>
            <a:endParaRPr lang="en-US" sz="1020" dirty="0"/>
          </a:p>
        </p:txBody>
      </p:sp>
      <p:sp>
        <p:nvSpPr>
          <p:cNvPr id="20" name="Shape 18"/>
          <p:cNvSpPr/>
          <p:nvPr/>
        </p:nvSpPr>
        <p:spPr>
          <a:xfrm>
            <a:off x="4480560" y="1901952"/>
            <a:ext cx="804672" cy="347472"/>
          </a:xfrm>
          <a:prstGeom prst="roundRect">
            <a:avLst>
              <a:gd name="adj" fmla="val 15789"/>
            </a:avLst>
          </a:prstGeom>
          <a:solidFill>
            <a:srgbClr val="FFFFFF"/>
          </a:solidFill>
          <a:ln w="12700">
            <a:solidFill>
              <a:srgbClr val="74828C"/>
            </a:solidFill>
            <a:prstDash val="solid"/>
          </a:ln>
        </p:spPr>
      </p:sp>
      <p:sp>
        <p:nvSpPr>
          <p:cNvPr id="21" name="Shape 19"/>
          <p:cNvSpPr/>
          <p:nvPr/>
        </p:nvSpPr>
        <p:spPr>
          <a:xfrm>
            <a:off x="4553712" y="1997964"/>
            <a:ext cx="146304" cy="146304"/>
          </a:xfrm>
          <a:prstGeom prst="ellipse">
            <a:avLst/>
          </a:prstGeom>
          <a:solidFill>
            <a:srgbClr val="74828C"/>
          </a:solidFill>
          <a:ln w="12700">
            <a:solidFill>
              <a:srgbClr val="74828C"/>
            </a:solidFill>
            <a:prstDash val="solid"/>
          </a:ln>
        </p:spPr>
      </p:sp>
      <p:sp>
        <p:nvSpPr>
          <p:cNvPr id="22" name="Text 20"/>
          <p:cNvSpPr/>
          <p:nvPr/>
        </p:nvSpPr>
        <p:spPr>
          <a:xfrm>
            <a:off x="4754880" y="1965960"/>
            <a:ext cx="457200" cy="201168"/>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AR</a:t>
            </a:r>
            <a:endParaRPr lang="en-US" sz="1020" dirty="0"/>
          </a:p>
        </p:txBody>
      </p:sp>
      <p:sp>
        <p:nvSpPr>
          <p:cNvPr id="23" name="Shape 21"/>
          <p:cNvSpPr/>
          <p:nvPr/>
        </p:nvSpPr>
        <p:spPr>
          <a:xfrm>
            <a:off x="5404104" y="1901952"/>
            <a:ext cx="841248" cy="347472"/>
          </a:xfrm>
          <a:prstGeom prst="roundRect">
            <a:avLst>
              <a:gd name="adj" fmla="val 15789"/>
            </a:avLst>
          </a:prstGeom>
          <a:solidFill>
            <a:srgbClr val="FFFFFF"/>
          </a:solidFill>
          <a:ln w="12700">
            <a:solidFill>
              <a:srgbClr val="068A95"/>
            </a:solidFill>
            <a:prstDash val="solid"/>
          </a:ln>
        </p:spPr>
      </p:sp>
      <p:sp>
        <p:nvSpPr>
          <p:cNvPr id="24" name="Shape 22"/>
          <p:cNvSpPr/>
          <p:nvPr/>
        </p:nvSpPr>
        <p:spPr>
          <a:xfrm>
            <a:off x="5477256" y="1997964"/>
            <a:ext cx="146304" cy="146304"/>
          </a:xfrm>
          <a:prstGeom prst="ellipse">
            <a:avLst/>
          </a:prstGeom>
          <a:solidFill>
            <a:srgbClr val="068A95"/>
          </a:solidFill>
          <a:ln w="12700">
            <a:solidFill>
              <a:srgbClr val="068A95"/>
            </a:solidFill>
            <a:prstDash val="solid"/>
          </a:ln>
        </p:spPr>
      </p:sp>
      <p:sp>
        <p:nvSpPr>
          <p:cNvPr id="25" name="Text 23"/>
          <p:cNvSpPr/>
          <p:nvPr/>
        </p:nvSpPr>
        <p:spPr>
          <a:xfrm>
            <a:off x="5678424" y="1965960"/>
            <a:ext cx="493776" cy="201168"/>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EDGE</a:t>
            </a:r>
            <a:endParaRPr lang="en-US" sz="1020" dirty="0"/>
          </a:p>
        </p:txBody>
      </p:sp>
      <p:sp>
        <p:nvSpPr>
          <p:cNvPr id="26" name="Shape 24"/>
          <p:cNvSpPr/>
          <p:nvPr/>
        </p:nvSpPr>
        <p:spPr>
          <a:xfrm>
            <a:off x="3337560" y="2953512"/>
            <a:ext cx="3063240" cy="1078992"/>
          </a:xfrm>
          <a:prstGeom prst="roundRect">
            <a:avLst>
              <a:gd name="adj" fmla="val 5085"/>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27" name="Text 25"/>
          <p:cNvSpPr/>
          <p:nvPr/>
        </p:nvSpPr>
        <p:spPr>
          <a:xfrm>
            <a:off x="3547872" y="3136392"/>
            <a:ext cx="1737360" cy="164592"/>
          </a:xfrm>
          <a:prstGeom prst="rect">
            <a:avLst/>
          </a:prstGeom>
          <a:noFill/>
          <a:ln/>
        </p:spPr>
        <p:txBody>
          <a:bodyPr wrap="square" lIns="0" tIns="0" rIns="0" bIns="0" rtlCol="0" anchor="ctr">
            <a:normAutofit/>
          </a:bodyPr>
          <a:lstStyle/>
          <a:p>
            <a:pPr algn="l" indent="0" marL="0">
              <a:buNone/>
            </a:pPr>
            <a:r>
              <a:rPr lang="en-US" sz="750" b="1" dirty="0">
                <a:solidFill>
                  <a:srgbClr val="C8902F"/>
                </a:solidFill>
                <a:latin typeface="Arial" pitchFamily="34" charset="0"/>
                <a:ea typeface="Arial" pitchFamily="34" charset="-122"/>
                <a:cs typeface="Arial" pitchFamily="34" charset="-120"/>
              </a:rPr>
              <a:t>INTRADAY PROXY</a:t>
            </a:r>
            <a:endParaRPr lang="en-US" sz="750" dirty="0"/>
          </a:p>
        </p:txBody>
      </p:sp>
      <p:sp>
        <p:nvSpPr>
          <p:cNvPr id="28" name="Shape 26"/>
          <p:cNvSpPr/>
          <p:nvPr/>
        </p:nvSpPr>
        <p:spPr>
          <a:xfrm>
            <a:off x="4187952" y="3438144"/>
            <a:ext cx="1408176" cy="365760"/>
          </a:xfrm>
          <a:prstGeom prst="roundRect">
            <a:avLst>
              <a:gd name="adj" fmla="val 15000"/>
            </a:avLst>
          </a:prstGeom>
          <a:solidFill>
            <a:srgbClr val="F7EEDB"/>
          </a:solidFill>
          <a:ln w="12700">
            <a:solidFill>
              <a:srgbClr val="E5D2A7"/>
            </a:solidFill>
            <a:prstDash val="solid"/>
          </a:ln>
        </p:spPr>
      </p:sp>
      <p:sp>
        <p:nvSpPr>
          <p:cNvPr id="29" name="Text 27"/>
          <p:cNvSpPr/>
          <p:nvPr/>
        </p:nvSpPr>
        <p:spPr>
          <a:xfrm>
            <a:off x="4361688" y="3511296"/>
            <a:ext cx="1060704" cy="201168"/>
          </a:xfrm>
          <a:prstGeom prst="rect">
            <a:avLst/>
          </a:prstGeom>
          <a:noFill/>
          <a:ln/>
        </p:spPr>
        <p:txBody>
          <a:bodyPr wrap="square" lIns="0" tIns="0" rIns="0" bIns="0" rtlCol="0" anchor="ctr">
            <a:normAutofit/>
          </a:bodyPr>
          <a:lstStyle/>
          <a:p>
            <a:pPr algn="ctr" indent="0" marL="0">
              <a:buNone/>
            </a:pPr>
            <a:r>
              <a:rPr lang="en-US" sz="1200" b="1" dirty="0">
                <a:solidFill>
                  <a:srgbClr val="7A581E"/>
                </a:solidFill>
                <a:latin typeface="Arial" pitchFamily="34" charset="0"/>
                <a:ea typeface="Arial" pitchFamily="34" charset="-122"/>
                <a:cs typeface="Arial" pitchFamily="34" charset="-120"/>
              </a:rPr>
              <a:t>ROLL</a:t>
            </a:r>
            <a:endParaRPr lang="en-US" sz="1200" dirty="0"/>
          </a:p>
        </p:txBody>
      </p:sp>
      <p:sp>
        <p:nvSpPr>
          <p:cNvPr id="30" name="Shape 28"/>
          <p:cNvSpPr/>
          <p:nvPr/>
        </p:nvSpPr>
        <p:spPr>
          <a:xfrm>
            <a:off x="6455664" y="1938528"/>
            <a:ext cx="905256" cy="786384"/>
          </a:xfrm>
          <a:prstGeom prst="line">
            <a:avLst/>
          </a:prstGeom>
          <a:noFill/>
          <a:ln w="26670">
            <a:solidFill>
              <a:srgbClr val="068A95"/>
            </a:solidFill>
            <a:prstDash val="solid"/>
          </a:ln>
        </p:spPr>
      </p:sp>
      <p:sp>
        <p:nvSpPr>
          <p:cNvPr id="31" name="Shape 29"/>
          <p:cNvSpPr/>
          <p:nvPr/>
        </p:nvSpPr>
        <p:spPr>
          <a:xfrm>
            <a:off x="6455664" y="3493008"/>
            <a:ext cx="905256" cy="-676656"/>
          </a:xfrm>
          <a:prstGeom prst="line">
            <a:avLst/>
          </a:prstGeom>
          <a:noFill/>
          <a:ln w="26670">
            <a:solidFill>
              <a:srgbClr val="C8902F"/>
            </a:solidFill>
            <a:prstDash val="solid"/>
          </a:ln>
        </p:spPr>
      </p:sp>
      <p:sp>
        <p:nvSpPr>
          <p:cNvPr id="32" name="Shape 30"/>
          <p:cNvSpPr/>
          <p:nvPr/>
        </p:nvSpPr>
        <p:spPr>
          <a:xfrm>
            <a:off x="7406640" y="2359152"/>
            <a:ext cx="2103120" cy="841248"/>
          </a:xfrm>
          <a:prstGeom prst="roundRect">
            <a:avLst>
              <a:gd name="adj" fmla="val 6522"/>
            </a:avLst>
          </a:prstGeom>
          <a:solidFill>
            <a:srgbClr val="E2F2F3"/>
          </a:solidFill>
          <a:ln w="12700">
            <a:solidFill>
              <a:srgbClr val="B7DDE0"/>
            </a:solidFill>
            <a:prstDash val="solid"/>
          </a:ln>
          <a:effectLst>
            <a:outerShdw sx="100000" sy="100000" kx="0" ky="0" algn="bl" rotWithShape="0" blurRad="19050" dist="50800" dir="2700000">
              <a:srgbClr val="DDE3E7">
                <a:alpha val="20000"/>
              </a:srgbClr>
            </a:outerShdw>
          </a:effectLst>
        </p:spPr>
      </p:sp>
      <p:sp>
        <p:nvSpPr>
          <p:cNvPr id="33" name="Text 31"/>
          <p:cNvSpPr/>
          <p:nvPr/>
        </p:nvSpPr>
        <p:spPr>
          <a:xfrm>
            <a:off x="7571232" y="2496312"/>
            <a:ext cx="1773936" cy="182880"/>
          </a:xfrm>
          <a:prstGeom prst="rect">
            <a:avLst/>
          </a:prstGeom>
          <a:noFill/>
          <a:ln/>
        </p:spPr>
        <p:txBody>
          <a:bodyPr wrap="square" lIns="0" tIns="0" rIns="0" bIns="0" rtlCol="0" anchor="ctr">
            <a:normAutofit/>
          </a:bodyPr>
          <a:lstStyle/>
          <a:p>
            <a:pPr algn="ctr" indent="0" marL="0">
              <a:buNone/>
            </a:pPr>
            <a:r>
              <a:rPr lang="en-US" sz="950" b="1" dirty="0">
                <a:solidFill>
                  <a:srgbClr val="068A95"/>
                </a:solidFill>
                <a:latin typeface="Arial" pitchFamily="34" charset="0"/>
                <a:ea typeface="Arial" pitchFamily="34" charset="-122"/>
                <a:cs typeface="Arial" pitchFamily="34" charset="-120"/>
              </a:rPr>
              <a:t>ERROR</a:t>
            </a:r>
            <a:endParaRPr lang="en-US" sz="950" dirty="0"/>
          </a:p>
        </p:txBody>
      </p:sp>
      <p:sp>
        <p:nvSpPr>
          <p:cNvPr id="34" name="Text 32"/>
          <p:cNvSpPr/>
          <p:nvPr/>
        </p:nvSpPr>
        <p:spPr>
          <a:xfrm>
            <a:off x="7571232" y="2734056"/>
            <a:ext cx="1773936" cy="256032"/>
          </a:xfrm>
          <a:prstGeom prst="rect">
            <a:avLst/>
          </a:prstGeom>
          <a:noFill/>
          <a:ln/>
        </p:spPr>
        <p:txBody>
          <a:bodyPr wrap="square" lIns="0" tIns="0" rIns="0" bIns="0" rtlCol="0" anchor="ctr">
            <a:normAutofit/>
          </a:bodyPr>
          <a:lstStyle/>
          <a:p>
            <a:pPr algn="ctr" indent="0" marL="0">
              <a:buNone/>
            </a:pPr>
            <a:r>
              <a:rPr lang="en-US" sz="1550" b="1" dirty="0">
                <a:solidFill>
                  <a:srgbClr val="0B2A45"/>
                </a:solidFill>
                <a:latin typeface="Arial" pitchFamily="34" charset="0"/>
                <a:ea typeface="Arial" pitchFamily="34" charset="-122"/>
                <a:cs typeface="Arial" pitchFamily="34" charset="-120"/>
              </a:rPr>
              <a:t>estimator − Roll</a:t>
            </a:r>
            <a:endParaRPr lang="en-US" sz="1550" dirty="0"/>
          </a:p>
        </p:txBody>
      </p:sp>
      <p:sp>
        <p:nvSpPr>
          <p:cNvPr id="35" name="Shape 33"/>
          <p:cNvSpPr/>
          <p:nvPr/>
        </p:nvSpPr>
        <p:spPr>
          <a:xfrm>
            <a:off x="9537192" y="2779776"/>
            <a:ext cx="576072" cy="0"/>
          </a:xfrm>
          <a:prstGeom prst="line">
            <a:avLst/>
          </a:prstGeom>
          <a:noFill/>
          <a:ln w="22860">
            <a:solidFill>
              <a:srgbClr val="0B2A45"/>
            </a:solidFill>
            <a:prstDash val="solid"/>
          </a:ln>
        </p:spPr>
      </p:sp>
      <p:sp>
        <p:nvSpPr>
          <p:cNvPr id="36" name="Shape 34"/>
          <p:cNvSpPr/>
          <p:nvPr/>
        </p:nvSpPr>
        <p:spPr>
          <a:xfrm>
            <a:off x="9976104" y="2670048"/>
            <a:ext cx="182880" cy="219456"/>
          </a:xfrm>
          <a:prstGeom prst="chevron">
            <a:avLst/>
          </a:prstGeom>
          <a:solidFill>
            <a:srgbClr val="0B2A45"/>
          </a:solidFill>
          <a:ln w="12700">
            <a:solidFill>
              <a:srgbClr val="0B2A45"/>
            </a:solidFill>
            <a:prstDash val="solid"/>
          </a:ln>
        </p:spPr>
      </p:sp>
      <p:sp>
        <p:nvSpPr>
          <p:cNvPr id="37" name="Shape 35"/>
          <p:cNvSpPr/>
          <p:nvPr/>
        </p:nvSpPr>
        <p:spPr>
          <a:xfrm>
            <a:off x="10186416" y="1993392"/>
            <a:ext cx="1316736" cy="1572768"/>
          </a:xfrm>
          <a:prstGeom prst="roundRect">
            <a:avLst>
              <a:gd name="adj" fmla="val 4167"/>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38" name="Text 36"/>
          <p:cNvSpPr/>
          <p:nvPr/>
        </p:nvSpPr>
        <p:spPr>
          <a:xfrm>
            <a:off x="10323576" y="2221992"/>
            <a:ext cx="1042416" cy="201168"/>
          </a:xfrm>
          <a:prstGeom prst="rect">
            <a:avLst/>
          </a:prstGeom>
          <a:noFill/>
          <a:ln/>
        </p:spPr>
        <p:txBody>
          <a:bodyPr wrap="square" lIns="0" tIns="0" rIns="0" bIns="0" rtlCol="0" anchor="ctr">
            <a:normAutofit/>
          </a:bodyPr>
          <a:lstStyle/>
          <a:p>
            <a:pPr algn="ctr" indent="0" marL="0">
              <a:buNone/>
            </a:pPr>
            <a:r>
              <a:rPr lang="en-US" sz="1100" b="1" dirty="0">
                <a:solidFill>
                  <a:srgbClr val="0B2A45"/>
                </a:solidFill>
                <a:latin typeface="Arial" pitchFamily="34" charset="0"/>
                <a:ea typeface="Arial" pitchFamily="34" charset="-122"/>
                <a:cs typeface="Arial" pitchFamily="34" charset="-120"/>
              </a:rPr>
              <a:t>BIAS</a:t>
            </a:r>
            <a:endParaRPr lang="en-US" sz="1100" dirty="0"/>
          </a:p>
        </p:txBody>
      </p:sp>
      <p:sp>
        <p:nvSpPr>
          <p:cNvPr id="39" name="Text 37"/>
          <p:cNvSpPr/>
          <p:nvPr/>
        </p:nvSpPr>
        <p:spPr>
          <a:xfrm>
            <a:off x="10323576" y="2660904"/>
            <a:ext cx="1042416" cy="201168"/>
          </a:xfrm>
          <a:prstGeom prst="rect">
            <a:avLst/>
          </a:prstGeom>
          <a:noFill/>
          <a:ln/>
        </p:spPr>
        <p:txBody>
          <a:bodyPr wrap="square" lIns="0" tIns="0" rIns="0" bIns="0" rtlCol="0" anchor="ctr">
            <a:normAutofit/>
          </a:bodyPr>
          <a:lstStyle/>
          <a:p>
            <a:pPr algn="ctr" indent="0" marL="0">
              <a:buNone/>
            </a:pPr>
            <a:r>
              <a:rPr lang="en-US" sz="1100" b="1" dirty="0">
                <a:solidFill>
                  <a:srgbClr val="0B2A45"/>
                </a:solidFill>
                <a:latin typeface="Arial" pitchFamily="34" charset="0"/>
                <a:ea typeface="Arial" pitchFamily="34" charset="-122"/>
                <a:cs typeface="Arial" pitchFamily="34" charset="-120"/>
              </a:rPr>
              <a:t>MAE</a:t>
            </a:r>
            <a:endParaRPr lang="en-US" sz="1100" dirty="0"/>
          </a:p>
        </p:txBody>
      </p:sp>
      <p:sp>
        <p:nvSpPr>
          <p:cNvPr id="40" name="Text 38"/>
          <p:cNvSpPr/>
          <p:nvPr/>
        </p:nvSpPr>
        <p:spPr>
          <a:xfrm>
            <a:off x="10323576" y="3099816"/>
            <a:ext cx="1042416" cy="201168"/>
          </a:xfrm>
          <a:prstGeom prst="rect">
            <a:avLst/>
          </a:prstGeom>
          <a:noFill/>
          <a:ln/>
        </p:spPr>
        <p:txBody>
          <a:bodyPr wrap="square" lIns="0" tIns="0" rIns="0" bIns="0" rtlCol="0" anchor="ctr">
            <a:normAutofit/>
          </a:bodyPr>
          <a:lstStyle/>
          <a:p>
            <a:pPr algn="ctr" indent="0" marL="0">
              <a:buNone/>
            </a:pPr>
            <a:r>
              <a:rPr lang="en-US" sz="1100" b="1" dirty="0">
                <a:solidFill>
                  <a:srgbClr val="0B2A45"/>
                </a:solidFill>
                <a:latin typeface="Arial" pitchFamily="34" charset="0"/>
                <a:ea typeface="Arial" pitchFamily="34" charset="-122"/>
                <a:cs typeface="Arial" pitchFamily="34" charset="-120"/>
              </a:rPr>
              <a:t>RMSE</a:t>
            </a:r>
            <a:endParaRPr lang="en-US" sz="1100" dirty="0"/>
          </a:p>
        </p:txBody>
      </p:sp>
      <p:sp>
        <p:nvSpPr>
          <p:cNvPr id="41" name="Shape 39"/>
          <p:cNvSpPr/>
          <p:nvPr/>
        </p:nvSpPr>
        <p:spPr>
          <a:xfrm>
            <a:off x="1234440" y="4663440"/>
            <a:ext cx="9555480" cy="658368"/>
          </a:xfrm>
          <a:prstGeom prst="roundRect">
            <a:avLst>
              <a:gd name="adj" fmla="val 8333"/>
            </a:avLst>
          </a:prstGeom>
          <a:solidFill>
            <a:srgbClr val="F5F7F8"/>
          </a:solidFill>
          <a:ln w="12700">
            <a:solidFill>
              <a:srgbClr val="E0E6EA"/>
            </a:solidFill>
            <a:prstDash val="solid"/>
          </a:ln>
        </p:spPr>
      </p:sp>
      <p:sp>
        <p:nvSpPr>
          <p:cNvPr id="42" name="Text 40"/>
          <p:cNvSpPr/>
          <p:nvPr/>
        </p:nvSpPr>
        <p:spPr>
          <a:xfrm>
            <a:off x="1481328" y="4846320"/>
            <a:ext cx="9052560" cy="228600"/>
          </a:xfrm>
          <a:prstGeom prst="rect">
            <a:avLst/>
          </a:prstGeom>
          <a:noFill/>
          <a:ln/>
        </p:spPr>
        <p:txBody>
          <a:bodyPr wrap="square" lIns="0" tIns="0" rIns="0" bIns="0" rtlCol="0" anchor="ctr">
            <a:normAutofit/>
          </a:bodyPr>
          <a:lstStyle/>
          <a:p>
            <a:pPr algn="ctr" indent="0" marL="0">
              <a:buNone/>
            </a:pPr>
            <a:r>
              <a:rPr lang="en-US" sz="1400" b="1" dirty="0">
                <a:solidFill>
                  <a:srgbClr val="0B2A45"/>
                </a:solidFill>
                <a:latin typeface="Arial" pitchFamily="34" charset="0"/>
                <a:ea typeface="Arial" pitchFamily="34" charset="-122"/>
                <a:cs typeface="Arial" pitchFamily="34" charset="-120"/>
              </a:rPr>
              <a:t>All three estimators are scored on exactly the same common-defined asset-days.</a:t>
            </a:r>
            <a:endParaRPr lang="en-US" sz="1400" dirty="0"/>
          </a:p>
        </p:txBody>
      </p:sp>
      <p:sp>
        <p:nvSpPr>
          <p:cNvPr id="43" name="Text 41"/>
          <p:cNvSpPr/>
          <p:nvPr/>
        </p:nvSpPr>
        <p:spPr>
          <a:xfrm>
            <a:off x="1143000" y="5605272"/>
            <a:ext cx="9902952" cy="237744"/>
          </a:xfrm>
          <a:prstGeom prst="rect">
            <a:avLst/>
          </a:prstGeom>
          <a:noFill/>
          <a:ln/>
        </p:spPr>
        <p:txBody>
          <a:bodyPr wrap="square" lIns="0" tIns="0" rIns="0" bIns="0" rtlCol="0" anchor="ctr">
            <a:normAutofit/>
          </a:bodyPr>
          <a:lstStyle/>
          <a:p>
            <a:pPr algn="ctr" indent="0" marL="0">
              <a:buNone/>
            </a:pPr>
            <a:r>
              <a:rPr lang="en-US" sz="900" dirty="0">
                <a:solidFill>
                  <a:srgbClr val="6F7E89"/>
                </a:solidFill>
                <a:latin typeface="Arial" pitchFamily="34" charset="0"/>
                <a:ea typeface="Arial" pitchFamily="34" charset="-122"/>
                <a:cs typeface="Arial" pitchFamily="34" charset="-120"/>
              </a:rPr>
              <a:t>Equal asset-day weighting · headline units = bps · HAC inference only for signed bias · MAE/RMSE rankings are descriptive</a:t>
            </a:r>
            <a:endParaRPr lang="en-US" sz="90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PRIMARY RESULT</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EDGE performs best overall</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Common-defined sample: 24,377 asset-days · accuracy values in basis points</a:t>
            </a:r>
            <a:endParaRPr lang="en-US" sz="1070" dirty="0"/>
          </a:p>
        </p:txBody>
      </p:sp>
      <p:sp>
        <p:nvSpPr>
          <p:cNvPr id="5" name="Shape 3"/>
          <p:cNvSpPr/>
          <p:nvPr/>
        </p:nvSpPr>
        <p:spPr>
          <a:xfrm>
            <a:off x="10104120" y="246888"/>
            <a:ext cx="1920240" cy="256032"/>
          </a:xfrm>
          <a:prstGeom prst="roundRect">
            <a:avLst>
              <a:gd name="adj" fmla="val 14286"/>
            </a:avLst>
          </a:prstGeom>
          <a:solidFill>
            <a:srgbClr val="E2F2F3"/>
          </a:solidFill>
          <a:ln w="12700">
            <a:solidFill>
              <a:srgbClr val="E2F2F3"/>
            </a:solidFill>
            <a:prstDash val="solid"/>
          </a:ln>
        </p:spPr>
      </p:sp>
      <p:sp>
        <p:nvSpPr>
          <p:cNvPr id="6" name="Text 4"/>
          <p:cNvSpPr/>
          <p:nvPr/>
        </p:nvSpPr>
        <p:spPr>
          <a:xfrm>
            <a:off x="10177272"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068A95"/>
                </a:solidFill>
              </a:rPr>
              <a:t>PRIMARY</a:t>
            </a:r>
            <a:endParaRPr lang="en-US" sz="740" dirty="0"/>
          </a:p>
        </p:txBody>
      </p:sp>
      <p:sp>
        <p:nvSpPr>
          <p:cNvPr id="7" name="Text 5"/>
          <p:cNvSpPr/>
          <p:nvPr/>
        </p:nvSpPr>
        <p:spPr>
          <a:xfrm>
            <a:off x="566928" y="1435608"/>
            <a:ext cx="16459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OVERALL ERROR</a:t>
            </a:r>
            <a:endParaRPr lang="en-US" sz="750" dirty="0"/>
          </a:p>
        </p:txBody>
      </p:sp>
      <p:sp>
        <p:nvSpPr>
          <p:cNvPr id="8" name="Text 6"/>
          <p:cNvSpPr/>
          <p:nvPr/>
        </p:nvSpPr>
        <p:spPr>
          <a:xfrm>
            <a:off x="8714232" y="1399032"/>
            <a:ext cx="640080" cy="182880"/>
          </a:xfrm>
          <a:prstGeom prst="rect">
            <a:avLst/>
          </a:prstGeom>
          <a:noFill/>
          <a:ln/>
        </p:spPr>
        <p:txBody>
          <a:bodyPr wrap="square" lIns="0" tIns="0" rIns="0" bIns="0" rtlCol="0" anchor="ctr">
            <a:normAutofit/>
          </a:bodyPr>
          <a:lstStyle/>
          <a:p>
            <a:pPr algn="r" indent="0" marL="0">
              <a:buNone/>
            </a:pPr>
            <a:r>
              <a:rPr lang="en-US" sz="860" b="1" dirty="0">
                <a:solidFill>
                  <a:srgbClr val="6F7E89"/>
                </a:solidFill>
                <a:latin typeface="Arial" pitchFamily="34" charset="0"/>
                <a:ea typeface="Arial" pitchFamily="34" charset="-122"/>
                <a:cs typeface="Arial" pitchFamily="34" charset="-120"/>
              </a:rPr>
              <a:t>MAE</a:t>
            </a:r>
            <a:endParaRPr lang="en-US" sz="860" dirty="0"/>
          </a:p>
        </p:txBody>
      </p:sp>
      <p:sp>
        <p:nvSpPr>
          <p:cNvPr id="9" name="Text 7"/>
          <p:cNvSpPr/>
          <p:nvPr/>
        </p:nvSpPr>
        <p:spPr>
          <a:xfrm>
            <a:off x="9738360" y="1399032"/>
            <a:ext cx="777240" cy="182880"/>
          </a:xfrm>
          <a:prstGeom prst="rect">
            <a:avLst/>
          </a:prstGeom>
          <a:noFill/>
          <a:ln/>
        </p:spPr>
        <p:txBody>
          <a:bodyPr wrap="square" lIns="0" tIns="0" rIns="0" bIns="0" rtlCol="0" anchor="ctr">
            <a:normAutofit/>
          </a:bodyPr>
          <a:lstStyle/>
          <a:p>
            <a:pPr algn="r" indent="0" marL="0">
              <a:buNone/>
            </a:pPr>
            <a:r>
              <a:rPr lang="en-US" sz="860" b="1" dirty="0">
                <a:solidFill>
                  <a:srgbClr val="6F7E89"/>
                </a:solidFill>
                <a:latin typeface="Arial" pitchFamily="34" charset="0"/>
                <a:ea typeface="Arial" pitchFamily="34" charset="-122"/>
                <a:cs typeface="Arial" pitchFamily="34" charset="-120"/>
              </a:rPr>
              <a:t>RMSE</a:t>
            </a:r>
            <a:endParaRPr lang="en-US" sz="860" dirty="0"/>
          </a:p>
        </p:txBody>
      </p:sp>
      <p:sp>
        <p:nvSpPr>
          <p:cNvPr id="10" name="Text 8"/>
          <p:cNvSpPr/>
          <p:nvPr/>
        </p:nvSpPr>
        <p:spPr>
          <a:xfrm>
            <a:off x="585216" y="1947672"/>
            <a:ext cx="841248" cy="256032"/>
          </a:xfrm>
          <a:prstGeom prst="rect">
            <a:avLst/>
          </a:prstGeom>
          <a:noFill/>
          <a:ln/>
        </p:spPr>
        <p:txBody>
          <a:bodyPr wrap="square" lIns="0" tIns="0" rIns="0" bIns="0" rtlCol="0" anchor="ctr">
            <a:normAutofit/>
          </a:bodyPr>
          <a:lstStyle/>
          <a:p>
            <a:pPr algn="l" indent="0" marL="0">
              <a:buNone/>
            </a:pPr>
            <a:r>
              <a:rPr lang="en-US" sz="1500" b="1" dirty="0">
                <a:solidFill>
                  <a:srgbClr val="2F5D7C"/>
                </a:solidFill>
                <a:latin typeface="Arial" pitchFamily="34" charset="0"/>
                <a:ea typeface="Arial" pitchFamily="34" charset="-122"/>
                <a:cs typeface="Arial" pitchFamily="34" charset="-120"/>
              </a:rPr>
              <a:t>CS</a:t>
            </a:r>
            <a:endParaRPr lang="en-US" sz="1500" dirty="0"/>
          </a:p>
        </p:txBody>
      </p:sp>
      <p:sp>
        <p:nvSpPr>
          <p:cNvPr id="11" name="Shape 9"/>
          <p:cNvSpPr/>
          <p:nvPr/>
        </p:nvSpPr>
        <p:spPr>
          <a:xfrm>
            <a:off x="1645920" y="1856232"/>
            <a:ext cx="6537960" cy="219456"/>
          </a:xfrm>
          <a:prstGeom prst="roundRect">
            <a:avLst>
              <a:gd name="adj" fmla="val 16667"/>
            </a:avLst>
          </a:prstGeom>
          <a:solidFill>
            <a:srgbClr val="E7ECEF"/>
          </a:solidFill>
          <a:ln w="12700">
            <a:solidFill>
              <a:srgbClr val="E7ECEF"/>
            </a:solidFill>
            <a:prstDash val="solid"/>
          </a:ln>
        </p:spPr>
      </p:sp>
      <p:sp>
        <p:nvSpPr>
          <p:cNvPr id="12" name="Shape 10"/>
          <p:cNvSpPr/>
          <p:nvPr/>
        </p:nvSpPr>
        <p:spPr>
          <a:xfrm>
            <a:off x="1645920" y="2249424"/>
            <a:ext cx="6537960" cy="219456"/>
          </a:xfrm>
          <a:prstGeom prst="roundRect">
            <a:avLst>
              <a:gd name="adj" fmla="val 16667"/>
            </a:avLst>
          </a:prstGeom>
          <a:solidFill>
            <a:srgbClr val="E7ECEF"/>
          </a:solidFill>
          <a:ln w="12700">
            <a:solidFill>
              <a:srgbClr val="E7ECEF"/>
            </a:solidFill>
            <a:prstDash val="solid"/>
          </a:ln>
        </p:spPr>
      </p:sp>
      <p:sp>
        <p:nvSpPr>
          <p:cNvPr id="13" name="Shape 11"/>
          <p:cNvSpPr/>
          <p:nvPr/>
        </p:nvSpPr>
        <p:spPr>
          <a:xfrm>
            <a:off x="1645920" y="1856232"/>
            <a:ext cx="2937239" cy="219456"/>
          </a:xfrm>
          <a:prstGeom prst="roundRect">
            <a:avLst>
              <a:gd name="adj" fmla="val 16667"/>
            </a:avLst>
          </a:prstGeom>
          <a:solidFill>
            <a:srgbClr val="2F5D7C"/>
          </a:solidFill>
          <a:ln w="12700">
            <a:solidFill>
              <a:srgbClr val="2F5D7C"/>
            </a:solidFill>
            <a:prstDash val="solid"/>
          </a:ln>
        </p:spPr>
      </p:sp>
      <p:sp>
        <p:nvSpPr>
          <p:cNvPr id="14" name="Shape 12"/>
          <p:cNvSpPr/>
          <p:nvPr/>
        </p:nvSpPr>
        <p:spPr>
          <a:xfrm>
            <a:off x="1645920" y="2249424"/>
            <a:ext cx="4873686" cy="219456"/>
          </a:xfrm>
          <a:prstGeom prst="roundRect">
            <a:avLst>
              <a:gd name="adj" fmla="val 16667"/>
            </a:avLst>
          </a:prstGeom>
          <a:solidFill>
            <a:srgbClr val="2F5D7C">
              <a:alpha val="62000"/>
            </a:srgbClr>
          </a:solidFill>
          <a:ln w="12700">
            <a:solidFill>
              <a:srgbClr val="2F5D7C">
                <a:alpha val="62000"/>
              </a:srgbClr>
            </a:solidFill>
            <a:prstDash val="solid"/>
          </a:ln>
        </p:spPr>
      </p:sp>
      <p:sp>
        <p:nvSpPr>
          <p:cNvPr id="15" name="Text 13"/>
          <p:cNvSpPr/>
          <p:nvPr/>
        </p:nvSpPr>
        <p:spPr>
          <a:xfrm>
            <a:off x="1197864" y="1847088"/>
            <a:ext cx="384048" cy="219456"/>
          </a:xfrm>
          <a:prstGeom prst="rect">
            <a:avLst/>
          </a:prstGeom>
          <a:noFill/>
          <a:ln/>
        </p:spPr>
        <p:txBody>
          <a:bodyPr wrap="square" lIns="0" tIns="0" rIns="0" bIns="0" rtlCol="0" anchor="ctr">
            <a:normAutofit/>
          </a:bodyPr>
          <a:lstStyle/>
          <a:p>
            <a:pPr algn="r" indent="0" marL="0">
              <a:buNone/>
            </a:pPr>
            <a:r>
              <a:rPr lang="en-US" sz="780" dirty="0">
                <a:solidFill>
                  <a:srgbClr val="6F7E89"/>
                </a:solidFill>
                <a:latin typeface="Arial" pitchFamily="34" charset="0"/>
                <a:ea typeface="Arial" pitchFamily="34" charset="-122"/>
                <a:cs typeface="Arial" pitchFamily="34" charset="-120"/>
              </a:rPr>
              <a:t>MAE</a:t>
            </a:r>
            <a:endParaRPr lang="en-US" sz="780" dirty="0"/>
          </a:p>
        </p:txBody>
      </p:sp>
      <p:sp>
        <p:nvSpPr>
          <p:cNvPr id="16" name="Text 14"/>
          <p:cNvSpPr/>
          <p:nvPr/>
        </p:nvSpPr>
        <p:spPr>
          <a:xfrm>
            <a:off x="1197864" y="2240280"/>
            <a:ext cx="384048" cy="219456"/>
          </a:xfrm>
          <a:prstGeom prst="rect">
            <a:avLst/>
          </a:prstGeom>
          <a:noFill/>
          <a:ln/>
        </p:spPr>
        <p:txBody>
          <a:bodyPr wrap="square" lIns="0" tIns="0" rIns="0" bIns="0" rtlCol="0" anchor="ctr">
            <a:normAutofit/>
          </a:bodyPr>
          <a:lstStyle/>
          <a:p>
            <a:pPr algn="r" indent="0" marL="0">
              <a:buNone/>
            </a:pPr>
            <a:r>
              <a:rPr lang="en-US" sz="780" dirty="0">
                <a:solidFill>
                  <a:srgbClr val="6F7E89"/>
                </a:solidFill>
                <a:latin typeface="Arial" pitchFamily="34" charset="0"/>
                <a:ea typeface="Arial" pitchFamily="34" charset="-122"/>
                <a:cs typeface="Arial" pitchFamily="34" charset="-120"/>
              </a:rPr>
              <a:t>RMSE</a:t>
            </a:r>
            <a:endParaRPr lang="en-US" sz="780" dirty="0"/>
          </a:p>
        </p:txBody>
      </p:sp>
      <p:sp>
        <p:nvSpPr>
          <p:cNvPr id="17" name="Text 15"/>
          <p:cNvSpPr/>
          <p:nvPr/>
        </p:nvSpPr>
        <p:spPr>
          <a:xfrm>
            <a:off x="8641080" y="1847088"/>
            <a:ext cx="731520" cy="219456"/>
          </a:xfrm>
          <a:prstGeom prst="rect">
            <a:avLst/>
          </a:prstGeom>
          <a:noFill/>
          <a:ln/>
        </p:spPr>
        <p:txBody>
          <a:bodyPr wrap="square" lIns="0" tIns="0" rIns="0" bIns="0" rtlCol="0" anchor="ctr">
            <a:normAutofit/>
          </a:bodyPr>
          <a:lstStyle/>
          <a:p>
            <a:pPr algn="r" indent="0" marL="0">
              <a:buNone/>
            </a:pPr>
            <a:r>
              <a:rPr lang="en-US" sz="1100" dirty="0">
                <a:solidFill>
                  <a:srgbClr val="20313F"/>
                </a:solidFill>
                <a:latin typeface="Arial" pitchFamily="34" charset="0"/>
                <a:ea typeface="Arial" pitchFamily="34" charset="-122"/>
                <a:cs typeface="Arial" pitchFamily="34" charset="-120"/>
              </a:rPr>
              <a:t>121.30</a:t>
            </a:r>
            <a:endParaRPr lang="en-US" sz="1100" dirty="0"/>
          </a:p>
        </p:txBody>
      </p:sp>
      <p:sp>
        <p:nvSpPr>
          <p:cNvPr id="18" name="Text 16"/>
          <p:cNvSpPr/>
          <p:nvPr/>
        </p:nvSpPr>
        <p:spPr>
          <a:xfrm>
            <a:off x="9646920" y="2240280"/>
            <a:ext cx="868680" cy="219456"/>
          </a:xfrm>
          <a:prstGeom prst="rect">
            <a:avLst/>
          </a:prstGeom>
          <a:noFill/>
          <a:ln/>
        </p:spPr>
        <p:txBody>
          <a:bodyPr wrap="square" lIns="0" tIns="0" rIns="0" bIns="0" rtlCol="0" anchor="ctr">
            <a:normAutofit/>
          </a:bodyPr>
          <a:lstStyle/>
          <a:p>
            <a:pPr algn="r" indent="0" marL="0">
              <a:buNone/>
            </a:pPr>
            <a:r>
              <a:rPr lang="en-US" sz="1100" dirty="0">
                <a:solidFill>
                  <a:srgbClr val="20313F"/>
                </a:solidFill>
                <a:latin typeface="Arial" pitchFamily="34" charset="0"/>
                <a:ea typeface="Arial" pitchFamily="34" charset="-122"/>
                <a:cs typeface="Arial" pitchFamily="34" charset="-120"/>
              </a:rPr>
              <a:t>201.27</a:t>
            </a:r>
            <a:endParaRPr lang="en-US" sz="1100" dirty="0"/>
          </a:p>
        </p:txBody>
      </p:sp>
      <p:sp>
        <p:nvSpPr>
          <p:cNvPr id="19" name="Text 17"/>
          <p:cNvSpPr/>
          <p:nvPr/>
        </p:nvSpPr>
        <p:spPr>
          <a:xfrm>
            <a:off x="585216" y="3090672"/>
            <a:ext cx="841248" cy="256032"/>
          </a:xfrm>
          <a:prstGeom prst="rect">
            <a:avLst/>
          </a:prstGeom>
          <a:noFill/>
          <a:ln/>
        </p:spPr>
        <p:txBody>
          <a:bodyPr wrap="square" lIns="0" tIns="0" rIns="0" bIns="0" rtlCol="0" anchor="ctr">
            <a:normAutofit/>
          </a:bodyPr>
          <a:lstStyle/>
          <a:p>
            <a:pPr algn="l" indent="0" marL="0">
              <a:buNone/>
            </a:pPr>
            <a:r>
              <a:rPr lang="en-US" sz="1500" b="1" dirty="0">
                <a:solidFill>
                  <a:srgbClr val="74828C"/>
                </a:solidFill>
                <a:latin typeface="Arial" pitchFamily="34" charset="0"/>
                <a:ea typeface="Arial" pitchFamily="34" charset="-122"/>
                <a:cs typeface="Arial" pitchFamily="34" charset="-120"/>
              </a:rPr>
              <a:t>AR</a:t>
            </a:r>
            <a:endParaRPr lang="en-US" sz="1500" dirty="0"/>
          </a:p>
        </p:txBody>
      </p:sp>
      <p:sp>
        <p:nvSpPr>
          <p:cNvPr id="20" name="Shape 18"/>
          <p:cNvSpPr/>
          <p:nvPr/>
        </p:nvSpPr>
        <p:spPr>
          <a:xfrm>
            <a:off x="1645920" y="2999232"/>
            <a:ext cx="6537960" cy="219456"/>
          </a:xfrm>
          <a:prstGeom prst="roundRect">
            <a:avLst>
              <a:gd name="adj" fmla="val 16667"/>
            </a:avLst>
          </a:prstGeom>
          <a:solidFill>
            <a:srgbClr val="E7ECEF"/>
          </a:solidFill>
          <a:ln w="12700">
            <a:solidFill>
              <a:srgbClr val="E7ECEF"/>
            </a:solidFill>
            <a:prstDash val="solid"/>
          </a:ln>
        </p:spPr>
      </p:sp>
      <p:sp>
        <p:nvSpPr>
          <p:cNvPr id="21" name="Shape 19"/>
          <p:cNvSpPr/>
          <p:nvPr/>
        </p:nvSpPr>
        <p:spPr>
          <a:xfrm>
            <a:off x="1645920" y="3392424"/>
            <a:ext cx="6537960" cy="219456"/>
          </a:xfrm>
          <a:prstGeom prst="roundRect">
            <a:avLst>
              <a:gd name="adj" fmla="val 16667"/>
            </a:avLst>
          </a:prstGeom>
          <a:solidFill>
            <a:srgbClr val="E7ECEF"/>
          </a:solidFill>
          <a:ln w="12700">
            <a:solidFill>
              <a:srgbClr val="E7ECEF"/>
            </a:solidFill>
            <a:prstDash val="solid"/>
          </a:ln>
        </p:spPr>
      </p:sp>
      <p:sp>
        <p:nvSpPr>
          <p:cNvPr id="22" name="Shape 20"/>
          <p:cNvSpPr/>
          <p:nvPr/>
        </p:nvSpPr>
        <p:spPr>
          <a:xfrm>
            <a:off x="1645920" y="2999232"/>
            <a:ext cx="3092455" cy="219456"/>
          </a:xfrm>
          <a:prstGeom prst="roundRect">
            <a:avLst>
              <a:gd name="adj" fmla="val 16667"/>
            </a:avLst>
          </a:prstGeom>
          <a:solidFill>
            <a:srgbClr val="74828C"/>
          </a:solidFill>
          <a:ln w="12700">
            <a:solidFill>
              <a:srgbClr val="74828C"/>
            </a:solidFill>
            <a:prstDash val="solid"/>
          </a:ln>
        </p:spPr>
      </p:sp>
      <p:sp>
        <p:nvSpPr>
          <p:cNvPr id="23" name="Shape 21"/>
          <p:cNvSpPr/>
          <p:nvPr/>
        </p:nvSpPr>
        <p:spPr>
          <a:xfrm>
            <a:off x="1645920" y="3392424"/>
            <a:ext cx="6240362" cy="219456"/>
          </a:xfrm>
          <a:prstGeom prst="roundRect">
            <a:avLst>
              <a:gd name="adj" fmla="val 16667"/>
            </a:avLst>
          </a:prstGeom>
          <a:solidFill>
            <a:srgbClr val="74828C">
              <a:alpha val="62000"/>
            </a:srgbClr>
          </a:solidFill>
          <a:ln w="12700">
            <a:solidFill>
              <a:srgbClr val="74828C">
                <a:alpha val="62000"/>
              </a:srgbClr>
            </a:solidFill>
            <a:prstDash val="solid"/>
          </a:ln>
        </p:spPr>
      </p:sp>
      <p:sp>
        <p:nvSpPr>
          <p:cNvPr id="24" name="Text 22"/>
          <p:cNvSpPr/>
          <p:nvPr/>
        </p:nvSpPr>
        <p:spPr>
          <a:xfrm>
            <a:off x="1197864" y="2990088"/>
            <a:ext cx="384048" cy="219456"/>
          </a:xfrm>
          <a:prstGeom prst="rect">
            <a:avLst/>
          </a:prstGeom>
          <a:noFill/>
          <a:ln/>
        </p:spPr>
        <p:txBody>
          <a:bodyPr wrap="square" lIns="0" tIns="0" rIns="0" bIns="0" rtlCol="0" anchor="ctr">
            <a:normAutofit/>
          </a:bodyPr>
          <a:lstStyle/>
          <a:p>
            <a:pPr algn="r" indent="0" marL="0">
              <a:buNone/>
            </a:pPr>
            <a:r>
              <a:rPr lang="en-US" sz="780" dirty="0">
                <a:solidFill>
                  <a:srgbClr val="6F7E89"/>
                </a:solidFill>
                <a:latin typeface="Arial" pitchFamily="34" charset="0"/>
                <a:ea typeface="Arial" pitchFamily="34" charset="-122"/>
                <a:cs typeface="Arial" pitchFamily="34" charset="-120"/>
              </a:rPr>
              <a:t>MAE</a:t>
            </a:r>
            <a:endParaRPr lang="en-US" sz="780" dirty="0"/>
          </a:p>
        </p:txBody>
      </p:sp>
      <p:sp>
        <p:nvSpPr>
          <p:cNvPr id="25" name="Text 23"/>
          <p:cNvSpPr/>
          <p:nvPr/>
        </p:nvSpPr>
        <p:spPr>
          <a:xfrm>
            <a:off x="1197864" y="3383280"/>
            <a:ext cx="384048" cy="219456"/>
          </a:xfrm>
          <a:prstGeom prst="rect">
            <a:avLst/>
          </a:prstGeom>
          <a:noFill/>
          <a:ln/>
        </p:spPr>
        <p:txBody>
          <a:bodyPr wrap="square" lIns="0" tIns="0" rIns="0" bIns="0" rtlCol="0" anchor="ctr">
            <a:normAutofit/>
          </a:bodyPr>
          <a:lstStyle/>
          <a:p>
            <a:pPr algn="r" indent="0" marL="0">
              <a:buNone/>
            </a:pPr>
            <a:r>
              <a:rPr lang="en-US" sz="780" dirty="0">
                <a:solidFill>
                  <a:srgbClr val="6F7E89"/>
                </a:solidFill>
                <a:latin typeface="Arial" pitchFamily="34" charset="0"/>
                <a:ea typeface="Arial" pitchFamily="34" charset="-122"/>
                <a:cs typeface="Arial" pitchFamily="34" charset="-120"/>
              </a:rPr>
              <a:t>RMSE</a:t>
            </a:r>
            <a:endParaRPr lang="en-US" sz="780" dirty="0"/>
          </a:p>
        </p:txBody>
      </p:sp>
      <p:sp>
        <p:nvSpPr>
          <p:cNvPr id="26" name="Text 24"/>
          <p:cNvSpPr/>
          <p:nvPr/>
        </p:nvSpPr>
        <p:spPr>
          <a:xfrm>
            <a:off x="8641080" y="2990088"/>
            <a:ext cx="731520" cy="219456"/>
          </a:xfrm>
          <a:prstGeom prst="rect">
            <a:avLst/>
          </a:prstGeom>
          <a:noFill/>
          <a:ln/>
        </p:spPr>
        <p:txBody>
          <a:bodyPr wrap="square" lIns="0" tIns="0" rIns="0" bIns="0" rtlCol="0" anchor="ctr">
            <a:normAutofit/>
          </a:bodyPr>
          <a:lstStyle/>
          <a:p>
            <a:pPr algn="r" indent="0" marL="0">
              <a:buNone/>
            </a:pPr>
            <a:r>
              <a:rPr lang="en-US" sz="1100" dirty="0">
                <a:solidFill>
                  <a:srgbClr val="20313F"/>
                </a:solidFill>
                <a:latin typeface="Arial" pitchFamily="34" charset="0"/>
                <a:ea typeface="Arial" pitchFamily="34" charset="-122"/>
                <a:cs typeface="Arial" pitchFamily="34" charset="-120"/>
              </a:rPr>
              <a:t>127.71</a:t>
            </a:r>
            <a:endParaRPr lang="en-US" sz="1100" dirty="0"/>
          </a:p>
        </p:txBody>
      </p:sp>
      <p:sp>
        <p:nvSpPr>
          <p:cNvPr id="27" name="Text 25"/>
          <p:cNvSpPr/>
          <p:nvPr/>
        </p:nvSpPr>
        <p:spPr>
          <a:xfrm>
            <a:off x="9646920" y="3383280"/>
            <a:ext cx="868680" cy="219456"/>
          </a:xfrm>
          <a:prstGeom prst="rect">
            <a:avLst/>
          </a:prstGeom>
          <a:noFill/>
          <a:ln/>
        </p:spPr>
        <p:txBody>
          <a:bodyPr wrap="square" lIns="0" tIns="0" rIns="0" bIns="0" rtlCol="0" anchor="ctr">
            <a:normAutofit/>
          </a:bodyPr>
          <a:lstStyle/>
          <a:p>
            <a:pPr algn="r" indent="0" marL="0">
              <a:buNone/>
            </a:pPr>
            <a:r>
              <a:rPr lang="en-US" sz="1100" dirty="0">
                <a:solidFill>
                  <a:srgbClr val="20313F"/>
                </a:solidFill>
                <a:latin typeface="Arial" pitchFamily="34" charset="0"/>
                <a:ea typeface="Arial" pitchFamily="34" charset="-122"/>
                <a:cs typeface="Arial" pitchFamily="34" charset="-120"/>
              </a:rPr>
              <a:t>257.71</a:t>
            </a:r>
            <a:endParaRPr lang="en-US" sz="1100" dirty="0"/>
          </a:p>
        </p:txBody>
      </p:sp>
      <p:sp>
        <p:nvSpPr>
          <p:cNvPr id="28" name="Text 26"/>
          <p:cNvSpPr/>
          <p:nvPr/>
        </p:nvSpPr>
        <p:spPr>
          <a:xfrm>
            <a:off x="585216" y="4233672"/>
            <a:ext cx="841248" cy="256032"/>
          </a:xfrm>
          <a:prstGeom prst="rect">
            <a:avLst/>
          </a:prstGeom>
          <a:noFill/>
          <a:ln/>
        </p:spPr>
        <p:txBody>
          <a:bodyPr wrap="square" lIns="0" tIns="0" rIns="0" bIns="0" rtlCol="0" anchor="ctr">
            <a:normAutofit/>
          </a:bodyPr>
          <a:lstStyle/>
          <a:p>
            <a:pPr algn="l" indent="0" marL="0">
              <a:buNone/>
            </a:pPr>
            <a:r>
              <a:rPr lang="en-US" sz="1500" b="1" dirty="0">
                <a:solidFill>
                  <a:srgbClr val="068A95"/>
                </a:solidFill>
                <a:latin typeface="Arial" pitchFamily="34" charset="0"/>
                <a:ea typeface="Arial" pitchFamily="34" charset="-122"/>
                <a:cs typeface="Arial" pitchFamily="34" charset="-120"/>
              </a:rPr>
              <a:t>EDGE</a:t>
            </a:r>
            <a:endParaRPr lang="en-US" sz="1500" dirty="0"/>
          </a:p>
        </p:txBody>
      </p:sp>
      <p:sp>
        <p:nvSpPr>
          <p:cNvPr id="29" name="Shape 27"/>
          <p:cNvSpPr/>
          <p:nvPr/>
        </p:nvSpPr>
        <p:spPr>
          <a:xfrm>
            <a:off x="1645920" y="4142232"/>
            <a:ext cx="6537960" cy="219456"/>
          </a:xfrm>
          <a:prstGeom prst="roundRect">
            <a:avLst>
              <a:gd name="adj" fmla="val 16667"/>
            </a:avLst>
          </a:prstGeom>
          <a:solidFill>
            <a:srgbClr val="E7ECEF"/>
          </a:solidFill>
          <a:ln w="12700">
            <a:solidFill>
              <a:srgbClr val="E7ECEF"/>
            </a:solidFill>
            <a:prstDash val="solid"/>
          </a:ln>
        </p:spPr>
      </p:sp>
      <p:sp>
        <p:nvSpPr>
          <p:cNvPr id="30" name="Shape 28"/>
          <p:cNvSpPr/>
          <p:nvPr/>
        </p:nvSpPr>
        <p:spPr>
          <a:xfrm>
            <a:off x="1645920" y="4535424"/>
            <a:ext cx="6537960" cy="219456"/>
          </a:xfrm>
          <a:prstGeom prst="roundRect">
            <a:avLst>
              <a:gd name="adj" fmla="val 16667"/>
            </a:avLst>
          </a:prstGeom>
          <a:solidFill>
            <a:srgbClr val="E7ECEF"/>
          </a:solidFill>
          <a:ln w="12700">
            <a:solidFill>
              <a:srgbClr val="E7ECEF"/>
            </a:solidFill>
            <a:prstDash val="solid"/>
          </a:ln>
        </p:spPr>
      </p:sp>
      <p:sp>
        <p:nvSpPr>
          <p:cNvPr id="31" name="Shape 29"/>
          <p:cNvSpPr/>
          <p:nvPr/>
        </p:nvSpPr>
        <p:spPr>
          <a:xfrm>
            <a:off x="1645920" y="4142232"/>
            <a:ext cx="1297664" cy="219456"/>
          </a:xfrm>
          <a:prstGeom prst="roundRect">
            <a:avLst>
              <a:gd name="adj" fmla="val 16667"/>
            </a:avLst>
          </a:prstGeom>
          <a:solidFill>
            <a:srgbClr val="068A95"/>
          </a:solidFill>
          <a:ln w="12700">
            <a:solidFill>
              <a:srgbClr val="068A95"/>
            </a:solidFill>
            <a:prstDash val="solid"/>
          </a:ln>
        </p:spPr>
      </p:sp>
      <p:sp>
        <p:nvSpPr>
          <p:cNvPr id="32" name="Shape 30"/>
          <p:cNvSpPr/>
          <p:nvPr/>
        </p:nvSpPr>
        <p:spPr>
          <a:xfrm>
            <a:off x="1645920" y="4535424"/>
            <a:ext cx="2958548" cy="219456"/>
          </a:xfrm>
          <a:prstGeom prst="roundRect">
            <a:avLst>
              <a:gd name="adj" fmla="val 16667"/>
            </a:avLst>
          </a:prstGeom>
          <a:solidFill>
            <a:srgbClr val="068A95">
              <a:alpha val="62000"/>
            </a:srgbClr>
          </a:solidFill>
          <a:ln w="12700">
            <a:solidFill>
              <a:srgbClr val="068A95">
                <a:alpha val="62000"/>
              </a:srgbClr>
            </a:solidFill>
            <a:prstDash val="solid"/>
          </a:ln>
        </p:spPr>
      </p:sp>
      <p:sp>
        <p:nvSpPr>
          <p:cNvPr id="33" name="Text 31"/>
          <p:cNvSpPr/>
          <p:nvPr/>
        </p:nvSpPr>
        <p:spPr>
          <a:xfrm>
            <a:off x="1197864" y="4133088"/>
            <a:ext cx="384048" cy="219456"/>
          </a:xfrm>
          <a:prstGeom prst="rect">
            <a:avLst/>
          </a:prstGeom>
          <a:noFill/>
          <a:ln/>
        </p:spPr>
        <p:txBody>
          <a:bodyPr wrap="square" lIns="0" tIns="0" rIns="0" bIns="0" rtlCol="0" anchor="ctr">
            <a:normAutofit/>
          </a:bodyPr>
          <a:lstStyle/>
          <a:p>
            <a:pPr algn="r" indent="0" marL="0">
              <a:buNone/>
            </a:pPr>
            <a:r>
              <a:rPr lang="en-US" sz="780" dirty="0">
                <a:solidFill>
                  <a:srgbClr val="6F7E89"/>
                </a:solidFill>
                <a:latin typeface="Arial" pitchFamily="34" charset="0"/>
                <a:ea typeface="Arial" pitchFamily="34" charset="-122"/>
                <a:cs typeface="Arial" pitchFamily="34" charset="-120"/>
              </a:rPr>
              <a:t>MAE</a:t>
            </a:r>
            <a:endParaRPr lang="en-US" sz="780" dirty="0"/>
          </a:p>
        </p:txBody>
      </p:sp>
      <p:sp>
        <p:nvSpPr>
          <p:cNvPr id="34" name="Text 32"/>
          <p:cNvSpPr/>
          <p:nvPr/>
        </p:nvSpPr>
        <p:spPr>
          <a:xfrm>
            <a:off x="1197864" y="4526280"/>
            <a:ext cx="384048" cy="219456"/>
          </a:xfrm>
          <a:prstGeom prst="rect">
            <a:avLst/>
          </a:prstGeom>
          <a:noFill/>
          <a:ln/>
        </p:spPr>
        <p:txBody>
          <a:bodyPr wrap="square" lIns="0" tIns="0" rIns="0" bIns="0" rtlCol="0" anchor="ctr">
            <a:normAutofit/>
          </a:bodyPr>
          <a:lstStyle/>
          <a:p>
            <a:pPr algn="r" indent="0" marL="0">
              <a:buNone/>
            </a:pPr>
            <a:r>
              <a:rPr lang="en-US" sz="780" dirty="0">
                <a:solidFill>
                  <a:srgbClr val="6F7E89"/>
                </a:solidFill>
                <a:latin typeface="Arial" pitchFamily="34" charset="0"/>
                <a:ea typeface="Arial" pitchFamily="34" charset="-122"/>
                <a:cs typeface="Arial" pitchFamily="34" charset="-120"/>
              </a:rPr>
              <a:t>RMSE</a:t>
            </a:r>
            <a:endParaRPr lang="en-US" sz="780" dirty="0"/>
          </a:p>
        </p:txBody>
      </p:sp>
      <p:sp>
        <p:nvSpPr>
          <p:cNvPr id="35" name="Text 33"/>
          <p:cNvSpPr/>
          <p:nvPr/>
        </p:nvSpPr>
        <p:spPr>
          <a:xfrm>
            <a:off x="8641080" y="4133088"/>
            <a:ext cx="731520" cy="219456"/>
          </a:xfrm>
          <a:prstGeom prst="rect">
            <a:avLst/>
          </a:prstGeom>
          <a:noFill/>
          <a:ln/>
        </p:spPr>
        <p:txBody>
          <a:bodyPr wrap="square" lIns="0" tIns="0" rIns="0" bIns="0" rtlCol="0" anchor="ctr">
            <a:normAutofit/>
          </a:bodyPr>
          <a:lstStyle/>
          <a:p>
            <a:pPr algn="r" indent="0" marL="0">
              <a:buNone/>
            </a:pPr>
            <a:r>
              <a:rPr lang="en-US" sz="1100" b="1" dirty="0">
                <a:solidFill>
                  <a:srgbClr val="068A95"/>
                </a:solidFill>
                <a:latin typeface="Arial" pitchFamily="34" charset="0"/>
                <a:ea typeface="Arial" pitchFamily="34" charset="-122"/>
                <a:cs typeface="Arial" pitchFamily="34" charset="-120"/>
              </a:rPr>
              <a:t>53.59</a:t>
            </a:r>
            <a:endParaRPr lang="en-US" sz="1100" dirty="0"/>
          </a:p>
        </p:txBody>
      </p:sp>
      <p:sp>
        <p:nvSpPr>
          <p:cNvPr id="36" name="Text 34"/>
          <p:cNvSpPr/>
          <p:nvPr/>
        </p:nvSpPr>
        <p:spPr>
          <a:xfrm>
            <a:off x="9646920" y="4526280"/>
            <a:ext cx="868680" cy="219456"/>
          </a:xfrm>
          <a:prstGeom prst="rect">
            <a:avLst/>
          </a:prstGeom>
          <a:noFill/>
          <a:ln/>
        </p:spPr>
        <p:txBody>
          <a:bodyPr wrap="square" lIns="0" tIns="0" rIns="0" bIns="0" rtlCol="0" anchor="ctr">
            <a:normAutofit/>
          </a:bodyPr>
          <a:lstStyle/>
          <a:p>
            <a:pPr algn="r" indent="0" marL="0">
              <a:buNone/>
            </a:pPr>
            <a:r>
              <a:rPr lang="en-US" sz="1100" b="1" dirty="0">
                <a:solidFill>
                  <a:srgbClr val="068A95"/>
                </a:solidFill>
                <a:latin typeface="Arial" pitchFamily="34" charset="0"/>
                <a:ea typeface="Arial" pitchFamily="34" charset="-122"/>
                <a:cs typeface="Arial" pitchFamily="34" charset="-120"/>
              </a:rPr>
              <a:t>122.18</a:t>
            </a:r>
            <a:endParaRPr lang="en-US" sz="1100" dirty="0"/>
          </a:p>
        </p:txBody>
      </p:sp>
      <p:sp>
        <p:nvSpPr>
          <p:cNvPr id="37" name="Shape 35"/>
          <p:cNvSpPr/>
          <p:nvPr/>
        </p:nvSpPr>
        <p:spPr>
          <a:xfrm>
            <a:off x="566928" y="5440680"/>
            <a:ext cx="10863072" cy="548640"/>
          </a:xfrm>
          <a:prstGeom prst="roundRect">
            <a:avLst>
              <a:gd name="adj" fmla="val 10000"/>
            </a:avLst>
          </a:prstGeom>
          <a:solidFill>
            <a:srgbClr val="E2F2F3"/>
          </a:solidFill>
          <a:ln w="12700">
            <a:solidFill>
              <a:srgbClr val="E2F2F3"/>
            </a:solidFill>
            <a:prstDash val="solid"/>
          </a:ln>
        </p:spPr>
      </p:sp>
      <p:sp>
        <p:nvSpPr>
          <p:cNvPr id="38" name="Text 36"/>
          <p:cNvSpPr/>
          <p:nvPr/>
        </p:nvSpPr>
        <p:spPr>
          <a:xfrm>
            <a:off x="841248" y="5596128"/>
            <a:ext cx="10332720" cy="237744"/>
          </a:xfrm>
          <a:prstGeom prst="rect">
            <a:avLst/>
          </a:prstGeom>
          <a:noFill/>
          <a:ln/>
        </p:spPr>
        <p:txBody>
          <a:bodyPr wrap="square" lIns="0" tIns="0" rIns="0" bIns="0" rtlCol="0" anchor="ctr">
            <a:normAutofit/>
          </a:bodyPr>
          <a:lstStyle/>
          <a:p>
            <a:pPr algn="ctr" indent="0" marL="0">
              <a:buNone/>
            </a:pPr>
            <a:r>
              <a:rPr lang="en-US" sz="1320" b="1" dirty="0">
                <a:solidFill>
                  <a:srgbClr val="0B2A45"/>
                </a:solidFill>
                <a:latin typeface="Arial" pitchFamily="34" charset="0"/>
                <a:ea typeface="Arial" pitchFamily="34" charset="-122"/>
                <a:cs typeface="Arial" pitchFamily="34" charset="-120"/>
              </a:rPr>
              <a:t>EDGE has the lowest overall MAE and RMSE — but that advantage is not universal across asset classes.</a:t>
            </a:r>
            <a:endParaRPr lang="en-US" sz="1320" dirty="0"/>
          </a:p>
        </p:txBody>
      </p:sp>
      <p:sp>
        <p:nvSpPr>
          <p:cNvPr id="39" name="Text 37"/>
          <p:cNvSpPr/>
          <p:nvPr/>
        </p:nvSpPr>
        <p:spPr>
          <a:xfrm>
            <a:off x="594360" y="6126480"/>
            <a:ext cx="10753344" cy="182880"/>
          </a:xfrm>
          <a:prstGeom prst="rect">
            <a:avLst/>
          </a:prstGeom>
          <a:noFill/>
          <a:ln/>
        </p:spPr>
        <p:txBody>
          <a:bodyPr wrap="square" lIns="0" tIns="0" rIns="0" bIns="0" rtlCol="0" anchor="ctr">
            <a:normAutofit/>
          </a:bodyPr>
          <a:lstStyle/>
          <a:p>
            <a:pPr algn="ctr" indent="0" marL="0">
              <a:buNone/>
            </a:pPr>
            <a:r>
              <a:rPr lang="en-US" sz="860" dirty="0">
                <a:solidFill>
                  <a:srgbClr val="6F7E89"/>
                </a:solidFill>
                <a:latin typeface="Arial" pitchFamily="34" charset="0"/>
                <a:ea typeface="Arial" pitchFamily="34" charset="-122"/>
                <a:cs typeface="Arial" pitchFamily="34" charset="-120"/>
              </a:rPr>
              <a:t>Descriptive accuracy against Roll; no formal statistical-superiority test for MAE/RMSE differences.</a:t>
            </a:r>
            <a:endParaRPr lang="en-US" sz="86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PRIMARY RESULT</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There is no universal estimator ranking</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Class-level leaders differ by market and by loss function</a:t>
            </a:r>
            <a:endParaRPr lang="en-US" sz="1070" dirty="0"/>
          </a:p>
        </p:txBody>
      </p:sp>
      <p:sp>
        <p:nvSpPr>
          <p:cNvPr id="5" name="Shape 3"/>
          <p:cNvSpPr/>
          <p:nvPr/>
        </p:nvSpPr>
        <p:spPr>
          <a:xfrm>
            <a:off x="9464040" y="246888"/>
            <a:ext cx="1920240" cy="256032"/>
          </a:xfrm>
          <a:prstGeom prst="roundRect">
            <a:avLst>
              <a:gd name="adj" fmla="val 14286"/>
            </a:avLst>
          </a:prstGeom>
          <a:solidFill>
            <a:srgbClr val="F7EEDB"/>
          </a:solidFill>
          <a:ln w="12700">
            <a:solidFill>
              <a:srgbClr val="F7EEDB"/>
            </a:solidFill>
            <a:prstDash val="solid"/>
          </a:ln>
        </p:spPr>
      </p:sp>
      <p:sp>
        <p:nvSpPr>
          <p:cNvPr id="6" name="Text 4"/>
          <p:cNvSpPr/>
          <p:nvPr/>
        </p:nvSpPr>
        <p:spPr>
          <a:xfrm>
            <a:off x="9537192"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C8902F"/>
                </a:solidFill>
              </a:rPr>
              <a:t>BOUNDARY CONDITION</a:t>
            </a:r>
            <a:endParaRPr lang="en-US" sz="740" dirty="0"/>
          </a:p>
        </p:txBody>
      </p:sp>
      <p:sp>
        <p:nvSpPr>
          <p:cNvPr id="7" name="Shape 5"/>
          <p:cNvSpPr/>
          <p:nvPr/>
        </p:nvSpPr>
        <p:spPr>
          <a:xfrm>
            <a:off x="548640" y="1517904"/>
            <a:ext cx="2487168" cy="3584448"/>
          </a:xfrm>
          <a:prstGeom prst="roundRect">
            <a:avLst>
              <a:gd name="adj" fmla="val 2206"/>
            </a:avLst>
          </a:prstGeom>
          <a:solidFill>
            <a:srgbClr val="F4F7F9"/>
          </a:solidFill>
          <a:ln w="12700">
            <a:solidFill>
              <a:srgbClr val="D8E2E8"/>
            </a:solidFill>
            <a:prstDash val="solid"/>
          </a:ln>
          <a:effectLst>
            <a:outerShdw sx="100000" sy="100000" kx="0" ky="0" algn="bl" rotWithShape="0" blurRad="19050" dist="50800" dir="2700000">
              <a:srgbClr val="DDE3E7">
                <a:alpha val="20000"/>
              </a:srgbClr>
            </a:outerShdw>
          </a:effectLst>
        </p:spPr>
      </p:sp>
      <p:sp>
        <p:nvSpPr>
          <p:cNvPr id="8" name="Text 6"/>
          <p:cNvSpPr/>
          <p:nvPr/>
        </p:nvSpPr>
        <p:spPr>
          <a:xfrm>
            <a:off x="713232" y="1737360"/>
            <a:ext cx="2157984" cy="274320"/>
          </a:xfrm>
          <a:prstGeom prst="rect">
            <a:avLst/>
          </a:prstGeom>
          <a:noFill/>
          <a:ln/>
        </p:spPr>
        <p:txBody>
          <a:bodyPr wrap="square" lIns="0" tIns="0" rIns="0" bIns="0" rtlCol="0" anchor="ctr">
            <a:normAutofit/>
          </a:bodyPr>
          <a:lstStyle/>
          <a:p>
            <a:pPr algn="ctr" indent="0" marL="0">
              <a:buNone/>
            </a:pPr>
            <a:r>
              <a:rPr lang="en-US" sz="1500" b="1" dirty="0">
                <a:solidFill>
                  <a:srgbClr val="0B2A45"/>
                </a:solidFill>
                <a:latin typeface="Arial" pitchFamily="34" charset="0"/>
                <a:ea typeface="Arial" pitchFamily="34" charset="-122"/>
                <a:cs typeface="Arial" pitchFamily="34" charset="-120"/>
              </a:rPr>
              <a:t>STOCKS</a:t>
            </a:r>
            <a:endParaRPr lang="en-US" sz="1500" dirty="0"/>
          </a:p>
        </p:txBody>
      </p:sp>
      <p:sp>
        <p:nvSpPr>
          <p:cNvPr id="9" name="Shape 7"/>
          <p:cNvSpPr/>
          <p:nvPr/>
        </p:nvSpPr>
        <p:spPr>
          <a:xfrm>
            <a:off x="768096" y="2139696"/>
            <a:ext cx="2048256" cy="0"/>
          </a:xfrm>
          <a:prstGeom prst="line">
            <a:avLst/>
          </a:prstGeom>
          <a:noFill/>
          <a:ln w="12700">
            <a:solidFill>
              <a:srgbClr val="D8E2E8"/>
            </a:solidFill>
            <a:prstDash val="solid"/>
          </a:ln>
        </p:spPr>
      </p:sp>
      <p:sp>
        <p:nvSpPr>
          <p:cNvPr id="10" name="Text 8"/>
          <p:cNvSpPr/>
          <p:nvPr/>
        </p:nvSpPr>
        <p:spPr>
          <a:xfrm>
            <a:off x="713232" y="2359152"/>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MAE</a:t>
            </a:r>
            <a:endParaRPr lang="en-US" sz="770" dirty="0"/>
          </a:p>
        </p:txBody>
      </p:sp>
      <p:sp>
        <p:nvSpPr>
          <p:cNvPr id="11" name="Text 9"/>
          <p:cNvSpPr/>
          <p:nvPr/>
        </p:nvSpPr>
        <p:spPr>
          <a:xfrm>
            <a:off x="713232" y="2578608"/>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068A95"/>
                </a:solidFill>
                <a:latin typeface="Arial" pitchFamily="34" charset="0"/>
                <a:ea typeface="Arial" pitchFamily="34" charset="-122"/>
                <a:cs typeface="Arial" pitchFamily="34" charset="-120"/>
              </a:rPr>
              <a:t>EDGE · 84.60</a:t>
            </a:r>
            <a:endParaRPr lang="en-US" sz="1440" dirty="0"/>
          </a:p>
        </p:txBody>
      </p:sp>
      <p:sp>
        <p:nvSpPr>
          <p:cNvPr id="12" name="Text 10"/>
          <p:cNvSpPr/>
          <p:nvPr/>
        </p:nvSpPr>
        <p:spPr>
          <a:xfrm>
            <a:off x="713232" y="3108960"/>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RMSE</a:t>
            </a:r>
            <a:endParaRPr lang="en-US" sz="770" dirty="0"/>
          </a:p>
        </p:txBody>
      </p:sp>
      <p:sp>
        <p:nvSpPr>
          <p:cNvPr id="13" name="Text 11"/>
          <p:cNvSpPr/>
          <p:nvPr/>
        </p:nvSpPr>
        <p:spPr>
          <a:xfrm>
            <a:off x="713232" y="3328416"/>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2F5D7C"/>
                </a:solidFill>
                <a:latin typeface="Arial" pitchFamily="34" charset="0"/>
                <a:ea typeface="Arial" pitchFamily="34" charset="-122"/>
                <a:cs typeface="Arial" pitchFamily="34" charset="-120"/>
              </a:rPr>
              <a:t>CS · 166.42</a:t>
            </a:r>
            <a:endParaRPr lang="en-US" sz="1440" dirty="0"/>
          </a:p>
        </p:txBody>
      </p:sp>
      <p:sp>
        <p:nvSpPr>
          <p:cNvPr id="14" name="Shape 12"/>
          <p:cNvSpPr/>
          <p:nvPr/>
        </p:nvSpPr>
        <p:spPr>
          <a:xfrm>
            <a:off x="1005840" y="4142232"/>
            <a:ext cx="1572768" cy="438912"/>
          </a:xfrm>
          <a:prstGeom prst="roundRect">
            <a:avLst>
              <a:gd name="adj" fmla="val 12500"/>
            </a:avLst>
          </a:prstGeom>
          <a:solidFill>
            <a:srgbClr val="F7EEDB"/>
          </a:solidFill>
          <a:ln w="12700">
            <a:solidFill>
              <a:srgbClr val="E4CEA2"/>
            </a:solidFill>
            <a:prstDash val="solid"/>
          </a:ln>
        </p:spPr>
      </p:sp>
      <p:sp>
        <p:nvSpPr>
          <p:cNvPr id="15" name="Text 13"/>
          <p:cNvSpPr/>
          <p:nvPr/>
        </p:nvSpPr>
        <p:spPr>
          <a:xfrm>
            <a:off x="1060704" y="4251960"/>
            <a:ext cx="1463040" cy="182880"/>
          </a:xfrm>
          <a:prstGeom prst="rect">
            <a:avLst/>
          </a:prstGeom>
          <a:noFill/>
          <a:ln/>
        </p:spPr>
        <p:txBody>
          <a:bodyPr wrap="square" lIns="0" tIns="0" rIns="0" bIns="0" rtlCol="0" anchor="ctr">
            <a:normAutofit/>
          </a:bodyPr>
          <a:lstStyle/>
          <a:p>
            <a:pPr algn="ctr" indent="0" marL="0">
              <a:buNone/>
            </a:pPr>
            <a:r>
              <a:rPr lang="en-US" sz="920" b="1" dirty="0">
                <a:solidFill>
                  <a:srgbClr val="C8902F"/>
                </a:solidFill>
                <a:latin typeface="Arial" pitchFamily="34" charset="0"/>
                <a:ea typeface="Arial" pitchFamily="34" charset="-122"/>
                <a:cs typeface="Arial" pitchFamily="34" charset="-120"/>
              </a:rPr>
              <a:t>MIXED</a:t>
            </a:r>
            <a:endParaRPr lang="en-US" sz="920" dirty="0"/>
          </a:p>
        </p:txBody>
      </p:sp>
      <p:sp>
        <p:nvSpPr>
          <p:cNvPr id="16" name="Shape 14"/>
          <p:cNvSpPr/>
          <p:nvPr/>
        </p:nvSpPr>
        <p:spPr>
          <a:xfrm>
            <a:off x="3337560" y="1517904"/>
            <a:ext cx="2487168" cy="3584448"/>
          </a:xfrm>
          <a:prstGeom prst="roundRect">
            <a:avLst>
              <a:gd name="adj" fmla="val 2206"/>
            </a:avLst>
          </a:prstGeom>
          <a:solidFill>
            <a:srgbClr val="EEF4F8"/>
          </a:solidFill>
          <a:ln w="12700">
            <a:solidFill>
              <a:srgbClr val="D5E2EA"/>
            </a:solidFill>
            <a:prstDash val="solid"/>
          </a:ln>
          <a:effectLst>
            <a:outerShdw sx="100000" sy="100000" kx="0" ky="0" algn="bl" rotWithShape="0" blurRad="19050" dist="50800" dir="2700000">
              <a:srgbClr val="DDE3E7">
                <a:alpha val="20000"/>
              </a:srgbClr>
            </a:outerShdw>
          </a:effectLst>
        </p:spPr>
      </p:sp>
      <p:sp>
        <p:nvSpPr>
          <p:cNvPr id="17" name="Text 15"/>
          <p:cNvSpPr/>
          <p:nvPr/>
        </p:nvSpPr>
        <p:spPr>
          <a:xfrm>
            <a:off x="3502152" y="1737360"/>
            <a:ext cx="2157984" cy="274320"/>
          </a:xfrm>
          <a:prstGeom prst="rect">
            <a:avLst/>
          </a:prstGeom>
          <a:noFill/>
          <a:ln/>
        </p:spPr>
        <p:txBody>
          <a:bodyPr wrap="square" lIns="0" tIns="0" rIns="0" bIns="0" rtlCol="0" anchor="ctr">
            <a:normAutofit/>
          </a:bodyPr>
          <a:lstStyle/>
          <a:p>
            <a:pPr algn="ctr" indent="0" marL="0">
              <a:buNone/>
            </a:pPr>
            <a:r>
              <a:rPr lang="en-US" sz="1500" b="1" dirty="0">
                <a:solidFill>
                  <a:srgbClr val="0B2A45"/>
                </a:solidFill>
                <a:latin typeface="Arial" pitchFamily="34" charset="0"/>
                <a:ea typeface="Arial" pitchFamily="34" charset="-122"/>
                <a:cs typeface="Arial" pitchFamily="34" charset="-120"/>
              </a:rPr>
              <a:t>ETFs</a:t>
            </a:r>
            <a:endParaRPr lang="en-US" sz="1500" dirty="0"/>
          </a:p>
        </p:txBody>
      </p:sp>
      <p:sp>
        <p:nvSpPr>
          <p:cNvPr id="18" name="Shape 16"/>
          <p:cNvSpPr/>
          <p:nvPr/>
        </p:nvSpPr>
        <p:spPr>
          <a:xfrm>
            <a:off x="3557016" y="2139696"/>
            <a:ext cx="2048256" cy="0"/>
          </a:xfrm>
          <a:prstGeom prst="line">
            <a:avLst/>
          </a:prstGeom>
          <a:noFill/>
          <a:ln w="12700">
            <a:solidFill>
              <a:srgbClr val="D5E2EA"/>
            </a:solidFill>
            <a:prstDash val="solid"/>
          </a:ln>
        </p:spPr>
      </p:sp>
      <p:sp>
        <p:nvSpPr>
          <p:cNvPr id="19" name="Text 17"/>
          <p:cNvSpPr/>
          <p:nvPr/>
        </p:nvSpPr>
        <p:spPr>
          <a:xfrm>
            <a:off x="3502152" y="2359152"/>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MAE</a:t>
            </a:r>
            <a:endParaRPr lang="en-US" sz="770" dirty="0"/>
          </a:p>
        </p:txBody>
      </p:sp>
      <p:sp>
        <p:nvSpPr>
          <p:cNvPr id="20" name="Text 18"/>
          <p:cNvSpPr/>
          <p:nvPr/>
        </p:nvSpPr>
        <p:spPr>
          <a:xfrm>
            <a:off x="3502152" y="2578608"/>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2F5D7C"/>
                </a:solidFill>
                <a:latin typeface="Arial" pitchFamily="34" charset="0"/>
                <a:ea typeface="Arial" pitchFamily="34" charset="-122"/>
                <a:cs typeface="Arial" pitchFamily="34" charset="-120"/>
              </a:rPr>
              <a:t>CS · 24.74</a:t>
            </a:r>
            <a:endParaRPr lang="en-US" sz="1440" dirty="0"/>
          </a:p>
        </p:txBody>
      </p:sp>
      <p:sp>
        <p:nvSpPr>
          <p:cNvPr id="21" name="Text 19"/>
          <p:cNvSpPr/>
          <p:nvPr/>
        </p:nvSpPr>
        <p:spPr>
          <a:xfrm>
            <a:off x="3502152" y="3108960"/>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RMSE</a:t>
            </a:r>
            <a:endParaRPr lang="en-US" sz="770" dirty="0"/>
          </a:p>
        </p:txBody>
      </p:sp>
      <p:sp>
        <p:nvSpPr>
          <p:cNvPr id="22" name="Text 20"/>
          <p:cNvSpPr/>
          <p:nvPr/>
        </p:nvSpPr>
        <p:spPr>
          <a:xfrm>
            <a:off x="3502152" y="3328416"/>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2F5D7C"/>
                </a:solidFill>
                <a:latin typeface="Arial" pitchFamily="34" charset="0"/>
                <a:ea typeface="Arial" pitchFamily="34" charset="-122"/>
                <a:cs typeface="Arial" pitchFamily="34" charset="-120"/>
              </a:rPr>
              <a:t>CS · 45.98</a:t>
            </a:r>
            <a:endParaRPr lang="en-US" sz="1440" dirty="0"/>
          </a:p>
        </p:txBody>
      </p:sp>
      <p:sp>
        <p:nvSpPr>
          <p:cNvPr id="23" name="Shape 21"/>
          <p:cNvSpPr/>
          <p:nvPr/>
        </p:nvSpPr>
        <p:spPr>
          <a:xfrm>
            <a:off x="3794760" y="4142232"/>
            <a:ext cx="1572768" cy="438912"/>
          </a:xfrm>
          <a:prstGeom prst="roundRect">
            <a:avLst>
              <a:gd name="adj" fmla="val 12500"/>
            </a:avLst>
          </a:prstGeom>
          <a:solidFill>
            <a:srgbClr val="FFFFFF"/>
          </a:solidFill>
          <a:ln w="12700">
            <a:solidFill>
              <a:srgbClr val="D5E2EA"/>
            </a:solidFill>
            <a:prstDash val="solid"/>
          </a:ln>
        </p:spPr>
      </p:sp>
      <p:sp>
        <p:nvSpPr>
          <p:cNvPr id="24" name="Text 22"/>
          <p:cNvSpPr/>
          <p:nvPr/>
        </p:nvSpPr>
        <p:spPr>
          <a:xfrm>
            <a:off x="3849624" y="4251960"/>
            <a:ext cx="1463040" cy="182880"/>
          </a:xfrm>
          <a:prstGeom prst="rect">
            <a:avLst/>
          </a:prstGeom>
          <a:noFill/>
          <a:ln/>
        </p:spPr>
        <p:txBody>
          <a:bodyPr wrap="square" lIns="0" tIns="0" rIns="0" bIns="0" rtlCol="0" anchor="ctr">
            <a:normAutofit/>
          </a:bodyPr>
          <a:lstStyle/>
          <a:p>
            <a:pPr algn="ctr" indent="0" marL="0">
              <a:buNone/>
            </a:pPr>
            <a:r>
              <a:rPr lang="en-US" sz="920" b="1" dirty="0">
                <a:solidFill>
                  <a:srgbClr val="0B2A45"/>
                </a:solidFill>
                <a:latin typeface="Arial" pitchFamily="34" charset="0"/>
                <a:ea typeface="Arial" pitchFamily="34" charset="-122"/>
                <a:cs typeface="Arial" pitchFamily="34" charset="-120"/>
              </a:rPr>
              <a:t>CS on both</a:t>
            </a:r>
            <a:endParaRPr lang="en-US" sz="920" dirty="0"/>
          </a:p>
        </p:txBody>
      </p:sp>
      <p:sp>
        <p:nvSpPr>
          <p:cNvPr id="25" name="Shape 23"/>
          <p:cNvSpPr/>
          <p:nvPr/>
        </p:nvSpPr>
        <p:spPr>
          <a:xfrm>
            <a:off x="6126480" y="1517904"/>
            <a:ext cx="2487168" cy="3584448"/>
          </a:xfrm>
          <a:prstGeom prst="roundRect">
            <a:avLst>
              <a:gd name="adj" fmla="val 2206"/>
            </a:avLst>
          </a:prstGeom>
          <a:solidFill>
            <a:srgbClr val="EAF6F6"/>
          </a:solidFill>
          <a:ln w="12700">
            <a:solidFill>
              <a:srgbClr val="CDE6E7"/>
            </a:solidFill>
            <a:prstDash val="solid"/>
          </a:ln>
          <a:effectLst>
            <a:outerShdw sx="100000" sy="100000" kx="0" ky="0" algn="bl" rotWithShape="0" blurRad="19050" dist="50800" dir="2700000">
              <a:srgbClr val="DDE3E7">
                <a:alpha val="20000"/>
              </a:srgbClr>
            </a:outerShdw>
          </a:effectLst>
        </p:spPr>
      </p:sp>
      <p:sp>
        <p:nvSpPr>
          <p:cNvPr id="26" name="Text 24"/>
          <p:cNvSpPr/>
          <p:nvPr/>
        </p:nvSpPr>
        <p:spPr>
          <a:xfrm>
            <a:off x="6291072" y="1737360"/>
            <a:ext cx="2157984" cy="274320"/>
          </a:xfrm>
          <a:prstGeom prst="rect">
            <a:avLst/>
          </a:prstGeom>
          <a:noFill/>
          <a:ln/>
        </p:spPr>
        <p:txBody>
          <a:bodyPr wrap="square" lIns="0" tIns="0" rIns="0" bIns="0" rtlCol="0" anchor="ctr">
            <a:normAutofit/>
          </a:bodyPr>
          <a:lstStyle/>
          <a:p>
            <a:pPr algn="ctr" indent="0" marL="0">
              <a:buNone/>
            </a:pPr>
            <a:r>
              <a:rPr lang="en-US" sz="1500" b="1" dirty="0">
                <a:solidFill>
                  <a:srgbClr val="0B2A45"/>
                </a:solidFill>
                <a:latin typeface="Arial" pitchFamily="34" charset="0"/>
                <a:ea typeface="Arial" pitchFamily="34" charset="-122"/>
                <a:cs typeface="Arial" pitchFamily="34" charset="-120"/>
              </a:rPr>
              <a:t>FUTURES</a:t>
            </a:r>
            <a:endParaRPr lang="en-US" sz="1500" dirty="0"/>
          </a:p>
        </p:txBody>
      </p:sp>
      <p:sp>
        <p:nvSpPr>
          <p:cNvPr id="27" name="Shape 25"/>
          <p:cNvSpPr/>
          <p:nvPr/>
        </p:nvSpPr>
        <p:spPr>
          <a:xfrm>
            <a:off x="6345936" y="2139696"/>
            <a:ext cx="2048256" cy="0"/>
          </a:xfrm>
          <a:prstGeom prst="line">
            <a:avLst/>
          </a:prstGeom>
          <a:noFill/>
          <a:ln w="12700">
            <a:solidFill>
              <a:srgbClr val="CDE6E7"/>
            </a:solidFill>
            <a:prstDash val="solid"/>
          </a:ln>
        </p:spPr>
      </p:sp>
      <p:sp>
        <p:nvSpPr>
          <p:cNvPr id="28" name="Text 26"/>
          <p:cNvSpPr/>
          <p:nvPr/>
        </p:nvSpPr>
        <p:spPr>
          <a:xfrm>
            <a:off x="6291072" y="2359152"/>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MAE</a:t>
            </a:r>
            <a:endParaRPr lang="en-US" sz="770" dirty="0"/>
          </a:p>
        </p:txBody>
      </p:sp>
      <p:sp>
        <p:nvSpPr>
          <p:cNvPr id="29" name="Text 27"/>
          <p:cNvSpPr/>
          <p:nvPr/>
        </p:nvSpPr>
        <p:spPr>
          <a:xfrm>
            <a:off x="6291072" y="2578608"/>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068A95"/>
                </a:solidFill>
                <a:latin typeface="Arial" pitchFamily="34" charset="0"/>
                <a:ea typeface="Arial" pitchFamily="34" charset="-122"/>
                <a:cs typeface="Arial" pitchFamily="34" charset="-120"/>
              </a:rPr>
              <a:t>EDGE · 5.29</a:t>
            </a:r>
            <a:endParaRPr lang="en-US" sz="1440" dirty="0"/>
          </a:p>
        </p:txBody>
      </p:sp>
      <p:sp>
        <p:nvSpPr>
          <p:cNvPr id="30" name="Text 28"/>
          <p:cNvSpPr/>
          <p:nvPr/>
        </p:nvSpPr>
        <p:spPr>
          <a:xfrm>
            <a:off x="6291072" y="3108960"/>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RMSE</a:t>
            </a:r>
            <a:endParaRPr lang="en-US" sz="770" dirty="0"/>
          </a:p>
        </p:txBody>
      </p:sp>
      <p:sp>
        <p:nvSpPr>
          <p:cNvPr id="31" name="Text 29"/>
          <p:cNvSpPr/>
          <p:nvPr/>
        </p:nvSpPr>
        <p:spPr>
          <a:xfrm>
            <a:off x="6291072" y="3328416"/>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068A95"/>
                </a:solidFill>
                <a:latin typeface="Arial" pitchFamily="34" charset="0"/>
                <a:ea typeface="Arial" pitchFamily="34" charset="-122"/>
                <a:cs typeface="Arial" pitchFamily="34" charset="-120"/>
              </a:rPr>
              <a:t>EDGE · 11.02</a:t>
            </a:r>
            <a:endParaRPr lang="en-US" sz="1440" dirty="0"/>
          </a:p>
        </p:txBody>
      </p:sp>
      <p:sp>
        <p:nvSpPr>
          <p:cNvPr id="32" name="Shape 30"/>
          <p:cNvSpPr/>
          <p:nvPr/>
        </p:nvSpPr>
        <p:spPr>
          <a:xfrm>
            <a:off x="6583680" y="4142232"/>
            <a:ext cx="1572768" cy="438912"/>
          </a:xfrm>
          <a:prstGeom prst="roundRect">
            <a:avLst>
              <a:gd name="adj" fmla="val 12500"/>
            </a:avLst>
          </a:prstGeom>
          <a:solidFill>
            <a:srgbClr val="FFFFFF"/>
          </a:solidFill>
          <a:ln w="12700">
            <a:solidFill>
              <a:srgbClr val="CDE6E7"/>
            </a:solidFill>
            <a:prstDash val="solid"/>
          </a:ln>
        </p:spPr>
      </p:sp>
      <p:sp>
        <p:nvSpPr>
          <p:cNvPr id="33" name="Text 31"/>
          <p:cNvSpPr/>
          <p:nvPr/>
        </p:nvSpPr>
        <p:spPr>
          <a:xfrm>
            <a:off x="6638544" y="4251960"/>
            <a:ext cx="1463040" cy="182880"/>
          </a:xfrm>
          <a:prstGeom prst="rect">
            <a:avLst/>
          </a:prstGeom>
          <a:noFill/>
          <a:ln/>
        </p:spPr>
        <p:txBody>
          <a:bodyPr wrap="square" lIns="0" tIns="0" rIns="0" bIns="0" rtlCol="0" anchor="ctr">
            <a:normAutofit/>
          </a:bodyPr>
          <a:lstStyle/>
          <a:p>
            <a:pPr algn="ctr" indent="0" marL="0">
              <a:buNone/>
            </a:pPr>
            <a:r>
              <a:rPr lang="en-US" sz="920" b="1" dirty="0">
                <a:solidFill>
                  <a:srgbClr val="0B2A45"/>
                </a:solidFill>
                <a:latin typeface="Arial" pitchFamily="34" charset="0"/>
                <a:ea typeface="Arial" pitchFamily="34" charset="-122"/>
                <a:cs typeface="Arial" pitchFamily="34" charset="-120"/>
              </a:rPr>
              <a:t>EDGE on both</a:t>
            </a:r>
            <a:endParaRPr lang="en-US" sz="920" dirty="0"/>
          </a:p>
        </p:txBody>
      </p:sp>
      <p:sp>
        <p:nvSpPr>
          <p:cNvPr id="34" name="Shape 32"/>
          <p:cNvSpPr/>
          <p:nvPr/>
        </p:nvSpPr>
        <p:spPr>
          <a:xfrm>
            <a:off x="8915400" y="1517904"/>
            <a:ext cx="2487168" cy="3584448"/>
          </a:xfrm>
          <a:prstGeom prst="roundRect">
            <a:avLst>
              <a:gd name="adj" fmla="val 2206"/>
            </a:avLst>
          </a:prstGeom>
          <a:solidFill>
            <a:srgbClr val="EAF6F6"/>
          </a:solidFill>
          <a:ln w="12700">
            <a:solidFill>
              <a:srgbClr val="CDE6E7"/>
            </a:solidFill>
            <a:prstDash val="solid"/>
          </a:ln>
          <a:effectLst>
            <a:outerShdw sx="100000" sy="100000" kx="0" ky="0" algn="bl" rotWithShape="0" blurRad="19050" dist="50800" dir="2700000">
              <a:srgbClr val="DDE3E7">
                <a:alpha val="20000"/>
              </a:srgbClr>
            </a:outerShdw>
          </a:effectLst>
        </p:spPr>
      </p:sp>
      <p:sp>
        <p:nvSpPr>
          <p:cNvPr id="35" name="Text 33"/>
          <p:cNvSpPr/>
          <p:nvPr/>
        </p:nvSpPr>
        <p:spPr>
          <a:xfrm>
            <a:off x="9079992" y="1737360"/>
            <a:ext cx="2157984" cy="274320"/>
          </a:xfrm>
          <a:prstGeom prst="rect">
            <a:avLst/>
          </a:prstGeom>
          <a:noFill/>
          <a:ln/>
        </p:spPr>
        <p:txBody>
          <a:bodyPr wrap="square" lIns="0" tIns="0" rIns="0" bIns="0" rtlCol="0" anchor="ctr">
            <a:normAutofit/>
          </a:bodyPr>
          <a:lstStyle/>
          <a:p>
            <a:pPr algn="ctr" indent="0" marL="0">
              <a:buNone/>
            </a:pPr>
            <a:r>
              <a:rPr lang="en-US" sz="1500" b="1" dirty="0">
                <a:solidFill>
                  <a:srgbClr val="0B2A45"/>
                </a:solidFill>
                <a:latin typeface="Arial" pitchFamily="34" charset="0"/>
                <a:ea typeface="Arial" pitchFamily="34" charset="-122"/>
                <a:cs typeface="Arial" pitchFamily="34" charset="-120"/>
              </a:rPr>
              <a:t>CRYPTO</a:t>
            </a:r>
            <a:endParaRPr lang="en-US" sz="1500" dirty="0"/>
          </a:p>
        </p:txBody>
      </p:sp>
      <p:sp>
        <p:nvSpPr>
          <p:cNvPr id="36" name="Shape 34"/>
          <p:cNvSpPr/>
          <p:nvPr/>
        </p:nvSpPr>
        <p:spPr>
          <a:xfrm>
            <a:off x="9134856" y="2139696"/>
            <a:ext cx="2048256" cy="0"/>
          </a:xfrm>
          <a:prstGeom prst="line">
            <a:avLst/>
          </a:prstGeom>
          <a:noFill/>
          <a:ln w="12700">
            <a:solidFill>
              <a:srgbClr val="CDE6E7"/>
            </a:solidFill>
            <a:prstDash val="solid"/>
          </a:ln>
        </p:spPr>
      </p:sp>
      <p:sp>
        <p:nvSpPr>
          <p:cNvPr id="37" name="Text 35"/>
          <p:cNvSpPr/>
          <p:nvPr/>
        </p:nvSpPr>
        <p:spPr>
          <a:xfrm>
            <a:off x="9079992" y="2359152"/>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MAE</a:t>
            </a:r>
            <a:endParaRPr lang="en-US" sz="770" dirty="0"/>
          </a:p>
        </p:txBody>
      </p:sp>
      <p:sp>
        <p:nvSpPr>
          <p:cNvPr id="38" name="Text 36"/>
          <p:cNvSpPr/>
          <p:nvPr/>
        </p:nvSpPr>
        <p:spPr>
          <a:xfrm>
            <a:off x="9079992" y="2578608"/>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068A95"/>
                </a:solidFill>
                <a:latin typeface="Arial" pitchFamily="34" charset="0"/>
                <a:ea typeface="Arial" pitchFamily="34" charset="-122"/>
                <a:cs typeface="Arial" pitchFamily="34" charset="-120"/>
              </a:rPr>
              <a:t>EDGE · 38.88</a:t>
            </a:r>
            <a:endParaRPr lang="en-US" sz="1440" dirty="0"/>
          </a:p>
        </p:txBody>
      </p:sp>
      <p:sp>
        <p:nvSpPr>
          <p:cNvPr id="39" name="Text 37"/>
          <p:cNvSpPr/>
          <p:nvPr/>
        </p:nvSpPr>
        <p:spPr>
          <a:xfrm>
            <a:off x="9079992" y="3108960"/>
            <a:ext cx="2157984" cy="164592"/>
          </a:xfrm>
          <a:prstGeom prst="rect">
            <a:avLst/>
          </a:prstGeom>
          <a:noFill/>
          <a:ln/>
        </p:spPr>
        <p:txBody>
          <a:bodyPr wrap="square" lIns="0" tIns="0" rIns="0" bIns="0" rtlCol="0" anchor="ctr">
            <a:normAutofit/>
          </a:bodyPr>
          <a:lstStyle/>
          <a:p>
            <a:pPr algn="ctr" indent="0" marL="0">
              <a:buNone/>
            </a:pPr>
            <a:r>
              <a:rPr lang="en-US" sz="770" b="1" dirty="0">
                <a:solidFill>
                  <a:srgbClr val="6F7E89"/>
                </a:solidFill>
                <a:latin typeface="Arial" pitchFamily="34" charset="0"/>
                <a:ea typeface="Arial" pitchFamily="34" charset="-122"/>
                <a:cs typeface="Arial" pitchFamily="34" charset="-120"/>
              </a:rPr>
              <a:t>LOWEST RMSE</a:t>
            </a:r>
            <a:endParaRPr lang="en-US" sz="770" dirty="0"/>
          </a:p>
        </p:txBody>
      </p:sp>
      <p:sp>
        <p:nvSpPr>
          <p:cNvPr id="40" name="Text 38"/>
          <p:cNvSpPr/>
          <p:nvPr/>
        </p:nvSpPr>
        <p:spPr>
          <a:xfrm>
            <a:off x="9079992" y="3328416"/>
            <a:ext cx="2157984" cy="329184"/>
          </a:xfrm>
          <a:prstGeom prst="rect">
            <a:avLst/>
          </a:prstGeom>
          <a:noFill/>
          <a:ln/>
        </p:spPr>
        <p:txBody>
          <a:bodyPr wrap="square" lIns="0" tIns="0" rIns="0" bIns="0" rtlCol="0" anchor="ctr">
            <a:normAutofit/>
          </a:bodyPr>
          <a:lstStyle/>
          <a:p>
            <a:pPr algn="ctr" indent="0" marL="0">
              <a:buNone/>
            </a:pPr>
            <a:r>
              <a:rPr lang="en-US" sz="1440" b="1" dirty="0">
                <a:solidFill>
                  <a:srgbClr val="068A95"/>
                </a:solidFill>
                <a:latin typeface="Arial" pitchFamily="34" charset="0"/>
                <a:ea typeface="Arial" pitchFamily="34" charset="-122"/>
                <a:cs typeface="Arial" pitchFamily="34" charset="-120"/>
              </a:rPr>
              <a:t>EDGE · 84.48</a:t>
            </a:r>
            <a:endParaRPr lang="en-US" sz="1440" dirty="0"/>
          </a:p>
        </p:txBody>
      </p:sp>
      <p:sp>
        <p:nvSpPr>
          <p:cNvPr id="41" name="Shape 39"/>
          <p:cNvSpPr/>
          <p:nvPr/>
        </p:nvSpPr>
        <p:spPr>
          <a:xfrm>
            <a:off x="9372600" y="4142232"/>
            <a:ext cx="1572768" cy="438912"/>
          </a:xfrm>
          <a:prstGeom prst="roundRect">
            <a:avLst>
              <a:gd name="adj" fmla="val 12500"/>
            </a:avLst>
          </a:prstGeom>
          <a:solidFill>
            <a:srgbClr val="FFFFFF"/>
          </a:solidFill>
          <a:ln w="12700">
            <a:solidFill>
              <a:srgbClr val="CDE6E7"/>
            </a:solidFill>
            <a:prstDash val="solid"/>
          </a:ln>
        </p:spPr>
      </p:sp>
      <p:sp>
        <p:nvSpPr>
          <p:cNvPr id="42" name="Text 40"/>
          <p:cNvSpPr/>
          <p:nvPr/>
        </p:nvSpPr>
        <p:spPr>
          <a:xfrm>
            <a:off x="9427464" y="4251960"/>
            <a:ext cx="1463040" cy="182880"/>
          </a:xfrm>
          <a:prstGeom prst="rect">
            <a:avLst/>
          </a:prstGeom>
          <a:noFill/>
          <a:ln/>
        </p:spPr>
        <p:txBody>
          <a:bodyPr wrap="square" lIns="0" tIns="0" rIns="0" bIns="0" rtlCol="0" anchor="ctr">
            <a:normAutofit/>
          </a:bodyPr>
          <a:lstStyle/>
          <a:p>
            <a:pPr algn="ctr" indent="0" marL="0">
              <a:buNone/>
            </a:pPr>
            <a:r>
              <a:rPr lang="en-US" sz="920" b="1" dirty="0">
                <a:solidFill>
                  <a:srgbClr val="0B2A45"/>
                </a:solidFill>
                <a:latin typeface="Arial" pitchFamily="34" charset="0"/>
                <a:ea typeface="Arial" pitchFamily="34" charset="-122"/>
                <a:cs typeface="Arial" pitchFamily="34" charset="-120"/>
              </a:rPr>
              <a:t>EDGE on both</a:t>
            </a:r>
            <a:endParaRPr lang="en-US" sz="920" dirty="0"/>
          </a:p>
        </p:txBody>
      </p:sp>
      <p:sp>
        <p:nvSpPr>
          <p:cNvPr id="43" name="Shape 41"/>
          <p:cNvSpPr/>
          <p:nvPr/>
        </p:nvSpPr>
        <p:spPr>
          <a:xfrm>
            <a:off x="1481328" y="5431536"/>
            <a:ext cx="9189720" cy="530352"/>
          </a:xfrm>
          <a:prstGeom prst="roundRect">
            <a:avLst>
              <a:gd name="adj" fmla="val 10345"/>
            </a:avLst>
          </a:prstGeom>
          <a:solidFill>
            <a:srgbClr val="F5F7F8"/>
          </a:solidFill>
          <a:ln w="12700">
            <a:solidFill>
              <a:srgbClr val="D9E0E5"/>
            </a:solidFill>
            <a:prstDash val="solid"/>
          </a:ln>
        </p:spPr>
      </p:sp>
      <p:sp>
        <p:nvSpPr>
          <p:cNvPr id="44" name="Text 42"/>
          <p:cNvSpPr/>
          <p:nvPr/>
        </p:nvSpPr>
        <p:spPr>
          <a:xfrm>
            <a:off x="1719072" y="5577840"/>
            <a:ext cx="8732520" cy="228600"/>
          </a:xfrm>
          <a:prstGeom prst="rect">
            <a:avLst/>
          </a:prstGeom>
          <a:noFill/>
          <a:ln/>
        </p:spPr>
        <p:txBody>
          <a:bodyPr wrap="square" lIns="0" tIns="0" rIns="0" bIns="0" rtlCol="0" anchor="ctr">
            <a:normAutofit/>
          </a:bodyPr>
          <a:lstStyle/>
          <a:p>
            <a:pPr algn="ctr" indent="0" marL="0">
              <a:buNone/>
            </a:pPr>
            <a:r>
              <a:rPr lang="en-US" sz="1310" b="1" dirty="0">
                <a:solidFill>
                  <a:srgbClr val="0B2A45"/>
                </a:solidFill>
                <a:latin typeface="Arial" pitchFamily="34" charset="0"/>
                <a:ea typeface="Arial" pitchFamily="34" charset="-122"/>
                <a:cs typeface="Arial" pitchFamily="34" charset="-120"/>
              </a:rPr>
              <a:t>Asset class changes the ranking: method choice depends on both market structure and the error criterion.</a:t>
            </a:r>
            <a:endParaRPr lang="en-US" sz="131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HYPOTHESIS CHECK</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What survived the data?</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Adverse and partial findings are retained rather than redefined</a:t>
            </a:r>
            <a:endParaRPr lang="en-US" sz="1070" dirty="0"/>
          </a:p>
        </p:txBody>
      </p:sp>
      <p:sp>
        <p:nvSpPr>
          <p:cNvPr id="5" name="Shape 3"/>
          <p:cNvSpPr/>
          <p:nvPr/>
        </p:nvSpPr>
        <p:spPr>
          <a:xfrm>
            <a:off x="594360" y="1508760"/>
            <a:ext cx="5440680" cy="1783080"/>
          </a:xfrm>
          <a:prstGeom prst="roundRect">
            <a:avLst>
              <a:gd name="adj" fmla="val 3077"/>
            </a:avLst>
          </a:prstGeom>
          <a:solidFill>
            <a:srgbClr val="FFFFFF"/>
          </a:solidFill>
          <a:ln w="12700">
            <a:solidFill>
              <a:srgbClr val="DDE4E8"/>
            </a:solidFill>
            <a:prstDash val="solid"/>
          </a:ln>
          <a:effectLst>
            <a:outerShdw sx="100000" sy="100000" kx="0" ky="0" algn="bl" rotWithShape="0" blurRad="19050" dist="50800" dir="2700000">
              <a:srgbClr val="DDE3E7">
                <a:alpha val="20000"/>
              </a:srgbClr>
            </a:outerShdw>
          </a:effectLst>
        </p:spPr>
      </p:sp>
      <p:sp>
        <p:nvSpPr>
          <p:cNvPr id="6" name="Shape 4"/>
          <p:cNvSpPr/>
          <p:nvPr/>
        </p:nvSpPr>
        <p:spPr>
          <a:xfrm>
            <a:off x="758952" y="1691640"/>
            <a:ext cx="548640" cy="420624"/>
          </a:xfrm>
          <a:prstGeom prst="roundRect">
            <a:avLst>
              <a:gd name="adj" fmla="val 13043"/>
            </a:avLst>
          </a:prstGeom>
          <a:solidFill>
            <a:srgbClr val="E2F2F3"/>
          </a:solidFill>
          <a:ln w="12700">
            <a:solidFill>
              <a:srgbClr val="E2F2F3"/>
            </a:solidFill>
            <a:prstDash val="solid"/>
          </a:ln>
        </p:spPr>
      </p:sp>
      <p:sp>
        <p:nvSpPr>
          <p:cNvPr id="7" name="Text 5"/>
          <p:cNvSpPr/>
          <p:nvPr/>
        </p:nvSpPr>
        <p:spPr>
          <a:xfrm>
            <a:off x="758952" y="1783080"/>
            <a:ext cx="548640" cy="182880"/>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H1</a:t>
            </a:r>
            <a:endParaRPr lang="en-US" sz="1100" dirty="0"/>
          </a:p>
        </p:txBody>
      </p:sp>
      <p:sp>
        <p:nvSpPr>
          <p:cNvPr id="8" name="Text 6"/>
          <p:cNvSpPr/>
          <p:nvPr/>
        </p:nvSpPr>
        <p:spPr>
          <a:xfrm>
            <a:off x="1472184" y="1673352"/>
            <a:ext cx="4206240" cy="365760"/>
          </a:xfrm>
          <a:prstGeom prst="rect">
            <a:avLst/>
          </a:prstGeom>
          <a:noFill/>
          <a:ln/>
        </p:spPr>
        <p:txBody>
          <a:bodyPr wrap="square" lIns="0" tIns="0" rIns="0" bIns="0" rtlCol="0" anchor="ctr">
            <a:normAutofit/>
          </a:bodyPr>
          <a:lstStyle/>
          <a:p>
            <a:pPr algn="l" indent="0" marL="0">
              <a:buNone/>
            </a:pPr>
            <a:r>
              <a:rPr lang="en-US" sz="1400" b="1" dirty="0">
                <a:solidFill>
                  <a:srgbClr val="0B2A45"/>
                </a:solidFill>
                <a:latin typeface="Arial" pitchFamily="34" charset="0"/>
                <a:ea typeface="Arial" pitchFamily="34" charset="-122"/>
                <a:cs typeface="Arial" pitchFamily="34" charset="-120"/>
              </a:rPr>
              <a:t>EDGE dominates accuracy</a:t>
            </a:r>
            <a:endParaRPr lang="en-US" sz="1400" dirty="0"/>
          </a:p>
        </p:txBody>
      </p:sp>
      <p:sp>
        <p:nvSpPr>
          <p:cNvPr id="9" name="Text 7"/>
          <p:cNvSpPr/>
          <p:nvPr/>
        </p:nvSpPr>
        <p:spPr>
          <a:xfrm>
            <a:off x="1472184" y="2148840"/>
            <a:ext cx="4206240" cy="292608"/>
          </a:xfrm>
          <a:prstGeom prst="rect">
            <a:avLst/>
          </a:prstGeom>
          <a:noFill/>
          <a:ln/>
        </p:spPr>
        <p:txBody>
          <a:bodyPr wrap="square" lIns="0" tIns="0" rIns="0" bIns="0" rtlCol="0" anchor="ctr">
            <a:normAutofit/>
          </a:bodyPr>
          <a:lstStyle/>
          <a:p>
            <a:pPr algn="l" indent="0" marL="0">
              <a:buNone/>
            </a:pPr>
            <a:r>
              <a:rPr lang="en-US" sz="1070" dirty="0">
                <a:solidFill>
                  <a:srgbClr val="20313F"/>
                </a:solidFill>
                <a:latin typeface="Arial" pitchFamily="34" charset="0"/>
                <a:ea typeface="Arial" pitchFamily="34" charset="-122"/>
                <a:cs typeface="Arial" pitchFamily="34" charset="-120"/>
              </a:rPr>
              <a:t>Overall yes; universal no</a:t>
            </a:r>
            <a:endParaRPr lang="en-US" sz="1070" dirty="0"/>
          </a:p>
        </p:txBody>
      </p:sp>
      <p:sp>
        <p:nvSpPr>
          <p:cNvPr id="10" name="Shape 8"/>
          <p:cNvSpPr/>
          <p:nvPr/>
        </p:nvSpPr>
        <p:spPr>
          <a:xfrm>
            <a:off x="1472184" y="2569464"/>
            <a:ext cx="2331720" cy="393192"/>
          </a:xfrm>
          <a:prstGeom prst="roundRect">
            <a:avLst>
              <a:gd name="adj" fmla="val 13953"/>
            </a:avLst>
          </a:prstGeom>
          <a:solidFill>
            <a:srgbClr val="E2F2F3"/>
          </a:solidFill>
          <a:ln w="12700">
            <a:solidFill>
              <a:srgbClr val="E2F2F3"/>
            </a:solidFill>
            <a:prstDash val="solid"/>
          </a:ln>
        </p:spPr>
      </p:sp>
      <p:sp>
        <p:nvSpPr>
          <p:cNvPr id="11" name="Text 9"/>
          <p:cNvSpPr/>
          <p:nvPr/>
        </p:nvSpPr>
        <p:spPr>
          <a:xfrm>
            <a:off x="1536192" y="2670048"/>
            <a:ext cx="2194560" cy="164592"/>
          </a:xfrm>
          <a:prstGeom prst="rect">
            <a:avLst/>
          </a:prstGeom>
          <a:noFill/>
          <a:ln/>
        </p:spPr>
        <p:txBody>
          <a:bodyPr wrap="square" lIns="0" tIns="0" rIns="0" bIns="0" rtlCol="0" anchor="ctr">
            <a:normAutofit/>
          </a:bodyPr>
          <a:lstStyle/>
          <a:p>
            <a:pPr algn="ctr" indent="0" marL="0">
              <a:buNone/>
            </a:pPr>
            <a:r>
              <a:rPr lang="en-US" sz="840" b="1" dirty="0">
                <a:solidFill>
                  <a:srgbClr val="068A95"/>
                </a:solidFill>
                <a:latin typeface="Arial" pitchFamily="34" charset="0"/>
                <a:ea typeface="Arial" pitchFamily="34" charset="-122"/>
                <a:cs typeface="Arial" pitchFamily="34" charset="-120"/>
              </a:rPr>
              <a:t>PARTIALLY SUPPORTED</a:t>
            </a:r>
            <a:endParaRPr lang="en-US" sz="840" dirty="0"/>
          </a:p>
        </p:txBody>
      </p:sp>
      <p:sp>
        <p:nvSpPr>
          <p:cNvPr id="12" name="Shape 10"/>
          <p:cNvSpPr/>
          <p:nvPr/>
        </p:nvSpPr>
        <p:spPr>
          <a:xfrm>
            <a:off x="6126480" y="1508760"/>
            <a:ext cx="5440680" cy="1783080"/>
          </a:xfrm>
          <a:prstGeom prst="roundRect">
            <a:avLst>
              <a:gd name="adj" fmla="val 3077"/>
            </a:avLst>
          </a:prstGeom>
          <a:solidFill>
            <a:srgbClr val="FFFFFF"/>
          </a:solidFill>
          <a:ln w="12700">
            <a:solidFill>
              <a:srgbClr val="DDE4E8"/>
            </a:solidFill>
            <a:prstDash val="solid"/>
          </a:ln>
          <a:effectLst>
            <a:outerShdw sx="100000" sy="100000" kx="0" ky="0" algn="bl" rotWithShape="0" blurRad="19050" dist="50800" dir="2700000">
              <a:srgbClr val="DDE3E7">
                <a:alpha val="20000"/>
              </a:srgbClr>
            </a:outerShdw>
          </a:effectLst>
        </p:spPr>
      </p:sp>
      <p:sp>
        <p:nvSpPr>
          <p:cNvPr id="13" name="Shape 11"/>
          <p:cNvSpPr/>
          <p:nvPr/>
        </p:nvSpPr>
        <p:spPr>
          <a:xfrm>
            <a:off x="6291072" y="1691640"/>
            <a:ext cx="548640" cy="420624"/>
          </a:xfrm>
          <a:prstGeom prst="roundRect">
            <a:avLst>
              <a:gd name="adj" fmla="val 13043"/>
            </a:avLst>
          </a:prstGeom>
          <a:solidFill>
            <a:srgbClr val="E2F2F3"/>
          </a:solidFill>
          <a:ln w="12700">
            <a:solidFill>
              <a:srgbClr val="E2F2F3"/>
            </a:solidFill>
            <a:prstDash val="solid"/>
          </a:ln>
        </p:spPr>
      </p:sp>
      <p:sp>
        <p:nvSpPr>
          <p:cNvPr id="14" name="Text 12"/>
          <p:cNvSpPr/>
          <p:nvPr/>
        </p:nvSpPr>
        <p:spPr>
          <a:xfrm>
            <a:off x="6291072" y="1783080"/>
            <a:ext cx="548640" cy="182880"/>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H2</a:t>
            </a:r>
            <a:endParaRPr lang="en-US" sz="1100" dirty="0"/>
          </a:p>
        </p:txBody>
      </p:sp>
      <p:sp>
        <p:nvSpPr>
          <p:cNvPr id="15" name="Text 13"/>
          <p:cNvSpPr/>
          <p:nvPr/>
        </p:nvSpPr>
        <p:spPr>
          <a:xfrm>
            <a:off x="7004304" y="1673352"/>
            <a:ext cx="4206240" cy="365760"/>
          </a:xfrm>
          <a:prstGeom prst="rect">
            <a:avLst/>
          </a:prstGeom>
          <a:noFill/>
          <a:ln/>
        </p:spPr>
        <p:txBody>
          <a:bodyPr wrap="square" lIns="0" tIns="0" rIns="0" bIns="0" rtlCol="0" anchor="ctr">
            <a:normAutofit/>
          </a:bodyPr>
          <a:lstStyle/>
          <a:p>
            <a:pPr algn="l" indent="0" marL="0">
              <a:buNone/>
            </a:pPr>
            <a:r>
              <a:rPr lang="en-US" sz="1400" b="1" dirty="0">
                <a:solidFill>
                  <a:srgbClr val="0B2A45"/>
                </a:solidFill>
                <a:latin typeface="Arial" pitchFamily="34" charset="0"/>
                <a:ea typeface="Arial" pitchFamily="34" charset="-122"/>
                <a:cs typeface="Arial" pitchFamily="34" charset="-120"/>
              </a:rPr>
              <a:t>EDGE lowest negative rate</a:t>
            </a:r>
            <a:endParaRPr lang="en-US" sz="1400" dirty="0"/>
          </a:p>
        </p:txBody>
      </p:sp>
      <p:sp>
        <p:nvSpPr>
          <p:cNvPr id="16" name="Text 14"/>
          <p:cNvSpPr/>
          <p:nvPr/>
        </p:nvSpPr>
        <p:spPr>
          <a:xfrm>
            <a:off x="7004304" y="2148840"/>
            <a:ext cx="4206240" cy="292608"/>
          </a:xfrm>
          <a:prstGeom prst="rect">
            <a:avLst/>
          </a:prstGeom>
          <a:noFill/>
          <a:ln/>
        </p:spPr>
        <p:txBody>
          <a:bodyPr wrap="square" lIns="0" tIns="0" rIns="0" bIns="0" rtlCol="0" anchor="ctr">
            <a:normAutofit/>
          </a:bodyPr>
          <a:lstStyle/>
          <a:p>
            <a:pPr algn="l" indent="0" marL="0">
              <a:buNone/>
            </a:pPr>
            <a:r>
              <a:rPr lang="en-US" sz="1070" dirty="0">
                <a:solidFill>
                  <a:srgbClr val="20313F"/>
                </a:solidFill>
                <a:latin typeface="Arial" pitchFamily="34" charset="0"/>
                <a:ea typeface="Arial" pitchFamily="34" charset="-122"/>
                <a:cs typeface="Arial" pitchFamily="34" charset="-120"/>
              </a:rPr>
              <a:t>Lowest overall; class exceptions</a:t>
            </a:r>
            <a:endParaRPr lang="en-US" sz="1070" dirty="0"/>
          </a:p>
        </p:txBody>
      </p:sp>
      <p:sp>
        <p:nvSpPr>
          <p:cNvPr id="17" name="Shape 15"/>
          <p:cNvSpPr/>
          <p:nvPr/>
        </p:nvSpPr>
        <p:spPr>
          <a:xfrm>
            <a:off x="7004304" y="2569464"/>
            <a:ext cx="2331720" cy="393192"/>
          </a:xfrm>
          <a:prstGeom prst="roundRect">
            <a:avLst>
              <a:gd name="adj" fmla="val 13953"/>
            </a:avLst>
          </a:prstGeom>
          <a:solidFill>
            <a:srgbClr val="E2F2F3"/>
          </a:solidFill>
          <a:ln w="12700">
            <a:solidFill>
              <a:srgbClr val="E2F2F3"/>
            </a:solidFill>
            <a:prstDash val="solid"/>
          </a:ln>
        </p:spPr>
      </p:sp>
      <p:sp>
        <p:nvSpPr>
          <p:cNvPr id="18" name="Text 16"/>
          <p:cNvSpPr/>
          <p:nvPr/>
        </p:nvSpPr>
        <p:spPr>
          <a:xfrm>
            <a:off x="7068312" y="2670048"/>
            <a:ext cx="2194560" cy="164592"/>
          </a:xfrm>
          <a:prstGeom prst="rect">
            <a:avLst/>
          </a:prstGeom>
          <a:noFill/>
          <a:ln/>
        </p:spPr>
        <p:txBody>
          <a:bodyPr wrap="square" lIns="0" tIns="0" rIns="0" bIns="0" rtlCol="0" anchor="ctr">
            <a:normAutofit/>
          </a:bodyPr>
          <a:lstStyle/>
          <a:p>
            <a:pPr algn="ctr" indent="0" marL="0">
              <a:buNone/>
            </a:pPr>
            <a:r>
              <a:rPr lang="en-US" sz="840" b="1" dirty="0">
                <a:solidFill>
                  <a:srgbClr val="068A95"/>
                </a:solidFill>
                <a:latin typeface="Arial" pitchFamily="34" charset="0"/>
                <a:ea typeface="Arial" pitchFamily="34" charset="-122"/>
                <a:cs typeface="Arial" pitchFamily="34" charset="-120"/>
              </a:rPr>
              <a:t>PARTIALLY SUPPORTED</a:t>
            </a:r>
            <a:endParaRPr lang="en-US" sz="840" dirty="0"/>
          </a:p>
        </p:txBody>
      </p:sp>
      <p:sp>
        <p:nvSpPr>
          <p:cNvPr id="19" name="Shape 17"/>
          <p:cNvSpPr/>
          <p:nvPr/>
        </p:nvSpPr>
        <p:spPr>
          <a:xfrm>
            <a:off x="594360" y="3703320"/>
            <a:ext cx="5440680" cy="1783080"/>
          </a:xfrm>
          <a:prstGeom prst="roundRect">
            <a:avLst>
              <a:gd name="adj" fmla="val 3077"/>
            </a:avLst>
          </a:prstGeom>
          <a:solidFill>
            <a:srgbClr val="FFFFFF"/>
          </a:solidFill>
          <a:ln w="12700">
            <a:solidFill>
              <a:srgbClr val="DDE4E8"/>
            </a:solidFill>
            <a:prstDash val="solid"/>
          </a:ln>
          <a:effectLst>
            <a:outerShdw sx="100000" sy="100000" kx="0" ky="0" algn="bl" rotWithShape="0" blurRad="19050" dist="50800" dir="2700000">
              <a:srgbClr val="DDE3E7">
                <a:alpha val="20000"/>
              </a:srgbClr>
            </a:outerShdw>
          </a:effectLst>
        </p:spPr>
      </p:sp>
      <p:sp>
        <p:nvSpPr>
          <p:cNvPr id="20" name="Shape 18"/>
          <p:cNvSpPr/>
          <p:nvPr/>
        </p:nvSpPr>
        <p:spPr>
          <a:xfrm>
            <a:off x="758952" y="3886200"/>
            <a:ext cx="548640" cy="420624"/>
          </a:xfrm>
          <a:prstGeom prst="roundRect">
            <a:avLst>
              <a:gd name="adj" fmla="val 13043"/>
            </a:avLst>
          </a:prstGeom>
          <a:solidFill>
            <a:srgbClr val="F7EEDB"/>
          </a:solidFill>
          <a:ln w="12700">
            <a:solidFill>
              <a:srgbClr val="F7EEDB"/>
            </a:solidFill>
            <a:prstDash val="solid"/>
          </a:ln>
        </p:spPr>
      </p:sp>
      <p:sp>
        <p:nvSpPr>
          <p:cNvPr id="21" name="Text 19"/>
          <p:cNvSpPr/>
          <p:nvPr/>
        </p:nvSpPr>
        <p:spPr>
          <a:xfrm>
            <a:off x="758952" y="3977640"/>
            <a:ext cx="548640" cy="182880"/>
          </a:xfrm>
          <a:prstGeom prst="rect">
            <a:avLst/>
          </a:prstGeom>
          <a:noFill/>
          <a:ln/>
        </p:spPr>
        <p:txBody>
          <a:bodyPr wrap="square" lIns="0" tIns="0" rIns="0" bIns="0" rtlCol="0" anchor="ctr">
            <a:normAutofit/>
          </a:bodyPr>
          <a:lstStyle/>
          <a:p>
            <a:pPr algn="ctr" indent="0" marL="0">
              <a:buNone/>
            </a:pPr>
            <a:r>
              <a:rPr lang="en-US" sz="1100" b="1" dirty="0">
                <a:solidFill>
                  <a:srgbClr val="C8902F"/>
                </a:solidFill>
                <a:latin typeface="Arial" pitchFamily="34" charset="0"/>
                <a:ea typeface="Arial" pitchFamily="34" charset="-122"/>
                <a:cs typeface="Arial" pitchFamily="34" charset="-120"/>
              </a:rPr>
              <a:t>H3</a:t>
            </a:r>
            <a:endParaRPr lang="en-US" sz="1100" dirty="0"/>
          </a:p>
        </p:txBody>
      </p:sp>
      <p:sp>
        <p:nvSpPr>
          <p:cNvPr id="22" name="Text 20"/>
          <p:cNvSpPr/>
          <p:nvPr/>
        </p:nvSpPr>
        <p:spPr>
          <a:xfrm>
            <a:off x="1472184" y="3867912"/>
            <a:ext cx="4206240" cy="365760"/>
          </a:xfrm>
          <a:prstGeom prst="rect">
            <a:avLst/>
          </a:prstGeom>
          <a:noFill/>
          <a:ln/>
        </p:spPr>
        <p:txBody>
          <a:bodyPr wrap="square" lIns="0" tIns="0" rIns="0" bIns="0" rtlCol="0" anchor="ctr">
            <a:normAutofit/>
          </a:bodyPr>
          <a:lstStyle/>
          <a:p>
            <a:pPr algn="l" indent="0" marL="0">
              <a:buNone/>
            </a:pPr>
            <a:r>
              <a:rPr lang="en-US" sz="1400" b="1" dirty="0">
                <a:solidFill>
                  <a:srgbClr val="0B2A45"/>
                </a:solidFill>
                <a:latin typeface="Arial" pitchFamily="34" charset="0"/>
                <a:ea typeface="Arial" pitchFamily="34" charset="-122"/>
                <a:cs typeface="Arial" pitchFamily="34" charset="-120"/>
              </a:rPr>
              <a:t>CS downward bias in LOW liquidity</a:t>
            </a:r>
            <a:endParaRPr lang="en-US" sz="1400" dirty="0"/>
          </a:p>
        </p:txBody>
      </p:sp>
      <p:sp>
        <p:nvSpPr>
          <p:cNvPr id="23" name="Text 21"/>
          <p:cNvSpPr/>
          <p:nvPr/>
        </p:nvSpPr>
        <p:spPr>
          <a:xfrm>
            <a:off x="1472184" y="4343400"/>
            <a:ext cx="4206240" cy="292608"/>
          </a:xfrm>
          <a:prstGeom prst="rect">
            <a:avLst/>
          </a:prstGeom>
          <a:noFill/>
          <a:ln/>
        </p:spPr>
        <p:txBody>
          <a:bodyPr wrap="square" lIns="0" tIns="0" rIns="0" bIns="0" rtlCol="0" anchor="ctr">
            <a:normAutofit/>
          </a:bodyPr>
          <a:lstStyle/>
          <a:p>
            <a:pPr algn="l" indent="0" marL="0">
              <a:buNone/>
            </a:pPr>
            <a:r>
              <a:rPr lang="en-US" sz="1070" dirty="0">
                <a:solidFill>
                  <a:srgbClr val="20313F"/>
                </a:solidFill>
                <a:latin typeface="Arial" pitchFamily="34" charset="0"/>
                <a:ea typeface="Arial" pitchFamily="34" charset="-122"/>
                <a:cs typeface="Arial" pitchFamily="34" charset="-120"/>
              </a:rPr>
              <a:t>Observed bias positive in all 4 classes</a:t>
            </a:r>
            <a:endParaRPr lang="en-US" sz="1070" dirty="0"/>
          </a:p>
        </p:txBody>
      </p:sp>
      <p:sp>
        <p:nvSpPr>
          <p:cNvPr id="24" name="Shape 22"/>
          <p:cNvSpPr/>
          <p:nvPr/>
        </p:nvSpPr>
        <p:spPr>
          <a:xfrm>
            <a:off x="1472184" y="4764024"/>
            <a:ext cx="2331720" cy="393192"/>
          </a:xfrm>
          <a:prstGeom prst="roundRect">
            <a:avLst>
              <a:gd name="adj" fmla="val 13953"/>
            </a:avLst>
          </a:prstGeom>
          <a:solidFill>
            <a:srgbClr val="F7EEDB"/>
          </a:solidFill>
          <a:ln w="12700">
            <a:solidFill>
              <a:srgbClr val="F7EEDB"/>
            </a:solidFill>
            <a:prstDash val="solid"/>
          </a:ln>
        </p:spPr>
      </p:sp>
      <p:sp>
        <p:nvSpPr>
          <p:cNvPr id="25" name="Text 23"/>
          <p:cNvSpPr/>
          <p:nvPr/>
        </p:nvSpPr>
        <p:spPr>
          <a:xfrm>
            <a:off x="1536192" y="4864608"/>
            <a:ext cx="2194560" cy="164592"/>
          </a:xfrm>
          <a:prstGeom prst="rect">
            <a:avLst/>
          </a:prstGeom>
          <a:noFill/>
          <a:ln/>
        </p:spPr>
        <p:txBody>
          <a:bodyPr wrap="square" lIns="0" tIns="0" rIns="0" bIns="0" rtlCol="0" anchor="ctr">
            <a:normAutofit/>
          </a:bodyPr>
          <a:lstStyle/>
          <a:p>
            <a:pPr algn="ctr" indent="0" marL="0">
              <a:buNone/>
            </a:pPr>
            <a:r>
              <a:rPr lang="en-US" sz="840" b="1" dirty="0">
                <a:solidFill>
                  <a:srgbClr val="C8902F"/>
                </a:solidFill>
                <a:latin typeface="Arial" pitchFamily="34" charset="0"/>
                <a:ea typeface="Arial" pitchFamily="34" charset="-122"/>
                <a:cs typeface="Arial" pitchFamily="34" charset="-120"/>
              </a:rPr>
              <a:t>NOT SUPPORTED</a:t>
            </a:r>
            <a:endParaRPr lang="en-US" sz="840" dirty="0"/>
          </a:p>
        </p:txBody>
      </p:sp>
      <p:sp>
        <p:nvSpPr>
          <p:cNvPr id="26" name="Shape 24"/>
          <p:cNvSpPr/>
          <p:nvPr/>
        </p:nvSpPr>
        <p:spPr>
          <a:xfrm>
            <a:off x="6126480" y="3703320"/>
            <a:ext cx="5440680" cy="1783080"/>
          </a:xfrm>
          <a:prstGeom prst="roundRect">
            <a:avLst>
              <a:gd name="adj" fmla="val 3077"/>
            </a:avLst>
          </a:prstGeom>
          <a:solidFill>
            <a:srgbClr val="FFFFFF"/>
          </a:solidFill>
          <a:ln w="12700">
            <a:solidFill>
              <a:srgbClr val="DDE4E8"/>
            </a:solidFill>
            <a:prstDash val="solid"/>
          </a:ln>
          <a:effectLst>
            <a:outerShdw sx="100000" sy="100000" kx="0" ky="0" algn="bl" rotWithShape="0" blurRad="19050" dist="50800" dir="2700000">
              <a:srgbClr val="DDE3E7">
                <a:alpha val="20000"/>
              </a:srgbClr>
            </a:outerShdw>
          </a:effectLst>
        </p:spPr>
      </p:sp>
      <p:sp>
        <p:nvSpPr>
          <p:cNvPr id="27" name="Shape 25"/>
          <p:cNvSpPr/>
          <p:nvPr/>
        </p:nvSpPr>
        <p:spPr>
          <a:xfrm>
            <a:off x="6291072" y="3886200"/>
            <a:ext cx="548640" cy="420624"/>
          </a:xfrm>
          <a:prstGeom prst="roundRect">
            <a:avLst>
              <a:gd name="adj" fmla="val 13043"/>
            </a:avLst>
          </a:prstGeom>
          <a:solidFill>
            <a:srgbClr val="F7EEDB"/>
          </a:solidFill>
          <a:ln w="12700">
            <a:solidFill>
              <a:srgbClr val="F7EEDB"/>
            </a:solidFill>
            <a:prstDash val="solid"/>
          </a:ln>
        </p:spPr>
      </p:sp>
      <p:sp>
        <p:nvSpPr>
          <p:cNvPr id="28" name="Text 26"/>
          <p:cNvSpPr/>
          <p:nvPr/>
        </p:nvSpPr>
        <p:spPr>
          <a:xfrm>
            <a:off x="6291072" y="3977640"/>
            <a:ext cx="548640" cy="182880"/>
          </a:xfrm>
          <a:prstGeom prst="rect">
            <a:avLst/>
          </a:prstGeom>
          <a:noFill/>
          <a:ln/>
        </p:spPr>
        <p:txBody>
          <a:bodyPr wrap="square" lIns="0" tIns="0" rIns="0" bIns="0" rtlCol="0" anchor="ctr">
            <a:normAutofit/>
          </a:bodyPr>
          <a:lstStyle/>
          <a:p>
            <a:pPr algn="ctr" indent="0" marL="0">
              <a:buNone/>
            </a:pPr>
            <a:r>
              <a:rPr lang="en-US" sz="1100" b="1" dirty="0">
                <a:solidFill>
                  <a:srgbClr val="C8902F"/>
                </a:solidFill>
                <a:latin typeface="Arial" pitchFamily="34" charset="0"/>
                <a:ea typeface="Arial" pitchFamily="34" charset="-122"/>
                <a:cs typeface="Arial" pitchFamily="34" charset="-120"/>
              </a:rPr>
              <a:t>H4</a:t>
            </a:r>
            <a:endParaRPr lang="en-US" sz="1100" dirty="0"/>
          </a:p>
        </p:txBody>
      </p:sp>
      <p:sp>
        <p:nvSpPr>
          <p:cNvPr id="29" name="Text 27"/>
          <p:cNvSpPr/>
          <p:nvPr/>
        </p:nvSpPr>
        <p:spPr>
          <a:xfrm>
            <a:off x="7004304" y="3867912"/>
            <a:ext cx="4206240" cy="365760"/>
          </a:xfrm>
          <a:prstGeom prst="rect">
            <a:avLst/>
          </a:prstGeom>
          <a:noFill/>
          <a:ln/>
        </p:spPr>
        <p:txBody>
          <a:bodyPr wrap="square" lIns="0" tIns="0" rIns="0" bIns="0" rtlCol="0" anchor="ctr">
            <a:normAutofit/>
          </a:bodyPr>
          <a:lstStyle/>
          <a:p>
            <a:pPr algn="l" indent="0" marL="0">
              <a:buNone/>
            </a:pPr>
            <a:r>
              <a:rPr lang="en-US" sz="1400" b="1" dirty="0">
                <a:solidFill>
                  <a:srgbClr val="0B2A45"/>
                </a:solidFill>
                <a:latin typeface="Arial" pitchFamily="34" charset="0"/>
                <a:ea typeface="Arial" pitchFamily="34" charset="-122"/>
                <a:cs typeface="Arial" pitchFamily="34" charset="-120"/>
              </a:rPr>
              <a:t>Stable rankings across classes</a:t>
            </a:r>
            <a:endParaRPr lang="en-US" sz="1400" dirty="0"/>
          </a:p>
        </p:txBody>
      </p:sp>
      <p:sp>
        <p:nvSpPr>
          <p:cNvPr id="30" name="Text 28"/>
          <p:cNvSpPr/>
          <p:nvPr/>
        </p:nvSpPr>
        <p:spPr>
          <a:xfrm>
            <a:off x="7004304" y="4343400"/>
            <a:ext cx="4206240" cy="292608"/>
          </a:xfrm>
          <a:prstGeom prst="rect">
            <a:avLst/>
          </a:prstGeom>
          <a:noFill/>
          <a:ln/>
        </p:spPr>
        <p:txBody>
          <a:bodyPr wrap="square" lIns="0" tIns="0" rIns="0" bIns="0" rtlCol="0" anchor="ctr">
            <a:normAutofit/>
          </a:bodyPr>
          <a:lstStyle/>
          <a:p>
            <a:pPr algn="l" indent="0" marL="0">
              <a:buNone/>
            </a:pPr>
            <a:r>
              <a:rPr lang="en-US" sz="1070" dirty="0">
                <a:solidFill>
                  <a:srgbClr val="20313F"/>
                </a:solidFill>
                <a:latin typeface="Arial" pitchFamily="34" charset="0"/>
                <a:ea typeface="Arial" pitchFamily="34" charset="-122"/>
                <a:cs typeface="Arial" pitchFamily="34" charset="-120"/>
              </a:rPr>
              <a:t>ETF and stock boundaries differ</a:t>
            </a:r>
            <a:endParaRPr lang="en-US" sz="1070" dirty="0"/>
          </a:p>
        </p:txBody>
      </p:sp>
      <p:sp>
        <p:nvSpPr>
          <p:cNvPr id="31" name="Shape 29"/>
          <p:cNvSpPr/>
          <p:nvPr/>
        </p:nvSpPr>
        <p:spPr>
          <a:xfrm>
            <a:off x="7004304" y="4764024"/>
            <a:ext cx="2331720" cy="393192"/>
          </a:xfrm>
          <a:prstGeom prst="roundRect">
            <a:avLst>
              <a:gd name="adj" fmla="val 13953"/>
            </a:avLst>
          </a:prstGeom>
          <a:solidFill>
            <a:srgbClr val="F7EEDB"/>
          </a:solidFill>
          <a:ln w="12700">
            <a:solidFill>
              <a:srgbClr val="F7EEDB"/>
            </a:solidFill>
            <a:prstDash val="solid"/>
          </a:ln>
        </p:spPr>
      </p:sp>
      <p:sp>
        <p:nvSpPr>
          <p:cNvPr id="32" name="Text 30"/>
          <p:cNvSpPr/>
          <p:nvPr/>
        </p:nvSpPr>
        <p:spPr>
          <a:xfrm>
            <a:off x="7068312" y="4864608"/>
            <a:ext cx="2194560" cy="164592"/>
          </a:xfrm>
          <a:prstGeom prst="rect">
            <a:avLst/>
          </a:prstGeom>
          <a:noFill/>
          <a:ln/>
        </p:spPr>
        <p:txBody>
          <a:bodyPr wrap="square" lIns="0" tIns="0" rIns="0" bIns="0" rtlCol="0" anchor="ctr">
            <a:normAutofit/>
          </a:bodyPr>
          <a:lstStyle/>
          <a:p>
            <a:pPr algn="ctr" indent="0" marL="0">
              <a:buNone/>
            </a:pPr>
            <a:r>
              <a:rPr lang="en-US" sz="840" b="1" dirty="0">
                <a:solidFill>
                  <a:srgbClr val="C8902F"/>
                </a:solidFill>
                <a:latin typeface="Arial" pitchFamily="34" charset="0"/>
                <a:ea typeface="Arial" pitchFamily="34" charset="-122"/>
                <a:cs typeface="Arial" pitchFamily="34" charset="-120"/>
              </a:rPr>
              <a:t>NOT SUPPORTED</a:t>
            </a:r>
            <a:endParaRPr lang="en-US" sz="840" dirty="0"/>
          </a:p>
        </p:txBody>
      </p:sp>
      <p:sp>
        <p:nvSpPr>
          <p:cNvPr id="33" name="Text 31"/>
          <p:cNvSpPr/>
          <p:nvPr/>
        </p:nvSpPr>
        <p:spPr>
          <a:xfrm>
            <a:off x="640080" y="5788152"/>
            <a:ext cx="10789920" cy="256032"/>
          </a:xfrm>
          <a:prstGeom prst="rect">
            <a:avLst/>
          </a:prstGeom>
          <a:noFill/>
          <a:ln/>
        </p:spPr>
        <p:txBody>
          <a:bodyPr wrap="square" lIns="0" tIns="0" rIns="0" bIns="0" rtlCol="0" anchor="ctr">
            <a:normAutofit/>
          </a:bodyPr>
          <a:lstStyle/>
          <a:p>
            <a:pPr algn="ctr" indent="0" marL="0">
              <a:buNone/>
            </a:pPr>
            <a:r>
              <a:rPr lang="en-US" sz="930" dirty="0">
                <a:solidFill>
                  <a:srgbClr val="6F7E89"/>
                </a:solidFill>
                <a:latin typeface="Arial" pitchFamily="34" charset="0"/>
                <a:ea typeface="Arial" pitchFamily="34" charset="-122"/>
                <a:cs typeface="Arial" pitchFamily="34" charset="-120"/>
              </a:rPr>
              <a:t>Raw negatives are not failures; all conclusions are conditional on the frozen Roll benchmark and retained sample.</a:t>
            </a:r>
            <a:endParaRPr lang="en-US" sz="93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DATA LIMITATION</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Roll availability is the main sample bottleneck</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Accuracy is conditional on the benchmark and all estimators being defined</a:t>
            </a:r>
            <a:endParaRPr lang="en-US" sz="1070" dirty="0"/>
          </a:p>
        </p:txBody>
      </p:sp>
      <p:sp>
        <p:nvSpPr>
          <p:cNvPr id="5" name="Shape 3"/>
          <p:cNvSpPr/>
          <p:nvPr/>
        </p:nvSpPr>
        <p:spPr>
          <a:xfrm>
            <a:off x="10076688" y="246888"/>
            <a:ext cx="1920240" cy="256032"/>
          </a:xfrm>
          <a:prstGeom prst="roundRect">
            <a:avLst>
              <a:gd name="adj" fmla="val 14286"/>
            </a:avLst>
          </a:prstGeom>
          <a:solidFill>
            <a:srgbClr val="F7EEDB"/>
          </a:solidFill>
          <a:ln w="12700">
            <a:solidFill>
              <a:srgbClr val="F7EEDB"/>
            </a:solidFill>
            <a:prstDash val="solid"/>
          </a:ln>
        </p:spPr>
      </p:sp>
      <p:sp>
        <p:nvSpPr>
          <p:cNvPr id="6" name="Text 4"/>
          <p:cNvSpPr/>
          <p:nvPr/>
        </p:nvSpPr>
        <p:spPr>
          <a:xfrm>
            <a:off x="10149840"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C8902F"/>
                </a:solidFill>
              </a:rPr>
              <a:t>LIMITATION</a:t>
            </a:r>
            <a:endParaRPr lang="en-US" sz="740" dirty="0"/>
          </a:p>
        </p:txBody>
      </p:sp>
      <p:sp>
        <p:nvSpPr>
          <p:cNvPr id="7" name="Text 5"/>
          <p:cNvSpPr/>
          <p:nvPr/>
        </p:nvSpPr>
        <p:spPr>
          <a:xfrm>
            <a:off x="594360" y="1444752"/>
            <a:ext cx="1828800" cy="164592"/>
          </a:xfrm>
          <a:prstGeom prst="rect">
            <a:avLst/>
          </a:prstGeom>
          <a:noFill/>
          <a:ln/>
        </p:spPr>
        <p:txBody>
          <a:bodyPr wrap="square" lIns="0" tIns="0" rIns="0" bIns="0" rtlCol="0" anchor="ctr">
            <a:normAutofit/>
          </a:bodyPr>
          <a:lstStyle/>
          <a:p>
            <a:pPr algn="l" indent="0" marL="0">
              <a:buNone/>
            </a:pPr>
            <a:r>
              <a:rPr lang="en-US" sz="750" b="1" dirty="0">
                <a:solidFill>
                  <a:srgbClr val="C8902F"/>
                </a:solidFill>
                <a:latin typeface="Arial" pitchFamily="34" charset="0"/>
                <a:ea typeface="Arial" pitchFamily="34" charset="-122"/>
                <a:cs typeface="Arial" pitchFamily="34" charset="-120"/>
              </a:rPr>
              <a:t>ROLL UNDEFINED RATE</a:t>
            </a:r>
            <a:endParaRPr lang="en-US" sz="750" dirty="0"/>
          </a:p>
        </p:txBody>
      </p:sp>
      <p:sp>
        <p:nvSpPr>
          <p:cNvPr id="8" name="Text 6"/>
          <p:cNvSpPr/>
          <p:nvPr/>
        </p:nvSpPr>
        <p:spPr>
          <a:xfrm>
            <a:off x="594360" y="1865376"/>
            <a:ext cx="868680" cy="201168"/>
          </a:xfrm>
          <a:prstGeom prst="rect">
            <a:avLst/>
          </a:prstGeom>
          <a:noFill/>
          <a:ln/>
        </p:spPr>
        <p:txBody>
          <a:bodyPr wrap="square" lIns="0" tIns="0" rIns="0" bIns="0" rtlCol="0" anchor="ctr">
            <a:normAutofit/>
          </a:bodyPr>
          <a:lstStyle/>
          <a:p>
            <a:pPr algn="l" indent="0" marL="0">
              <a:buNone/>
            </a:pPr>
            <a:r>
              <a:rPr lang="en-US" sz="1020" dirty="0">
                <a:solidFill>
                  <a:srgbClr val="20313F"/>
                </a:solidFill>
                <a:latin typeface="Arial" pitchFamily="34" charset="0"/>
                <a:ea typeface="Arial" pitchFamily="34" charset="-122"/>
                <a:cs typeface="Arial" pitchFamily="34" charset="-120"/>
              </a:rPr>
              <a:t>Overall</a:t>
            </a:r>
            <a:endParaRPr lang="en-US" sz="1020" dirty="0"/>
          </a:p>
        </p:txBody>
      </p:sp>
      <p:sp>
        <p:nvSpPr>
          <p:cNvPr id="9" name="Shape 7"/>
          <p:cNvSpPr/>
          <p:nvPr/>
        </p:nvSpPr>
        <p:spPr>
          <a:xfrm>
            <a:off x="1508760" y="1883664"/>
            <a:ext cx="3794760" cy="201168"/>
          </a:xfrm>
          <a:prstGeom prst="roundRect">
            <a:avLst>
              <a:gd name="adj" fmla="val 18182"/>
            </a:avLst>
          </a:prstGeom>
          <a:solidFill>
            <a:srgbClr val="E8ECEF"/>
          </a:solidFill>
          <a:ln w="12700">
            <a:solidFill>
              <a:srgbClr val="E8ECEF"/>
            </a:solidFill>
            <a:prstDash val="solid"/>
          </a:ln>
        </p:spPr>
      </p:sp>
      <p:sp>
        <p:nvSpPr>
          <p:cNvPr id="10" name="Shape 8"/>
          <p:cNvSpPr/>
          <p:nvPr/>
        </p:nvSpPr>
        <p:spPr>
          <a:xfrm>
            <a:off x="1508760" y="1883664"/>
            <a:ext cx="1947796" cy="201168"/>
          </a:xfrm>
          <a:prstGeom prst="roundRect">
            <a:avLst>
              <a:gd name="adj" fmla="val 18182"/>
            </a:avLst>
          </a:prstGeom>
          <a:solidFill>
            <a:srgbClr val="7D94A4"/>
          </a:solidFill>
          <a:ln w="12700">
            <a:solidFill>
              <a:srgbClr val="7D94A4"/>
            </a:solidFill>
            <a:prstDash val="solid"/>
          </a:ln>
        </p:spPr>
      </p:sp>
      <p:sp>
        <p:nvSpPr>
          <p:cNvPr id="11" name="Text 9"/>
          <p:cNvSpPr/>
          <p:nvPr/>
        </p:nvSpPr>
        <p:spPr>
          <a:xfrm>
            <a:off x="5440680" y="1847088"/>
            <a:ext cx="658368" cy="237744"/>
          </a:xfrm>
          <a:prstGeom prst="rect">
            <a:avLst/>
          </a:prstGeom>
          <a:noFill/>
          <a:ln/>
        </p:spPr>
        <p:txBody>
          <a:bodyPr wrap="square" lIns="0" tIns="0" rIns="0" bIns="0" rtlCol="0" anchor="ctr">
            <a:normAutofit/>
          </a:bodyPr>
          <a:lstStyle/>
          <a:p>
            <a:pPr algn="r" indent="0" marL="0">
              <a:buNone/>
            </a:pPr>
            <a:r>
              <a:rPr lang="en-US" sz="1050" dirty="0">
                <a:solidFill>
                  <a:srgbClr val="0B2A45"/>
                </a:solidFill>
                <a:latin typeface="Arial" pitchFamily="34" charset="0"/>
                <a:ea typeface="Arial" pitchFamily="34" charset="-122"/>
                <a:cs typeface="Arial" pitchFamily="34" charset="-120"/>
              </a:rPr>
              <a:t>35.93%</a:t>
            </a:r>
            <a:endParaRPr lang="en-US" sz="1050" dirty="0"/>
          </a:p>
        </p:txBody>
      </p:sp>
      <p:sp>
        <p:nvSpPr>
          <p:cNvPr id="12" name="Text 10"/>
          <p:cNvSpPr/>
          <p:nvPr/>
        </p:nvSpPr>
        <p:spPr>
          <a:xfrm>
            <a:off x="594360" y="2505456"/>
            <a:ext cx="868680" cy="201168"/>
          </a:xfrm>
          <a:prstGeom prst="rect">
            <a:avLst/>
          </a:prstGeom>
          <a:noFill/>
          <a:ln/>
        </p:spPr>
        <p:txBody>
          <a:bodyPr wrap="square" lIns="0" tIns="0" rIns="0" bIns="0" rtlCol="0" anchor="ctr">
            <a:normAutofit/>
          </a:bodyPr>
          <a:lstStyle/>
          <a:p>
            <a:pPr algn="l" indent="0" marL="0">
              <a:buNone/>
            </a:pPr>
            <a:r>
              <a:rPr lang="en-US" sz="1020" dirty="0">
                <a:solidFill>
                  <a:srgbClr val="20313F"/>
                </a:solidFill>
                <a:latin typeface="Arial" pitchFamily="34" charset="0"/>
                <a:ea typeface="Arial" pitchFamily="34" charset="-122"/>
                <a:cs typeface="Arial" pitchFamily="34" charset="-120"/>
              </a:rPr>
              <a:t>Stocks</a:t>
            </a:r>
            <a:endParaRPr lang="en-US" sz="1020" dirty="0"/>
          </a:p>
        </p:txBody>
      </p:sp>
      <p:sp>
        <p:nvSpPr>
          <p:cNvPr id="13" name="Shape 11"/>
          <p:cNvSpPr/>
          <p:nvPr/>
        </p:nvSpPr>
        <p:spPr>
          <a:xfrm>
            <a:off x="1508760" y="2523744"/>
            <a:ext cx="3794760" cy="201168"/>
          </a:xfrm>
          <a:prstGeom prst="roundRect">
            <a:avLst>
              <a:gd name="adj" fmla="val 18182"/>
            </a:avLst>
          </a:prstGeom>
          <a:solidFill>
            <a:srgbClr val="E8ECEF"/>
          </a:solidFill>
          <a:ln w="12700">
            <a:solidFill>
              <a:srgbClr val="E8ECEF"/>
            </a:solidFill>
            <a:prstDash val="solid"/>
          </a:ln>
        </p:spPr>
      </p:sp>
      <p:sp>
        <p:nvSpPr>
          <p:cNvPr id="14" name="Shape 12"/>
          <p:cNvSpPr/>
          <p:nvPr/>
        </p:nvSpPr>
        <p:spPr>
          <a:xfrm>
            <a:off x="1508760" y="2523744"/>
            <a:ext cx="1788416" cy="201168"/>
          </a:xfrm>
          <a:prstGeom prst="roundRect">
            <a:avLst>
              <a:gd name="adj" fmla="val 18182"/>
            </a:avLst>
          </a:prstGeom>
          <a:solidFill>
            <a:srgbClr val="7D94A4"/>
          </a:solidFill>
          <a:ln w="12700">
            <a:solidFill>
              <a:srgbClr val="7D94A4"/>
            </a:solidFill>
            <a:prstDash val="solid"/>
          </a:ln>
        </p:spPr>
      </p:sp>
      <p:sp>
        <p:nvSpPr>
          <p:cNvPr id="15" name="Text 13"/>
          <p:cNvSpPr/>
          <p:nvPr/>
        </p:nvSpPr>
        <p:spPr>
          <a:xfrm>
            <a:off x="5440680" y="2487168"/>
            <a:ext cx="658368" cy="237744"/>
          </a:xfrm>
          <a:prstGeom prst="rect">
            <a:avLst/>
          </a:prstGeom>
          <a:noFill/>
          <a:ln/>
        </p:spPr>
        <p:txBody>
          <a:bodyPr wrap="square" lIns="0" tIns="0" rIns="0" bIns="0" rtlCol="0" anchor="ctr">
            <a:normAutofit/>
          </a:bodyPr>
          <a:lstStyle/>
          <a:p>
            <a:pPr algn="r" indent="0" marL="0">
              <a:buNone/>
            </a:pPr>
            <a:r>
              <a:rPr lang="en-US" sz="1050" dirty="0">
                <a:solidFill>
                  <a:srgbClr val="0B2A45"/>
                </a:solidFill>
                <a:latin typeface="Arial" pitchFamily="34" charset="0"/>
                <a:ea typeface="Arial" pitchFamily="34" charset="-122"/>
                <a:cs typeface="Arial" pitchFamily="34" charset="-120"/>
              </a:rPr>
              <a:t>32.99%</a:t>
            </a:r>
            <a:endParaRPr lang="en-US" sz="1050" dirty="0"/>
          </a:p>
        </p:txBody>
      </p:sp>
      <p:sp>
        <p:nvSpPr>
          <p:cNvPr id="16" name="Text 14"/>
          <p:cNvSpPr/>
          <p:nvPr/>
        </p:nvSpPr>
        <p:spPr>
          <a:xfrm>
            <a:off x="594360" y="3145536"/>
            <a:ext cx="868680" cy="201168"/>
          </a:xfrm>
          <a:prstGeom prst="rect">
            <a:avLst/>
          </a:prstGeom>
          <a:noFill/>
          <a:ln/>
        </p:spPr>
        <p:txBody>
          <a:bodyPr wrap="square" lIns="0" tIns="0" rIns="0" bIns="0" rtlCol="0" anchor="ctr">
            <a:normAutofit/>
          </a:bodyPr>
          <a:lstStyle/>
          <a:p>
            <a:pPr algn="l" indent="0" marL="0">
              <a:buNone/>
            </a:pPr>
            <a:r>
              <a:rPr lang="en-US" sz="1020" b="1" dirty="0">
                <a:solidFill>
                  <a:srgbClr val="C8902F"/>
                </a:solidFill>
                <a:latin typeface="Arial" pitchFamily="34" charset="0"/>
                <a:ea typeface="Arial" pitchFamily="34" charset="-122"/>
                <a:cs typeface="Arial" pitchFamily="34" charset="-120"/>
              </a:rPr>
              <a:t>ETFs</a:t>
            </a:r>
            <a:endParaRPr lang="en-US" sz="1020" dirty="0"/>
          </a:p>
        </p:txBody>
      </p:sp>
      <p:sp>
        <p:nvSpPr>
          <p:cNvPr id="17" name="Shape 15"/>
          <p:cNvSpPr/>
          <p:nvPr/>
        </p:nvSpPr>
        <p:spPr>
          <a:xfrm>
            <a:off x="1508760" y="3163824"/>
            <a:ext cx="3794760" cy="201168"/>
          </a:xfrm>
          <a:prstGeom prst="roundRect">
            <a:avLst>
              <a:gd name="adj" fmla="val 18182"/>
            </a:avLst>
          </a:prstGeom>
          <a:solidFill>
            <a:srgbClr val="E8ECEF"/>
          </a:solidFill>
          <a:ln w="12700">
            <a:solidFill>
              <a:srgbClr val="E8ECEF"/>
            </a:solidFill>
            <a:prstDash val="solid"/>
          </a:ln>
        </p:spPr>
      </p:sp>
      <p:sp>
        <p:nvSpPr>
          <p:cNvPr id="18" name="Shape 16"/>
          <p:cNvSpPr/>
          <p:nvPr/>
        </p:nvSpPr>
        <p:spPr>
          <a:xfrm>
            <a:off x="1508760" y="3163824"/>
            <a:ext cx="3427210" cy="201168"/>
          </a:xfrm>
          <a:prstGeom prst="roundRect">
            <a:avLst>
              <a:gd name="adj" fmla="val 18182"/>
            </a:avLst>
          </a:prstGeom>
          <a:solidFill>
            <a:srgbClr val="C8902F"/>
          </a:solidFill>
          <a:ln w="12700">
            <a:solidFill>
              <a:srgbClr val="C8902F"/>
            </a:solidFill>
            <a:prstDash val="solid"/>
          </a:ln>
        </p:spPr>
      </p:sp>
      <p:sp>
        <p:nvSpPr>
          <p:cNvPr id="19" name="Text 17"/>
          <p:cNvSpPr/>
          <p:nvPr/>
        </p:nvSpPr>
        <p:spPr>
          <a:xfrm>
            <a:off x="5440680" y="3127248"/>
            <a:ext cx="658368" cy="237744"/>
          </a:xfrm>
          <a:prstGeom prst="rect">
            <a:avLst/>
          </a:prstGeom>
          <a:noFill/>
          <a:ln/>
        </p:spPr>
        <p:txBody>
          <a:bodyPr wrap="square" lIns="0" tIns="0" rIns="0" bIns="0" rtlCol="0" anchor="ctr">
            <a:normAutofit/>
          </a:bodyPr>
          <a:lstStyle/>
          <a:p>
            <a:pPr algn="r" indent="0" marL="0">
              <a:buNone/>
            </a:pPr>
            <a:r>
              <a:rPr lang="en-US" sz="1050" b="1" dirty="0">
                <a:solidFill>
                  <a:srgbClr val="C8902F"/>
                </a:solidFill>
                <a:latin typeface="Arial" pitchFamily="34" charset="0"/>
                <a:ea typeface="Arial" pitchFamily="34" charset="-122"/>
                <a:cs typeface="Arial" pitchFamily="34" charset="-120"/>
              </a:rPr>
              <a:t>63.22%</a:t>
            </a:r>
            <a:endParaRPr lang="en-US" sz="1050" dirty="0"/>
          </a:p>
        </p:txBody>
      </p:sp>
      <p:sp>
        <p:nvSpPr>
          <p:cNvPr id="20" name="Text 18"/>
          <p:cNvSpPr/>
          <p:nvPr/>
        </p:nvSpPr>
        <p:spPr>
          <a:xfrm>
            <a:off x="594360" y="3785616"/>
            <a:ext cx="868680" cy="201168"/>
          </a:xfrm>
          <a:prstGeom prst="rect">
            <a:avLst/>
          </a:prstGeom>
          <a:noFill/>
          <a:ln/>
        </p:spPr>
        <p:txBody>
          <a:bodyPr wrap="square" lIns="0" tIns="0" rIns="0" bIns="0" rtlCol="0" anchor="ctr">
            <a:normAutofit/>
          </a:bodyPr>
          <a:lstStyle/>
          <a:p>
            <a:pPr algn="l" indent="0" marL="0">
              <a:buNone/>
            </a:pPr>
            <a:r>
              <a:rPr lang="en-US" sz="1020" dirty="0">
                <a:solidFill>
                  <a:srgbClr val="20313F"/>
                </a:solidFill>
                <a:latin typeface="Arial" pitchFamily="34" charset="0"/>
                <a:ea typeface="Arial" pitchFamily="34" charset="-122"/>
                <a:cs typeface="Arial" pitchFamily="34" charset="-120"/>
              </a:rPr>
              <a:t>Futures</a:t>
            </a:r>
            <a:endParaRPr lang="en-US" sz="1020" dirty="0"/>
          </a:p>
        </p:txBody>
      </p:sp>
      <p:sp>
        <p:nvSpPr>
          <p:cNvPr id="21" name="Shape 19"/>
          <p:cNvSpPr/>
          <p:nvPr/>
        </p:nvSpPr>
        <p:spPr>
          <a:xfrm>
            <a:off x="1508760" y="3803904"/>
            <a:ext cx="3794760" cy="201168"/>
          </a:xfrm>
          <a:prstGeom prst="roundRect">
            <a:avLst>
              <a:gd name="adj" fmla="val 18182"/>
            </a:avLst>
          </a:prstGeom>
          <a:solidFill>
            <a:srgbClr val="E8ECEF"/>
          </a:solidFill>
          <a:ln w="12700">
            <a:solidFill>
              <a:srgbClr val="E8ECEF"/>
            </a:solidFill>
            <a:prstDash val="solid"/>
          </a:ln>
        </p:spPr>
      </p:sp>
      <p:sp>
        <p:nvSpPr>
          <p:cNvPr id="22" name="Shape 20"/>
          <p:cNvSpPr/>
          <p:nvPr/>
        </p:nvSpPr>
        <p:spPr>
          <a:xfrm>
            <a:off x="1508760" y="3803904"/>
            <a:ext cx="1397556" cy="201168"/>
          </a:xfrm>
          <a:prstGeom prst="roundRect">
            <a:avLst>
              <a:gd name="adj" fmla="val 18182"/>
            </a:avLst>
          </a:prstGeom>
          <a:solidFill>
            <a:srgbClr val="7D94A4"/>
          </a:solidFill>
          <a:ln w="12700">
            <a:solidFill>
              <a:srgbClr val="7D94A4"/>
            </a:solidFill>
            <a:prstDash val="solid"/>
          </a:ln>
        </p:spPr>
      </p:sp>
      <p:sp>
        <p:nvSpPr>
          <p:cNvPr id="23" name="Text 21"/>
          <p:cNvSpPr/>
          <p:nvPr/>
        </p:nvSpPr>
        <p:spPr>
          <a:xfrm>
            <a:off x="5440680" y="3767328"/>
            <a:ext cx="658368" cy="237744"/>
          </a:xfrm>
          <a:prstGeom prst="rect">
            <a:avLst/>
          </a:prstGeom>
          <a:noFill/>
          <a:ln/>
        </p:spPr>
        <p:txBody>
          <a:bodyPr wrap="square" lIns="0" tIns="0" rIns="0" bIns="0" rtlCol="0" anchor="ctr">
            <a:normAutofit/>
          </a:bodyPr>
          <a:lstStyle/>
          <a:p>
            <a:pPr algn="r" indent="0" marL="0">
              <a:buNone/>
            </a:pPr>
            <a:r>
              <a:rPr lang="en-US" sz="1050" dirty="0">
                <a:solidFill>
                  <a:srgbClr val="0B2A45"/>
                </a:solidFill>
                <a:latin typeface="Arial" pitchFamily="34" charset="0"/>
                <a:ea typeface="Arial" pitchFamily="34" charset="-122"/>
                <a:cs typeface="Arial" pitchFamily="34" charset="-120"/>
              </a:rPr>
              <a:t>25.78%</a:t>
            </a:r>
            <a:endParaRPr lang="en-US" sz="1050" dirty="0"/>
          </a:p>
        </p:txBody>
      </p:sp>
      <p:sp>
        <p:nvSpPr>
          <p:cNvPr id="24" name="Text 22"/>
          <p:cNvSpPr/>
          <p:nvPr/>
        </p:nvSpPr>
        <p:spPr>
          <a:xfrm>
            <a:off x="594360" y="4425696"/>
            <a:ext cx="868680" cy="201168"/>
          </a:xfrm>
          <a:prstGeom prst="rect">
            <a:avLst/>
          </a:prstGeom>
          <a:noFill/>
          <a:ln/>
        </p:spPr>
        <p:txBody>
          <a:bodyPr wrap="square" lIns="0" tIns="0" rIns="0" bIns="0" rtlCol="0" anchor="ctr">
            <a:normAutofit/>
          </a:bodyPr>
          <a:lstStyle/>
          <a:p>
            <a:pPr algn="l" indent="0" marL="0">
              <a:buNone/>
            </a:pPr>
            <a:r>
              <a:rPr lang="en-US" sz="1020" dirty="0">
                <a:solidFill>
                  <a:srgbClr val="20313F"/>
                </a:solidFill>
                <a:latin typeface="Arial" pitchFamily="34" charset="0"/>
                <a:ea typeface="Arial" pitchFamily="34" charset="-122"/>
                <a:cs typeface="Arial" pitchFamily="34" charset="-120"/>
              </a:rPr>
              <a:t>Crypto</a:t>
            </a:r>
            <a:endParaRPr lang="en-US" sz="1020" dirty="0"/>
          </a:p>
        </p:txBody>
      </p:sp>
      <p:sp>
        <p:nvSpPr>
          <p:cNvPr id="25" name="Shape 23"/>
          <p:cNvSpPr/>
          <p:nvPr/>
        </p:nvSpPr>
        <p:spPr>
          <a:xfrm>
            <a:off x="1508760" y="4443984"/>
            <a:ext cx="3794760" cy="201168"/>
          </a:xfrm>
          <a:prstGeom prst="roundRect">
            <a:avLst>
              <a:gd name="adj" fmla="val 18182"/>
            </a:avLst>
          </a:prstGeom>
          <a:solidFill>
            <a:srgbClr val="E8ECEF"/>
          </a:solidFill>
          <a:ln w="12700">
            <a:solidFill>
              <a:srgbClr val="E8ECEF"/>
            </a:solidFill>
            <a:prstDash val="solid"/>
          </a:ln>
        </p:spPr>
      </p:sp>
      <p:sp>
        <p:nvSpPr>
          <p:cNvPr id="26" name="Shape 24"/>
          <p:cNvSpPr/>
          <p:nvPr/>
        </p:nvSpPr>
        <p:spPr>
          <a:xfrm>
            <a:off x="1508760" y="4443984"/>
            <a:ext cx="1226792" cy="201168"/>
          </a:xfrm>
          <a:prstGeom prst="roundRect">
            <a:avLst>
              <a:gd name="adj" fmla="val 18182"/>
            </a:avLst>
          </a:prstGeom>
          <a:solidFill>
            <a:srgbClr val="7D94A4"/>
          </a:solidFill>
          <a:ln w="12700">
            <a:solidFill>
              <a:srgbClr val="7D94A4"/>
            </a:solidFill>
            <a:prstDash val="solid"/>
          </a:ln>
        </p:spPr>
      </p:sp>
      <p:sp>
        <p:nvSpPr>
          <p:cNvPr id="27" name="Text 25"/>
          <p:cNvSpPr/>
          <p:nvPr/>
        </p:nvSpPr>
        <p:spPr>
          <a:xfrm>
            <a:off x="5440680" y="4407408"/>
            <a:ext cx="658368" cy="237744"/>
          </a:xfrm>
          <a:prstGeom prst="rect">
            <a:avLst/>
          </a:prstGeom>
          <a:noFill/>
          <a:ln/>
        </p:spPr>
        <p:txBody>
          <a:bodyPr wrap="square" lIns="0" tIns="0" rIns="0" bIns="0" rtlCol="0" anchor="ctr">
            <a:normAutofit/>
          </a:bodyPr>
          <a:lstStyle/>
          <a:p>
            <a:pPr algn="r" indent="0" marL="0">
              <a:buNone/>
            </a:pPr>
            <a:r>
              <a:rPr lang="en-US" sz="1050" dirty="0">
                <a:solidFill>
                  <a:srgbClr val="0B2A45"/>
                </a:solidFill>
                <a:latin typeface="Arial" pitchFamily="34" charset="0"/>
                <a:ea typeface="Arial" pitchFamily="34" charset="-122"/>
                <a:cs typeface="Arial" pitchFamily="34" charset="-120"/>
              </a:rPr>
              <a:t>22.63%</a:t>
            </a:r>
            <a:endParaRPr lang="en-US" sz="1050" dirty="0"/>
          </a:p>
        </p:txBody>
      </p:sp>
      <p:sp>
        <p:nvSpPr>
          <p:cNvPr id="28" name="Shape 26"/>
          <p:cNvSpPr/>
          <p:nvPr/>
        </p:nvSpPr>
        <p:spPr>
          <a:xfrm>
            <a:off x="6327648" y="1508760"/>
            <a:ext cx="0" cy="3749040"/>
          </a:xfrm>
          <a:prstGeom prst="line">
            <a:avLst/>
          </a:prstGeom>
          <a:noFill/>
          <a:ln w="12700">
            <a:solidFill>
              <a:srgbClr val="D9E0E5"/>
            </a:solidFill>
            <a:prstDash val="solid"/>
          </a:ln>
        </p:spPr>
      </p:sp>
      <p:sp>
        <p:nvSpPr>
          <p:cNvPr id="29" name="Text 27"/>
          <p:cNvSpPr/>
          <p:nvPr/>
        </p:nvSpPr>
        <p:spPr>
          <a:xfrm>
            <a:off x="6675120" y="1444752"/>
            <a:ext cx="11887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ATTRITION</a:t>
            </a:r>
            <a:endParaRPr lang="en-US" sz="750" dirty="0"/>
          </a:p>
        </p:txBody>
      </p:sp>
      <p:sp>
        <p:nvSpPr>
          <p:cNvPr id="30" name="Shape 28"/>
          <p:cNvSpPr/>
          <p:nvPr/>
        </p:nvSpPr>
        <p:spPr>
          <a:xfrm>
            <a:off x="6903720" y="1847088"/>
            <a:ext cx="3931920" cy="530352"/>
          </a:xfrm>
          <a:prstGeom prst="roundRect">
            <a:avLst>
              <a:gd name="adj" fmla="val 10345"/>
            </a:avLst>
          </a:prstGeom>
          <a:solidFill>
            <a:srgbClr val="F0F4F6"/>
          </a:solidFill>
          <a:ln w="12700">
            <a:solidFill>
              <a:srgbClr val="DDE4E8"/>
            </a:solidFill>
            <a:prstDash val="solid"/>
          </a:ln>
        </p:spPr>
      </p:sp>
      <p:sp>
        <p:nvSpPr>
          <p:cNvPr id="31" name="Text 29"/>
          <p:cNvSpPr/>
          <p:nvPr/>
        </p:nvSpPr>
        <p:spPr>
          <a:xfrm>
            <a:off x="6976872" y="1947672"/>
            <a:ext cx="2437790" cy="164592"/>
          </a:xfrm>
          <a:prstGeom prst="rect">
            <a:avLst/>
          </a:prstGeom>
          <a:noFill/>
          <a:ln/>
        </p:spPr>
        <p:txBody>
          <a:bodyPr wrap="square" lIns="0" tIns="0" rIns="0" bIns="0" rtlCol="0" anchor="ctr">
            <a:normAutofit/>
          </a:bodyPr>
          <a:lstStyle/>
          <a:p>
            <a:pPr algn="l" indent="0" marL="0">
              <a:buNone/>
            </a:pPr>
            <a:r>
              <a:rPr lang="en-US" sz="940" b="1" dirty="0">
                <a:solidFill>
                  <a:srgbClr val="6F7E89"/>
                </a:solidFill>
                <a:latin typeface="Arial" pitchFamily="34" charset="0"/>
                <a:ea typeface="Arial" pitchFamily="34" charset="-122"/>
                <a:cs typeface="Arial" pitchFamily="34" charset="-120"/>
              </a:rPr>
              <a:t>Design eligible</a:t>
            </a:r>
            <a:endParaRPr lang="en-US" sz="940" dirty="0"/>
          </a:p>
        </p:txBody>
      </p:sp>
      <p:sp>
        <p:nvSpPr>
          <p:cNvPr id="32" name="Text 30"/>
          <p:cNvSpPr/>
          <p:nvPr/>
        </p:nvSpPr>
        <p:spPr>
          <a:xfrm>
            <a:off x="9459468" y="1920240"/>
            <a:ext cx="1061618" cy="201168"/>
          </a:xfrm>
          <a:prstGeom prst="rect">
            <a:avLst/>
          </a:prstGeom>
          <a:noFill/>
          <a:ln/>
        </p:spPr>
        <p:txBody>
          <a:bodyPr wrap="square" lIns="0" tIns="0" rIns="0" bIns="0" rtlCol="0" anchor="ctr">
            <a:normAutofit/>
          </a:bodyPr>
          <a:lstStyle/>
          <a:p>
            <a:pPr algn="r" indent="0" marL="0">
              <a:buNone/>
            </a:pPr>
            <a:r>
              <a:rPr lang="en-US" sz="1500" b="1" dirty="0">
                <a:solidFill>
                  <a:srgbClr val="0B2A45"/>
                </a:solidFill>
                <a:latin typeface="Arial" pitchFamily="34" charset="0"/>
                <a:ea typeface="Arial" pitchFamily="34" charset="-122"/>
                <a:cs typeface="Arial" pitchFamily="34" charset="-120"/>
              </a:rPr>
              <a:t>38,232</a:t>
            </a:r>
            <a:endParaRPr lang="en-US" sz="1500" dirty="0"/>
          </a:p>
        </p:txBody>
      </p:sp>
      <p:sp>
        <p:nvSpPr>
          <p:cNvPr id="33" name="Shape 31"/>
          <p:cNvSpPr/>
          <p:nvPr/>
        </p:nvSpPr>
        <p:spPr>
          <a:xfrm>
            <a:off x="7611466" y="2688336"/>
            <a:ext cx="2516429" cy="530352"/>
          </a:xfrm>
          <a:prstGeom prst="roundRect">
            <a:avLst>
              <a:gd name="adj" fmla="val 10345"/>
            </a:avLst>
          </a:prstGeom>
          <a:solidFill>
            <a:srgbClr val="F0F4F6"/>
          </a:solidFill>
          <a:ln w="12700">
            <a:solidFill>
              <a:srgbClr val="DDE4E8"/>
            </a:solidFill>
            <a:prstDash val="solid"/>
          </a:ln>
        </p:spPr>
      </p:sp>
      <p:sp>
        <p:nvSpPr>
          <p:cNvPr id="34" name="Text 32"/>
          <p:cNvSpPr/>
          <p:nvPr/>
        </p:nvSpPr>
        <p:spPr>
          <a:xfrm>
            <a:off x="7684618" y="2788920"/>
            <a:ext cx="1560186" cy="164592"/>
          </a:xfrm>
          <a:prstGeom prst="rect">
            <a:avLst/>
          </a:prstGeom>
          <a:noFill/>
          <a:ln/>
        </p:spPr>
        <p:txBody>
          <a:bodyPr wrap="square" lIns="0" tIns="0" rIns="0" bIns="0" rtlCol="0" anchor="ctr">
            <a:normAutofit/>
          </a:bodyPr>
          <a:lstStyle/>
          <a:p>
            <a:pPr algn="l" indent="0" marL="0">
              <a:buNone/>
            </a:pPr>
            <a:r>
              <a:rPr lang="en-US" sz="940" b="1" dirty="0">
                <a:solidFill>
                  <a:srgbClr val="6F7E89"/>
                </a:solidFill>
                <a:latin typeface="Arial" pitchFamily="34" charset="0"/>
                <a:ea typeface="Arial" pitchFamily="34" charset="-122"/>
                <a:cs typeface="Arial" pitchFamily="34" charset="-120"/>
              </a:rPr>
              <a:t>Roll defined</a:t>
            </a:r>
            <a:endParaRPr lang="en-US" sz="940" dirty="0"/>
          </a:p>
        </p:txBody>
      </p:sp>
      <p:sp>
        <p:nvSpPr>
          <p:cNvPr id="35" name="Text 33"/>
          <p:cNvSpPr/>
          <p:nvPr/>
        </p:nvSpPr>
        <p:spPr>
          <a:xfrm>
            <a:off x="9247144" y="2761488"/>
            <a:ext cx="679436" cy="201168"/>
          </a:xfrm>
          <a:prstGeom prst="rect">
            <a:avLst/>
          </a:prstGeom>
          <a:noFill/>
          <a:ln/>
        </p:spPr>
        <p:txBody>
          <a:bodyPr wrap="square" lIns="0" tIns="0" rIns="0" bIns="0" rtlCol="0" anchor="ctr">
            <a:normAutofit/>
          </a:bodyPr>
          <a:lstStyle/>
          <a:p>
            <a:pPr algn="r" indent="0" marL="0">
              <a:buNone/>
            </a:pPr>
            <a:r>
              <a:rPr lang="en-US" sz="1500" b="1" dirty="0">
                <a:solidFill>
                  <a:srgbClr val="0B2A45"/>
                </a:solidFill>
                <a:latin typeface="Arial" pitchFamily="34" charset="0"/>
                <a:ea typeface="Arial" pitchFamily="34" charset="-122"/>
                <a:cs typeface="Arial" pitchFamily="34" charset="-120"/>
              </a:rPr>
              <a:t>24,494</a:t>
            </a:r>
            <a:endParaRPr lang="en-US" sz="1500" dirty="0"/>
          </a:p>
        </p:txBody>
      </p:sp>
      <p:sp>
        <p:nvSpPr>
          <p:cNvPr id="36" name="Shape 34"/>
          <p:cNvSpPr/>
          <p:nvPr/>
        </p:nvSpPr>
        <p:spPr>
          <a:xfrm>
            <a:off x="7615398" y="3529584"/>
            <a:ext cx="2508565" cy="530352"/>
          </a:xfrm>
          <a:prstGeom prst="roundRect">
            <a:avLst>
              <a:gd name="adj" fmla="val 10345"/>
            </a:avLst>
          </a:prstGeom>
          <a:solidFill>
            <a:srgbClr val="E2F2F3"/>
          </a:solidFill>
          <a:ln w="12700">
            <a:solidFill>
              <a:srgbClr val="BDDDE0"/>
            </a:solidFill>
            <a:prstDash val="solid"/>
          </a:ln>
        </p:spPr>
      </p:sp>
      <p:sp>
        <p:nvSpPr>
          <p:cNvPr id="37" name="Text 35"/>
          <p:cNvSpPr/>
          <p:nvPr/>
        </p:nvSpPr>
        <p:spPr>
          <a:xfrm>
            <a:off x="7688550" y="3630168"/>
            <a:ext cx="1555310" cy="164592"/>
          </a:xfrm>
          <a:prstGeom prst="rect">
            <a:avLst/>
          </a:prstGeom>
          <a:noFill/>
          <a:ln/>
        </p:spPr>
        <p:txBody>
          <a:bodyPr wrap="square" lIns="0" tIns="0" rIns="0" bIns="0" rtlCol="0" anchor="ctr">
            <a:normAutofit/>
          </a:bodyPr>
          <a:lstStyle/>
          <a:p>
            <a:pPr algn="l" indent="0" marL="0">
              <a:buNone/>
            </a:pPr>
            <a:r>
              <a:rPr lang="en-US" sz="940" b="1" dirty="0">
                <a:solidFill>
                  <a:srgbClr val="6F7E89"/>
                </a:solidFill>
                <a:latin typeface="Arial" pitchFamily="34" charset="0"/>
                <a:ea typeface="Arial" pitchFamily="34" charset="-122"/>
                <a:cs typeface="Arial" pitchFamily="34" charset="-120"/>
              </a:rPr>
              <a:t>Common defined</a:t>
            </a:r>
            <a:endParaRPr lang="en-US" sz="940" dirty="0"/>
          </a:p>
        </p:txBody>
      </p:sp>
      <p:sp>
        <p:nvSpPr>
          <p:cNvPr id="38" name="Text 36"/>
          <p:cNvSpPr/>
          <p:nvPr/>
        </p:nvSpPr>
        <p:spPr>
          <a:xfrm>
            <a:off x="9245965" y="3602736"/>
            <a:ext cx="677313" cy="201168"/>
          </a:xfrm>
          <a:prstGeom prst="rect">
            <a:avLst/>
          </a:prstGeom>
          <a:noFill/>
          <a:ln/>
        </p:spPr>
        <p:txBody>
          <a:bodyPr wrap="square" lIns="0" tIns="0" rIns="0" bIns="0" rtlCol="0" anchor="ctr">
            <a:normAutofit/>
          </a:bodyPr>
          <a:lstStyle/>
          <a:p>
            <a:pPr algn="r" indent="0" marL="0">
              <a:buNone/>
            </a:pPr>
            <a:r>
              <a:rPr lang="en-US" sz="1500" b="1" dirty="0">
                <a:solidFill>
                  <a:srgbClr val="068A95"/>
                </a:solidFill>
                <a:latin typeface="Arial" pitchFamily="34" charset="0"/>
                <a:ea typeface="Arial" pitchFamily="34" charset="-122"/>
                <a:cs typeface="Arial" pitchFamily="34" charset="-120"/>
              </a:rPr>
              <a:t>24,377</a:t>
            </a:r>
            <a:endParaRPr lang="en-US" sz="1500" dirty="0"/>
          </a:p>
        </p:txBody>
      </p:sp>
      <p:sp>
        <p:nvSpPr>
          <p:cNvPr id="39" name="Text 37"/>
          <p:cNvSpPr/>
          <p:nvPr/>
        </p:nvSpPr>
        <p:spPr>
          <a:xfrm>
            <a:off x="6766560" y="4590288"/>
            <a:ext cx="4297680" cy="310896"/>
          </a:xfrm>
          <a:prstGeom prst="rect">
            <a:avLst/>
          </a:prstGeom>
          <a:noFill/>
          <a:ln/>
        </p:spPr>
        <p:txBody>
          <a:bodyPr wrap="square" lIns="0" tIns="0" rIns="0" bIns="0" rtlCol="0" anchor="ctr">
            <a:normAutofit/>
          </a:bodyPr>
          <a:lstStyle/>
          <a:p>
            <a:pPr algn="ctr" indent="0" marL="0">
              <a:buNone/>
            </a:pPr>
            <a:r>
              <a:rPr lang="en-US" sz="1020" b="1" dirty="0">
                <a:solidFill>
                  <a:srgbClr val="0B2A45"/>
                </a:solidFill>
                <a:latin typeface="Arial" pitchFamily="34" charset="0"/>
                <a:ea typeface="Arial" pitchFamily="34" charset="-122"/>
                <a:cs typeface="Arial" pitchFamily="34" charset="-120"/>
              </a:rPr>
              <a:t>Only 117 additional asset-days are lost after Roll is already defined.</a:t>
            </a:r>
            <a:endParaRPr lang="en-US" sz="1020" dirty="0"/>
          </a:p>
        </p:txBody>
      </p:sp>
      <p:sp>
        <p:nvSpPr>
          <p:cNvPr id="40" name="Shape 38"/>
          <p:cNvSpPr/>
          <p:nvPr/>
        </p:nvSpPr>
        <p:spPr>
          <a:xfrm>
            <a:off x="1024128" y="5559552"/>
            <a:ext cx="10149840" cy="530352"/>
          </a:xfrm>
          <a:prstGeom prst="roundRect">
            <a:avLst>
              <a:gd name="adj" fmla="val 10345"/>
            </a:avLst>
          </a:prstGeom>
          <a:solidFill>
            <a:srgbClr val="F7EEDB"/>
          </a:solidFill>
          <a:ln w="12700">
            <a:solidFill>
              <a:srgbClr val="F7EEDB"/>
            </a:solidFill>
            <a:prstDash val="solid"/>
          </a:ln>
        </p:spPr>
      </p:sp>
      <p:sp>
        <p:nvSpPr>
          <p:cNvPr id="41" name="Text 39"/>
          <p:cNvSpPr/>
          <p:nvPr/>
        </p:nvSpPr>
        <p:spPr>
          <a:xfrm>
            <a:off x="1243584" y="5696712"/>
            <a:ext cx="9710928" cy="237744"/>
          </a:xfrm>
          <a:prstGeom prst="rect">
            <a:avLst/>
          </a:prstGeom>
          <a:noFill/>
          <a:ln/>
        </p:spPr>
        <p:txBody>
          <a:bodyPr wrap="square" lIns="0" tIns="0" rIns="0" bIns="0" rtlCol="0" anchor="ctr">
            <a:normAutofit/>
          </a:bodyPr>
          <a:lstStyle/>
          <a:p>
            <a:pPr algn="ctr" indent="0" marL="0">
              <a:buNone/>
            </a:pPr>
            <a:r>
              <a:rPr lang="en-US" sz="1300" b="1" dirty="0">
                <a:solidFill>
                  <a:srgbClr val="76561E"/>
                </a:solidFill>
                <a:latin typeface="Arial" pitchFamily="34" charset="0"/>
                <a:ea typeface="Arial" pitchFamily="34" charset="-122"/>
                <a:cs typeface="Arial" pitchFamily="34" charset="-120"/>
              </a:rPr>
              <a:t>Interpretation: “best match to the Roll proxy” — not “true best transaction-cost estimator.”</a:t>
            </a:r>
            <a:endParaRPr lang="en-US" sz="130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ROBUSTNESS</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The overall conclusion survives the major sensitivity checks</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Overall EDGE leadership is stable; local stock and thin-tier conclusions are less stable</a:t>
            </a:r>
            <a:endParaRPr lang="en-US" sz="1070" dirty="0"/>
          </a:p>
        </p:txBody>
      </p:sp>
      <p:sp>
        <p:nvSpPr>
          <p:cNvPr id="5" name="Shape 3"/>
          <p:cNvSpPr/>
          <p:nvPr/>
        </p:nvSpPr>
        <p:spPr>
          <a:xfrm>
            <a:off x="9921240" y="246888"/>
            <a:ext cx="1920240" cy="256032"/>
          </a:xfrm>
          <a:prstGeom prst="roundRect">
            <a:avLst>
              <a:gd name="adj" fmla="val 14286"/>
            </a:avLst>
          </a:prstGeom>
          <a:solidFill>
            <a:srgbClr val="E2F2F3"/>
          </a:solidFill>
          <a:ln w="12700">
            <a:solidFill>
              <a:srgbClr val="E2F2F3"/>
            </a:solidFill>
            <a:prstDash val="solid"/>
          </a:ln>
        </p:spPr>
      </p:sp>
      <p:sp>
        <p:nvSpPr>
          <p:cNvPr id="6" name="Text 4"/>
          <p:cNvSpPr/>
          <p:nvPr/>
        </p:nvSpPr>
        <p:spPr>
          <a:xfrm>
            <a:off x="9994392"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068A95"/>
                </a:solidFill>
              </a:rPr>
              <a:t>ROBUSTNESS</a:t>
            </a:r>
            <a:endParaRPr lang="en-US" sz="740" dirty="0"/>
          </a:p>
        </p:txBody>
      </p:sp>
      <p:sp>
        <p:nvSpPr>
          <p:cNvPr id="7" name="Text 5"/>
          <p:cNvSpPr/>
          <p:nvPr/>
        </p:nvSpPr>
        <p:spPr>
          <a:xfrm>
            <a:off x="594360" y="1444752"/>
            <a:ext cx="2514600" cy="228600"/>
          </a:xfrm>
          <a:prstGeom prst="rect">
            <a:avLst/>
          </a:prstGeom>
          <a:noFill/>
          <a:ln/>
        </p:spPr>
        <p:txBody>
          <a:bodyPr wrap="square" lIns="0" tIns="0" rIns="0" bIns="0" rtlCol="0" anchor="ctr">
            <a:normAutofit/>
          </a:bodyPr>
          <a:lstStyle/>
          <a:p>
            <a:pPr algn="l" indent="0" marL="0">
              <a:buNone/>
            </a:pPr>
            <a:r>
              <a:rPr lang="en-US" sz="870" b="1" dirty="0">
                <a:solidFill>
                  <a:srgbClr val="6F7E89"/>
                </a:solidFill>
                <a:latin typeface="Arial" pitchFamily="34" charset="0"/>
                <a:ea typeface="Arial" pitchFamily="34" charset="-122"/>
                <a:cs typeface="Arial" pitchFamily="34" charset="-120"/>
              </a:rPr>
              <a:t>Sensitivity</a:t>
            </a:r>
            <a:endParaRPr lang="en-US" sz="870" dirty="0"/>
          </a:p>
        </p:txBody>
      </p:sp>
      <p:sp>
        <p:nvSpPr>
          <p:cNvPr id="8" name="Text 6"/>
          <p:cNvSpPr/>
          <p:nvPr/>
        </p:nvSpPr>
        <p:spPr>
          <a:xfrm>
            <a:off x="3328416" y="1444752"/>
            <a:ext cx="3108960" cy="228600"/>
          </a:xfrm>
          <a:prstGeom prst="rect">
            <a:avLst/>
          </a:prstGeom>
          <a:noFill/>
          <a:ln/>
        </p:spPr>
        <p:txBody>
          <a:bodyPr wrap="square" lIns="0" tIns="0" rIns="0" bIns="0" rtlCol="0" anchor="ctr">
            <a:normAutofit/>
          </a:bodyPr>
          <a:lstStyle/>
          <a:p>
            <a:pPr algn="l" indent="0" marL="0">
              <a:buNone/>
            </a:pPr>
            <a:r>
              <a:rPr lang="en-US" sz="870" b="1" dirty="0">
                <a:solidFill>
                  <a:srgbClr val="6F7E89"/>
                </a:solidFill>
                <a:latin typeface="Arial" pitchFamily="34" charset="0"/>
                <a:ea typeface="Arial" pitchFamily="34" charset="-122"/>
                <a:cs typeface="Arial" pitchFamily="34" charset="-120"/>
              </a:rPr>
              <a:t>What survives?</a:t>
            </a:r>
            <a:endParaRPr lang="en-US" sz="870" dirty="0"/>
          </a:p>
        </p:txBody>
      </p:sp>
      <p:sp>
        <p:nvSpPr>
          <p:cNvPr id="9" name="Text 7"/>
          <p:cNvSpPr/>
          <p:nvPr/>
        </p:nvSpPr>
        <p:spPr>
          <a:xfrm>
            <a:off x="6720840" y="1444752"/>
            <a:ext cx="2240280" cy="228600"/>
          </a:xfrm>
          <a:prstGeom prst="rect">
            <a:avLst/>
          </a:prstGeom>
          <a:noFill/>
          <a:ln/>
        </p:spPr>
        <p:txBody>
          <a:bodyPr wrap="square" lIns="0" tIns="0" rIns="0" bIns="0" rtlCol="0" anchor="ctr">
            <a:normAutofit/>
          </a:bodyPr>
          <a:lstStyle/>
          <a:p>
            <a:pPr algn="l" indent="0" marL="0">
              <a:buNone/>
            </a:pPr>
            <a:r>
              <a:rPr lang="en-US" sz="870" b="1" dirty="0">
                <a:solidFill>
                  <a:srgbClr val="6F7E89"/>
                </a:solidFill>
                <a:latin typeface="Arial" pitchFamily="34" charset="0"/>
                <a:ea typeface="Arial" pitchFamily="34" charset="-122"/>
                <a:cs typeface="Arial" pitchFamily="34" charset="-120"/>
              </a:rPr>
              <a:t>Boundary</a:t>
            </a:r>
            <a:endParaRPr lang="en-US" sz="870" dirty="0"/>
          </a:p>
        </p:txBody>
      </p:sp>
      <p:sp>
        <p:nvSpPr>
          <p:cNvPr id="10" name="Text 8"/>
          <p:cNvSpPr/>
          <p:nvPr/>
        </p:nvSpPr>
        <p:spPr>
          <a:xfrm>
            <a:off x="9189720" y="1444752"/>
            <a:ext cx="1920240" cy="228600"/>
          </a:xfrm>
          <a:prstGeom prst="rect">
            <a:avLst/>
          </a:prstGeom>
          <a:noFill/>
          <a:ln/>
        </p:spPr>
        <p:txBody>
          <a:bodyPr wrap="square" lIns="0" tIns="0" rIns="0" bIns="0" rtlCol="0" anchor="ctr">
            <a:normAutofit/>
          </a:bodyPr>
          <a:lstStyle/>
          <a:p>
            <a:pPr algn="ctr" indent="0" marL="0">
              <a:buNone/>
            </a:pPr>
            <a:r>
              <a:rPr lang="en-US" sz="870" b="1" dirty="0">
                <a:solidFill>
                  <a:srgbClr val="6F7E89"/>
                </a:solidFill>
                <a:latin typeface="Arial" pitchFamily="34" charset="0"/>
                <a:ea typeface="Arial" pitchFamily="34" charset="-122"/>
                <a:cs typeface="Arial" pitchFamily="34" charset="-120"/>
              </a:rPr>
              <a:t>Overall EDGE?</a:t>
            </a:r>
            <a:endParaRPr lang="en-US" sz="870" dirty="0"/>
          </a:p>
        </p:txBody>
      </p:sp>
      <p:sp>
        <p:nvSpPr>
          <p:cNvPr id="11" name="Shape 9"/>
          <p:cNvSpPr/>
          <p:nvPr/>
        </p:nvSpPr>
        <p:spPr>
          <a:xfrm>
            <a:off x="548640" y="1792224"/>
            <a:ext cx="10972800" cy="658368"/>
          </a:xfrm>
          <a:prstGeom prst="rect">
            <a:avLst/>
          </a:prstGeom>
          <a:solidFill>
            <a:srgbClr val="F5F7F8"/>
          </a:solidFill>
          <a:ln w="8890">
            <a:solidFill>
              <a:srgbClr val="E3E8EB"/>
            </a:solidFill>
            <a:prstDash val="solid"/>
          </a:ln>
        </p:spPr>
      </p:sp>
      <p:sp>
        <p:nvSpPr>
          <p:cNvPr id="12" name="Text 10"/>
          <p:cNvSpPr/>
          <p:nvPr/>
        </p:nvSpPr>
        <p:spPr>
          <a:xfrm>
            <a:off x="676656" y="1920240"/>
            <a:ext cx="2468880" cy="329184"/>
          </a:xfrm>
          <a:prstGeom prst="rect">
            <a:avLst/>
          </a:prstGeom>
          <a:noFill/>
          <a:ln/>
        </p:spPr>
        <p:txBody>
          <a:bodyPr wrap="square" lIns="0" tIns="0" rIns="0" bIns="0" rtlCol="0" anchor="ctr">
            <a:normAutofit/>
          </a:bodyPr>
          <a:lstStyle/>
          <a:p>
            <a:pPr algn="l" indent="0" marL="0">
              <a:buNone/>
            </a:pPr>
            <a:r>
              <a:rPr lang="en-US" sz="1040" b="1" dirty="0">
                <a:solidFill>
                  <a:srgbClr val="0B2A45"/>
                </a:solidFill>
                <a:latin typeface="Arial" pitchFamily="34" charset="0"/>
                <a:ea typeface="Arial" pitchFamily="34" charset="-122"/>
                <a:cs typeface="Arial" pitchFamily="34" charset="-120"/>
              </a:rPr>
              <a:t>Roll R25 / R50</a:t>
            </a:r>
            <a:endParaRPr lang="en-US" sz="1040" dirty="0"/>
          </a:p>
        </p:txBody>
      </p:sp>
      <p:sp>
        <p:nvSpPr>
          <p:cNvPr id="13" name="Text 11"/>
          <p:cNvSpPr/>
          <p:nvPr/>
        </p:nvSpPr>
        <p:spPr>
          <a:xfrm>
            <a:off x="3364992" y="1920240"/>
            <a:ext cx="3154680" cy="329184"/>
          </a:xfrm>
          <a:prstGeom prst="rect">
            <a:avLst/>
          </a:prstGeom>
          <a:noFill/>
          <a:ln/>
        </p:spPr>
        <p:txBody>
          <a:bodyPr wrap="square" lIns="0" tIns="0" rIns="0" bIns="0" rtlCol="0" anchor="ctr">
            <a:normAutofit/>
          </a:bodyPr>
          <a:lstStyle/>
          <a:p>
            <a:pPr algn="l" indent="0" marL="0">
              <a:buNone/>
            </a:pPr>
            <a:r>
              <a:rPr lang="en-US" sz="1000" dirty="0">
                <a:solidFill>
                  <a:srgbClr val="20313F"/>
                </a:solidFill>
                <a:latin typeface="Arial" pitchFamily="34" charset="0"/>
                <a:ea typeface="Arial" pitchFamily="34" charset="-122"/>
                <a:cs typeface="Arial" pitchFamily="34" charset="-120"/>
              </a:rPr>
              <a:t>Overall + class leader patterns</a:t>
            </a:r>
            <a:endParaRPr lang="en-US" sz="1000" dirty="0"/>
          </a:p>
        </p:txBody>
      </p:sp>
      <p:sp>
        <p:nvSpPr>
          <p:cNvPr id="14" name="Text 12"/>
          <p:cNvSpPr/>
          <p:nvPr/>
        </p:nvSpPr>
        <p:spPr>
          <a:xfrm>
            <a:off x="6766560" y="1901952"/>
            <a:ext cx="2286000" cy="365760"/>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Thin ETF tier cells tiny / unavailable</a:t>
            </a:r>
            <a:endParaRPr lang="en-US" sz="980" dirty="0"/>
          </a:p>
        </p:txBody>
      </p:sp>
      <p:sp>
        <p:nvSpPr>
          <p:cNvPr id="15" name="Shape 13"/>
          <p:cNvSpPr/>
          <p:nvPr/>
        </p:nvSpPr>
        <p:spPr>
          <a:xfrm>
            <a:off x="9491472" y="1929384"/>
            <a:ext cx="1325880" cy="356616"/>
          </a:xfrm>
          <a:prstGeom prst="roundRect">
            <a:avLst>
              <a:gd name="adj" fmla="val 15385"/>
            </a:avLst>
          </a:prstGeom>
          <a:solidFill>
            <a:srgbClr val="E2F2F3"/>
          </a:solidFill>
          <a:ln w="12700">
            <a:solidFill>
              <a:srgbClr val="E2F2F3"/>
            </a:solidFill>
            <a:prstDash val="solid"/>
          </a:ln>
        </p:spPr>
      </p:sp>
      <p:sp>
        <p:nvSpPr>
          <p:cNvPr id="16" name="Text 14"/>
          <p:cNvSpPr/>
          <p:nvPr/>
        </p:nvSpPr>
        <p:spPr>
          <a:xfrm>
            <a:off x="9537192" y="2020824"/>
            <a:ext cx="1234440" cy="164592"/>
          </a:xfrm>
          <a:prstGeom prst="rect">
            <a:avLst/>
          </a:prstGeom>
          <a:noFill/>
          <a:ln/>
        </p:spPr>
        <p:txBody>
          <a:bodyPr wrap="square" lIns="0" tIns="0" rIns="0" bIns="0" rtlCol="0" anchor="ctr">
            <a:normAutofit/>
          </a:bodyPr>
          <a:lstStyle/>
          <a:p>
            <a:pPr algn="ctr" indent="0" marL="0">
              <a:buNone/>
            </a:pPr>
            <a:r>
              <a:rPr lang="en-US" sz="820" b="1" dirty="0">
                <a:solidFill>
                  <a:srgbClr val="068A95"/>
                </a:solidFill>
                <a:latin typeface="Arial" pitchFamily="34" charset="0"/>
                <a:ea typeface="Arial" pitchFamily="34" charset="-122"/>
                <a:cs typeface="Arial" pitchFamily="34" charset="-120"/>
              </a:rPr>
              <a:t>SURVIVES</a:t>
            </a:r>
            <a:endParaRPr lang="en-US" sz="820" dirty="0"/>
          </a:p>
        </p:txBody>
      </p:sp>
      <p:sp>
        <p:nvSpPr>
          <p:cNvPr id="17" name="Shape 15"/>
          <p:cNvSpPr/>
          <p:nvPr/>
        </p:nvSpPr>
        <p:spPr>
          <a:xfrm>
            <a:off x="548640" y="2551176"/>
            <a:ext cx="10972800" cy="658368"/>
          </a:xfrm>
          <a:prstGeom prst="rect">
            <a:avLst/>
          </a:prstGeom>
          <a:solidFill>
            <a:srgbClr val="FBFCFD"/>
          </a:solidFill>
          <a:ln w="8890">
            <a:solidFill>
              <a:srgbClr val="E3E8EB"/>
            </a:solidFill>
            <a:prstDash val="solid"/>
          </a:ln>
        </p:spPr>
      </p:sp>
      <p:sp>
        <p:nvSpPr>
          <p:cNvPr id="18" name="Text 16"/>
          <p:cNvSpPr/>
          <p:nvPr/>
        </p:nvSpPr>
        <p:spPr>
          <a:xfrm>
            <a:off x="676656" y="2679192"/>
            <a:ext cx="2468880" cy="329184"/>
          </a:xfrm>
          <a:prstGeom prst="rect">
            <a:avLst/>
          </a:prstGeom>
          <a:noFill/>
          <a:ln/>
        </p:spPr>
        <p:txBody>
          <a:bodyPr wrap="square" lIns="0" tIns="0" rIns="0" bIns="0" rtlCol="0" anchor="ctr">
            <a:normAutofit/>
          </a:bodyPr>
          <a:lstStyle/>
          <a:p>
            <a:pPr algn="l" indent="0" marL="0">
              <a:buNone/>
            </a:pPr>
            <a:r>
              <a:rPr lang="en-US" sz="1040" b="1" dirty="0">
                <a:solidFill>
                  <a:srgbClr val="0B2A45"/>
                </a:solidFill>
                <a:latin typeface="Arial" pitchFamily="34" charset="0"/>
                <a:ea typeface="Arial" pitchFamily="34" charset="-122"/>
                <a:cs typeface="Arial" pitchFamily="34" charset="-120"/>
              </a:rPr>
              <a:t>Equal-asset weighting</a:t>
            </a:r>
            <a:endParaRPr lang="en-US" sz="1040" dirty="0"/>
          </a:p>
        </p:txBody>
      </p:sp>
      <p:sp>
        <p:nvSpPr>
          <p:cNvPr id="19" name="Text 17"/>
          <p:cNvSpPr/>
          <p:nvPr/>
        </p:nvSpPr>
        <p:spPr>
          <a:xfrm>
            <a:off x="3364992" y="2679192"/>
            <a:ext cx="3154680" cy="329184"/>
          </a:xfrm>
          <a:prstGeom prst="rect">
            <a:avLst/>
          </a:prstGeom>
          <a:noFill/>
          <a:ln/>
        </p:spPr>
        <p:txBody>
          <a:bodyPr wrap="square" lIns="0" tIns="0" rIns="0" bIns="0" rtlCol="0" anchor="ctr">
            <a:normAutofit/>
          </a:bodyPr>
          <a:lstStyle/>
          <a:p>
            <a:pPr algn="l" indent="0" marL="0">
              <a:buNone/>
            </a:pPr>
            <a:r>
              <a:rPr lang="en-US" sz="1000" dirty="0">
                <a:solidFill>
                  <a:srgbClr val="20313F"/>
                </a:solidFill>
                <a:latin typeface="Arial" pitchFamily="34" charset="0"/>
                <a:ea typeface="Arial" pitchFamily="34" charset="-122"/>
                <a:cs typeface="Arial" pitchFamily="34" charset="-120"/>
              </a:rPr>
              <a:t>Overall and class leaders</a:t>
            </a:r>
            <a:endParaRPr lang="en-US" sz="1000" dirty="0"/>
          </a:p>
        </p:txBody>
      </p:sp>
      <p:sp>
        <p:nvSpPr>
          <p:cNvPr id="20" name="Text 18"/>
          <p:cNvSpPr/>
          <p:nvPr/>
        </p:nvSpPr>
        <p:spPr>
          <a:xfrm>
            <a:off x="6766560" y="2660904"/>
            <a:ext cx="2286000" cy="365760"/>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Different estimand; selection remains</a:t>
            </a:r>
            <a:endParaRPr lang="en-US" sz="980" dirty="0"/>
          </a:p>
        </p:txBody>
      </p:sp>
      <p:sp>
        <p:nvSpPr>
          <p:cNvPr id="21" name="Shape 19"/>
          <p:cNvSpPr/>
          <p:nvPr/>
        </p:nvSpPr>
        <p:spPr>
          <a:xfrm>
            <a:off x="9491472" y="2688336"/>
            <a:ext cx="1325880" cy="356616"/>
          </a:xfrm>
          <a:prstGeom prst="roundRect">
            <a:avLst>
              <a:gd name="adj" fmla="val 15385"/>
            </a:avLst>
          </a:prstGeom>
          <a:solidFill>
            <a:srgbClr val="E2F2F3"/>
          </a:solidFill>
          <a:ln w="12700">
            <a:solidFill>
              <a:srgbClr val="E2F2F3"/>
            </a:solidFill>
            <a:prstDash val="solid"/>
          </a:ln>
        </p:spPr>
      </p:sp>
      <p:sp>
        <p:nvSpPr>
          <p:cNvPr id="22" name="Text 20"/>
          <p:cNvSpPr/>
          <p:nvPr/>
        </p:nvSpPr>
        <p:spPr>
          <a:xfrm>
            <a:off x="9537192" y="2779776"/>
            <a:ext cx="1234440" cy="164592"/>
          </a:xfrm>
          <a:prstGeom prst="rect">
            <a:avLst/>
          </a:prstGeom>
          <a:noFill/>
          <a:ln/>
        </p:spPr>
        <p:txBody>
          <a:bodyPr wrap="square" lIns="0" tIns="0" rIns="0" bIns="0" rtlCol="0" anchor="ctr">
            <a:normAutofit/>
          </a:bodyPr>
          <a:lstStyle/>
          <a:p>
            <a:pPr algn="ctr" indent="0" marL="0">
              <a:buNone/>
            </a:pPr>
            <a:r>
              <a:rPr lang="en-US" sz="820" b="1" dirty="0">
                <a:solidFill>
                  <a:srgbClr val="068A95"/>
                </a:solidFill>
                <a:latin typeface="Arial" pitchFamily="34" charset="0"/>
                <a:ea typeface="Arial" pitchFamily="34" charset="-122"/>
                <a:cs typeface="Arial" pitchFamily="34" charset="-120"/>
              </a:rPr>
              <a:t>SURVIVES</a:t>
            </a:r>
            <a:endParaRPr lang="en-US" sz="820" dirty="0"/>
          </a:p>
        </p:txBody>
      </p:sp>
      <p:sp>
        <p:nvSpPr>
          <p:cNvPr id="23" name="Shape 21"/>
          <p:cNvSpPr/>
          <p:nvPr/>
        </p:nvSpPr>
        <p:spPr>
          <a:xfrm>
            <a:off x="548640" y="3310128"/>
            <a:ext cx="10972800" cy="658368"/>
          </a:xfrm>
          <a:prstGeom prst="rect">
            <a:avLst/>
          </a:prstGeom>
          <a:solidFill>
            <a:srgbClr val="F5F7F8"/>
          </a:solidFill>
          <a:ln w="8890">
            <a:solidFill>
              <a:srgbClr val="E3E8EB"/>
            </a:solidFill>
            <a:prstDash val="solid"/>
          </a:ln>
        </p:spPr>
      </p:sp>
      <p:sp>
        <p:nvSpPr>
          <p:cNvPr id="24" name="Text 22"/>
          <p:cNvSpPr/>
          <p:nvPr/>
        </p:nvSpPr>
        <p:spPr>
          <a:xfrm>
            <a:off x="676656" y="3438144"/>
            <a:ext cx="2468880" cy="329184"/>
          </a:xfrm>
          <a:prstGeom prst="rect">
            <a:avLst/>
          </a:prstGeom>
          <a:noFill/>
          <a:ln/>
        </p:spPr>
        <p:txBody>
          <a:bodyPr wrap="square" lIns="0" tIns="0" rIns="0" bIns="0" rtlCol="0" anchor="ctr">
            <a:normAutofit/>
          </a:bodyPr>
          <a:lstStyle/>
          <a:p>
            <a:pPr algn="l" indent="0" marL="0">
              <a:buNone/>
            </a:pPr>
            <a:r>
              <a:rPr lang="en-US" sz="1040" b="1" dirty="0">
                <a:solidFill>
                  <a:srgbClr val="0B2A45"/>
                </a:solidFill>
                <a:latin typeface="Arial" pitchFamily="34" charset="0"/>
                <a:ea typeface="Arial" pitchFamily="34" charset="-122"/>
                <a:cs typeface="Arial" pitchFamily="34" charset="-120"/>
              </a:rPr>
              <a:t>Bloomberg adj. / unadj.</a:t>
            </a:r>
            <a:endParaRPr lang="en-US" sz="1040" dirty="0"/>
          </a:p>
        </p:txBody>
      </p:sp>
      <p:sp>
        <p:nvSpPr>
          <p:cNvPr id="25" name="Text 23"/>
          <p:cNvSpPr/>
          <p:nvPr/>
        </p:nvSpPr>
        <p:spPr>
          <a:xfrm>
            <a:off x="3364992" y="3438144"/>
            <a:ext cx="3154680" cy="329184"/>
          </a:xfrm>
          <a:prstGeom prst="rect">
            <a:avLst/>
          </a:prstGeom>
          <a:noFill/>
          <a:ln/>
        </p:spPr>
        <p:txBody>
          <a:bodyPr wrap="square" lIns="0" tIns="0" rIns="0" bIns="0" rtlCol="0" anchor="ctr">
            <a:normAutofit/>
          </a:bodyPr>
          <a:lstStyle/>
          <a:p>
            <a:pPr algn="l" indent="0" marL="0">
              <a:buNone/>
            </a:pPr>
            <a:r>
              <a:rPr lang="en-US" sz="1000" dirty="0">
                <a:solidFill>
                  <a:srgbClr val="20313F"/>
                </a:solidFill>
                <a:latin typeface="Arial" pitchFamily="34" charset="0"/>
                <a:ea typeface="Arial" pitchFamily="34" charset="-122"/>
                <a:cs typeface="Arial" pitchFamily="34" charset="-120"/>
              </a:rPr>
              <a:t>Stock / ETF class leaders</a:t>
            </a:r>
            <a:endParaRPr lang="en-US" sz="1000" dirty="0"/>
          </a:p>
        </p:txBody>
      </p:sp>
      <p:sp>
        <p:nvSpPr>
          <p:cNvPr id="26" name="Text 24"/>
          <p:cNvSpPr/>
          <p:nvPr/>
        </p:nvSpPr>
        <p:spPr>
          <a:xfrm>
            <a:off x="6766560" y="3419856"/>
            <a:ext cx="2286000" cy="365760"/>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Local corporate-event caveats</a:t>
            </a:r>
            <a:endParaRPr lang="en-US" sz="980" dirty="0"/>
          </a:p>
        </p:txBody>
      </p:sp>
      <p:sp>
        <p:nvSpPr>
          <p:cNvPr id="27" name="Shape 25"/>
          <p:cNvSpPr/>
          <p:nvPr/>
        </p:nvSpPr>
        <p:spPr>
          <a:xfrm>
            <a:off x="9491472" y="3447288"/>
            <a:ext cx="1325880" cy="356616"/>
          </a:xfrm>
          <a:prstGeom prst="roundRect">
            <a:avLst>
              <a:gd name="adj" fmla="val 15385"/>
            </a:avLst>
          </a:prstGeom>
          <a:solidFill>
            <a:srgbClr val="E2F2F3"/>
          </a:solidFill>
          <a:ln w="12700">
            <a:solidFill>
              <a:srgbClr val="E2F2F3"/>
            </a:solidFill>
            <a:prstDash val="solid"/>
          </a:ln>
        </p:spPr>
      </p:sp>
      <p:sp>
        <p:nvSpPr>
          <p:cNvPr id="28" name="Text 26"/>
          <p:cNvSpPr/>
          <p:nvPr/>
        </p:nvSpPr>
        <p:spPr>
          <a:xfrm>
            <a:off x="9537192" y="3538728"/>
            <a:ext cx="1234440" cy="164592"/>
          </a:xfrm>
          <a:prstGeom prst="rect">
            <a:avLst/>
          </a:prstGeom>
          <a:noFill/>
          <a:ln/>
        </p:spPr>
        <p:txBody>
          <a:bodyPr wrap="square" lIns="0" tIns="0" rIns="0" bIns="0" rtlCol="0" anchor="ctr">
            <a:normAutofit/>
          </a:bodyPr>
          <a:lstStyle/>
          <a:p>
            <a:pPr algn="ctr" indent="0" marL="0">
              <a:buNone/>
            </a:pPr>
            <a:r>
              <a:rPr lang="en-US" sz="820" b="1" dirty="0">
                <a:solidFill>
                  <a:srgbClr val="068A95"/>
                </a:solidFill>
                <a:latin typeface="Arial" pitchFamily="34" charset="0"/>
                <a:ea typeface="Arial" pitchFamily="34" charset="-122"/>
                <a:cs typeface="Arial" pitchFamily="34" charset="-120"/>
              </a:rPr>
              <a:t>SURVIVES</a:t>
            </a:r>
            <a:endParaRPr lang="en-US" sz="820" dirty="0"/>
          </a:p>
        </p:txBody>
      </p:sp>
      <p:sp>
        <p:nvSpPr>
          <p:cNvPr id="29" name="Shape 27"/>
          <p:cNvSpPr/>
          <p:nvPr/>
        </p:nvSpPr>
        <p:spPr>
          <a:xfrm>
            <a:off x="548640" y="4069080"/>
            <a:ext cx="10972800" cy="658368"/>
          </a:xfrm>
          <a:prstGeom prst="rect">
            <a:avLst/>
          </a:prstGeom>
          <a:solidFill>
            <a:srgbClr val="FBFCFD"/>
          </a:solidFill>
          <a:ln w="8890">
            <a:solidFill>
              <a:srgbClr val="E3E8EB"/>
            </a:solidFill>
            <a:prstDash val="solid"/>
          </a:ln>
        </p:spPr>
      </p:sp>
      <p:sp>
        <p:nvSpPr>
          <p:cNvPr id="30" name="Text 28"/>
          <p:cNvSpPr/>
          <p:nvPr/>
        </p:nvSpPr>
        <p:spPr>
          <a:xfrm>
            <a:off x="676656" y="4197096"/>
            <a:ext cx="2468880" cy="329184"/>
          </a:xfrm>
          <a:prstGeom prst="rect">
            <a:avLst/>
          </a:prstGeom>
          <a:noFill/>
          <a:ln/>
        </p:spPr>
        <p:txBody>
          <a:bodyPr wrap="square" lIns="0" tIns="0" rIns="0" bIns="0" rtlCol="0" anchor="ctr">
            <a:normAutofit/>
          </a:bodyPr>
          <a:lstStyle/>
          <a:p>
            <a:pPr algn="l" indent="0" marL="0">
              <a:buNone/>
            </a:pPr>
            <a:r>
              <a:rPr lang="en-US" sz="1040" b="1" dirty="0">
                <a:solidFill>
                  <a:srgbClr val="0B2A45"/>
                </a:solidFill>
                <a:latin typeface="Arial" pitchFamily="34" charset="0"/>
                <a:ea typeface="Arial" pitchFamily="34" charset="-122"/>
                <a:cs typeface="Arial" pitchFamily="34" charset="-120"/>
              </a:rPr>
              <a:t>EDGE abs-root</a:t>
            </a:r>
            <a:endParaRPr lang="en-US" sz="1040" dirty="0"/>
          </a:p>
        </p:txBody>
      </p:sp>
      <p:sp>
        <p:nvSpPr>
          <p:cNvPr id="31" name="Text 29"/>
          <p:cNvSpPr/>
          <p:nvPr/>
        </p:nvSpPr>
        <p:spPr>
          <a:xfrm>
            <a:off x="3364992" y="4197096"/>
            <a:ext cx="3154680" cy="329184"/>
          </a:xfrm>
          <a:prstGeom prst="rect">
            <a:avLst/>
          </a:prstGeom>
          <a:noFill/>
          <a:ln/>
        </p:spPr>
        <p:txBody>
          <a:bodyPr wrap="square" lIns="0" tIns="0" rIns="0" bIns="0" rtlCol="0" anchor="ctr">
            <a:normAutofit/>
          </a:bodyPr>
          <a:lstStyle/>
          <a:p>
            <a:pPr algn="l" indent="0" marL="0">
              <a:buNone/>
            </a:pPr>
            <a:r>
              <a:rPr lang="en-US" sz="1000" dirty="0">
                <a:solidFill>
                  <a:srgbClr val="20313F"/>
                </a:solidFill>
                <a:latin typeface="Arial" pitchFamily="34" charset="0"/>
                <a:ea typeface="Arial" pitchFamily="34" charset="-122"/>
                <a:cs typeface="Arial" pitchFamily="34" charset="-120"/>
              </a:rPr>
              <a:t>Overall EDGE leadership</a:t>
            </a:r>
            <a:endParaRPr lang="en-US" sz="1000" dirty="0"/>
          </a:p>
        </p:txBody>
      </p:sp>
      <p:sp>
        <p:nvSpPr>
          <p:cNvPr id="32" name="Text 30"/>
          <p:cNvSpPr/>
          <p:nvPr/>
        </p:nvSpPr>
        <p:spPr>
          <a:xfrm>
            <a:off x="6766560" y="4178808"/>
            <a:ext cx="2286000" cy="365760"/>
          </a:xfrm>
          <a:prstGeom prst="rect">
            <a:avLst/>
          </a:prstGeom>
          <a:noFill/>
          <a:ln/>
        </p:spPr>
        <p:txBody>
          <a:bodyPr wrap="square" lIns="0" tIns="0" rIns="0" bIns="0" rtlCol="0" anchor="ctr">
            <a:normAutofit/>
          </a:bodyPr>
          <a:lstStyle/>
          <a:p>
            <a:pPr algn="l" indent="0" marL="0">
              <a:buNone/>
            </a:pPr>
            <a:r>
              <a:rPr lang="en-US" sz="980" b="1" dirty="0">
                <a:solidFill>
                  <a:srgbClr val="C8902F"/>
                </a:solidFill>
                <a:latin typeface="Arial" pitchFamily="34" charset="0"/>
                <a:ea typeface="Arial" pitchFamily="34" charset="-122"/>
                <a:cs typeface="Arial" pitchFamily="34" charset="-120"/>
              </a:rPr>
              <a:t>Stocks switch to CS on both metrics</a:t>
            </a:r>
            <a:endParaRPr lang="en-US" sz="980" dirty="0"/>
          </a:p>
        </p:txBody>
      </p:sp>
      <p:sp>
        <p:nvSpPr>
          <p:cNvPr id="33" name="Shape 31"/>
          <p:cNvSpPr/>
          <p:nvPr/>
        </p:nvSpPr>
        <p:spPr>
          <a:xfrm>
            <a:off x="9491472" y="4206240"/>
            <a:ext cx="1325880" cy="356616"/>
          </a:xfrm>
          <a:prstGeom prst="roundRect">
            <a:avLst>
              <a:gd name="adj" fmla="val 15385"/>
            </a:avLst>
          </a:prstGeom>
          <a:solidFill>
            <a:srgbClr val="E2F2F3"/>
          </a:solidFill>
          <a:ln w="12700">
            <a:solidFill>
              <a:srgbClr val="E2F2F3"/>
            </a:solidFill>
            <a:prstDash val="solid"/>
          </a:ln>
        </p:spPr>
      </p:sp>
      <p:sp>
        <p:nvSpPr>
          <p:cNvPr id="34" name="Text 32"/>
          <p:cNvSpPr/>
          <p:nvPr/>
        </p:nvSpPr>
        <p:spPr>
          <a:xfrm>
            <a:off x="9537192" y="4297680"/>
            <a:ext cx="1234440" cy="164592"/>
          </a:xfrm>
          <a:prstGeom prst="rect">
            <a:avLst/>
          </a:prstGeom>
          <a:noFill/>
          <a:ln/>
        </p:spPr>
        <p:txBody>
          <a:bodyPr wrap="square" lIns="0" tIns="0" rIns="0" bIns="0" rtlCol="0" anchor="ctr">
            <a:normAutofit/>
          </a:bodyPr>
          <a:lstStyle/>
          <a:p>
            <a:pPr algn="ctr" indent="0" marL="0">
              <a:buNone/>
            </a:pPr>
            <a:r>
              <a:rPr lang="en-US" sz="820" b="1" dirty="0">
                <a:solidFill>
                  <a:srgbClr val="068A95"/>
                </a:solidFill>
                <a:latin typeface="Arial" pitchFamily="34" charset="0"/>
                <a:ea typeface="Arial" pitchFamily="34" charset="-122"/>
                <a:cs typeface="Arial" pitchFamily="34" charset="-120"/>
              </a:rPr>
              <a:t>SURVIVES</a:t>
            </a:r>
            <a:endParaRPr lang="en-US" sz="820" dirty="0"/>
          </a:p>
        </p:txBody>
      </p:sp>
      <p:sp>
        <p:nvSpPr>
          <p:cNvPr id="35" name="Shape 33"/>
          <p:cNvSpPr/>
          <p:nvPr/>
        </p:nvSpPr>
        <p:spPr>
          <a:xfrm>
            <a:off x="548640" y="4828032"/>
            <a:ext cx="10972800" cy="658368"/>
          </a:xfrm>
          <a:prstGeom prst="rect">
            <a:avLst/>
          </a:prstGeom>
          <a:solidFill>
            <a:srgbClr val="F5F7F8"/>
          </a:solidFill>
          <a:ln w="8890">
            <a:solidFill>
              <a:srgbClr val="E3E8EB"/>
            </a:solidFill>
            <a:prstDash val="solid"/>
          </a:ln>
        </p:spPr>
      </p:sp>
      <p:sp>
        <p:nvSpPr>
          <p:cNvPr id="36" name="Text 34"/>
          <p:cNvSpPr/>
          <p:nvPr/>
        </p:nvSpPr>
        <p:spPr>
          <a:xfrm>
            <a:off x="676656" y="4956048"/>
            <a:ext cx="2468880" cy="329184"/>
          </a:xfrm>
          <a:prstGeom prst="rect">
            <a:avLst/>
          </a:prstGeom>
          <a:noFill/>
          <a:ln/>
        </p:spPr>
        <p:txBody>
          <a:bodyPr wrap="square" lIns="0" tIns="0" rIns="0" bIns="0" rtlCol="0" anchor="ctr">
            <a:normAutofit/>
          </a:bodyPr>
          <a:lstStyle/>
          <a:p>
            <a:pPr algn="l" indent="0" marL="0">
              <a:buNone/>
            </a:pPr>
            <a:r>
              <a:rPr lang="en-US" sz="1040" b="1" dirty="0">
                <a:solidFill>
                  <a:srgbClr val="0B2A45"/>
                </a:solidFill>
                <a:latin typeface="Arial" pitchFamily="34" charset="0"/>
                <a:ea typeface="Arial" pitchFamily="34" charset="-122"/>
                <a:cs typeface="Arial" pitchFamily="34" charset="-120"/>
              </a:rPr>
              <a:t>Leave-one-asset-out</a:t>
            </a:r>
            <a:endParaRPr lang="en-US" sz="1040" dirty="0"/>
          </a:p>
        </p:txBody>
      </p:sp>
      <p:sp>
        <p:nvSpPr>
          <p:cNvPr id="37" name="Text 35"/>
          <p:cNvSpPr/>
          <p:nvPr/>
        </p:nvSpPr>
        <p:spPr>
          <a:xfrm>
            <a:off x="3364992" y="4956048"/>
            <a:ext cx="3154680" cy="329184"/>
          </a:xfrm>
          <a:prstGeom prst="rect">
            <a:avLst/>
          </a:prstGeom>
          <a:noFill/>
          <a:ln/>
        </p:spPr>
        <p:txBody>
          <a:bodyPr wrap="square" lIns="0" tIns="0" rIns="0" bIns="0" rtlCol="0" anchor="ctr">
            <a:normAutofit/>
          </a:bodyPr>
          <a:lstStyle/>
          <a:p>
            <a:pPr algn="l" indent="0" marL="0">
              <a:buNone/>
            </a:pPr>
            <a:r>
              <a:rPr lang="en-US" sz="1000" dirty="0">
                <a:solidFill>
                  <a:srgbClr val="20313F"/>
                </a:solidFill>
                <a:latin typeface="Arial" pitchFamily="34" charset="0"/>
                <a:ea typeface="Arial" pitchFamily="34" charset="-122"/>
                <a:cs typeface="Arial" pitchFamily="34" charset="-120"/>
              </a:rPr>
              <a:t>Within-class MAE leaders</a:t>
            </a:r>
            <a:endParaRPr lang="en-US" sz="1000" dirty="0"/>
          </a:p>
        </p:txBody>
      </p:sp>
      <p:sp>
        <p:nvSpPr>
          <p:cNvPr id="38" name="Text 36"/>
          <p:cNvSpPr/>
          <p:nvPr/>
        </p:nvSpPr>
        <p:spPr>
          <a:xfrm>
            <a:off x="6766560" y="4937760"/>
            <a:ext cx="2286000" cy="365760"/>
          </a:xfrm>
          <a:prstGeom prst="rect">
            <a:avLst/>
          </a:prstGeom>
          <a:noFill/>
          <a:ln/>
        </p:spPr>
        <p:txBody>
          <a:bodyPr wrap="square" lIns="0" tIns="0" rIns="0" bIns="0" rtlCol="0" anchor="ctr">
            <a:normAutofit/>
          </a:bodyPr>
          <a:lstStyle/>
          <a:p>
            <a:pPr algn="l" indent="0" marL="0">
              <a:buNone/>
            </a:pPr>
            <a:r>
              <a:rPr lang="en-US" sz="980" b="1" dirty="0">
                <a:solidFill>
                  <a:srgbClr val="C8902F"/>
                </a:solidFill>
                <a:latin typeface="Arial" pitchFamily="34" charset="0"/>
                <a:ea typeface="Arial" pitchFamily="34" charset="-122"/>
                <a:cs typeface="Arial" pitchFamily="34" charset="-120"/>
              </a:rPr>
              <a:t>Stock RMSE changes if SNDL omitted</a:t>
            </a:r>
            <a:endParaRPr lang="en-US" sz="980" dirty="0"/>
          </a:p>
        </p:txBody>
      </p:sp>
      <p:sp>
        <p:nvSpPr>
          <p:cNvPr id="39" name="Shape 37"/>
          <p:cNvSpPr/>
          <p:nvPr/>
        </p:nvSpPr>
        <p:spPr>
          <a:xfrm>
            <a:off x="9491472" y="4965192"/>
            <a:ext cx="1325880" cy="356616"/>
          </a:xfrm>
          <a:prstGeom prst="roundRect">
            <a:avLst>
              <a:gd name="adj" fmla="val 15385"/>
            </a:avLst>
          </a:prstGeom>
          <a:solidFill>
            <a:srgbClr val="E2F2F3"/>
          </a:solidFill>
          <a:ln w="12700">
            <a:solidFill>
              <a:srgbClr val="E2F2F3"/>
            </a:solidFill>
            <a:prstDash val="solid"/>
          </a:ln>
        </p:spPr>
      </p:sp>
      <p:sp>
        <p:nvSpPr>
          <p:cNvPr id="40" name="Text 38"/>
          <p:cNvSpPr/>
          <p:nvPr/>
        </p:nvSpPr>
        <p:spPr>
          <a:xfrm>
            <a:off x="9537192" y="5056632"/>
            <a:ext cx="1234440" cy="164592"/>
          </a:xfrm>
          <a:prstGeom prst="rect">
            <a:avLst/>
          </a:prstGeom>
          <a:noFill/>
          <a:ln/>
        </p:spPr>
        <p:txBody>
          <a:bodyPr wrap="square" lIns="0" tIns="0" rIns="0" bIns="0" rtlCol="0" anchor="ctr">
            <a:normAutofit/>
          </a:bodyPr>
          <a:lstStyle/>
          <a:p>
            <a:pPr algn="ctr" indent="0" marL="0">
              <a:buNone/>
            </a:pPr>
            <a:r>
              <a:rPr lang="en-US" sz="820" b="1" dirty="0">
                <a:solidFill>
                  <a:srgbClr val="068A95"/>
                </a:solidFill>
                <a:latin typeface="Arial" pitchFamily="34" charset="0"/>
                <a:ea typeface="Arial" pitchFamily="34" charset="-122"/>
                <a:cs typeface="Arial" pitchFamily="34" charset="-120"/>
              </a:rPr>
              <a:t>SURVIVES</a:t>
            </a:r>
            <a:endParaRPr lang="en-US" sz="820" dirty="0"/>
          </a:p>
        </p:txBody>
      </p:sp>
      <p:sp>
        <p:nvSpPr>
          <p:cNvPr id="41" name="Shape 39"/>
          <p:cNvSpPr/>
          <p:nvPr/>
        </p:nvSpPr>
        <p:spPr>
          <a:xfrm>
            <a:off x="1124712" y="5870448"/>
            <a:ext cx="9930384" cy="475488"/>
          </a:xfrm>
          <a:prstGeom prst="roundRect">
            <a:avLst>
              <a:gd name="adj" fmla="val 11538"/>
            </a:avLst>
          </a:prstGeom>
          <a:solidFill>
            <a:srgbClr val="E2F2F3"/>
          </a:solidFill>
          <a:ln w="12700">
            <a:solidFill>
              <a:srgbClr val="E2F2F3"/>
            </a:solidFill>
            <a:prstDash val="solid"/>
          </a:ln>
        </p:spPr>
      </p:sp>
      <p:sp>
        <p:nvSpPr>
          <p:cNvPr id="42" name="Text 40"/>
          <p:cNvSpPr/>
          <p:nvPr/>
        </p:nvSpPr>
        <p:spPr>
          <a:xfrm>
            <a:off x="1353312" y="5989320"/>
            <a:ext cx="9473184" cy="201168"/>
          </a:xfrm>
          <a:prstGeom prst="rect">
            <a:avLst/>
          </a:prstGeom>
          <a:noFill/>
          <a:ln/>
        </p:spPr>
        <p:txBody>
          <a:bodyPr wrap="square" lIns="0" tIns="0" rIns="0" bIns="0" rtlCol="0" anchor="ctr">
            <a:normAutofit/>
          </a:bodyPr>
          <a:lstStyle/>
          <a:p>
            <a:pPr algn="ctr" indent="0" marL="0">
              <a:buNone/>
            </a:pPr>
            <a:r>
              <a:rPr lang="en-US" sz="1260" b="1" dirty="0">
                <a:solidFill>
                  <a:srgbClr val="0B2A45"/>
                </a:solidFill>
                <a:latin typeface="Arial" pitchFamily="34" charset="0"/>
                <a:ea typeface="Arial" pitchFamily="34" charset="-122"/>
                <a:cs typeface="Arial" pitchFamily="34" charset="-120"/>
              </a:rPr>
              <a:t>Overall EDGE result is robust. Stock RMSE and sparse-tier conclusions are the fragile pieces.</a:t>
            </a:r>
            <a:endParaRPr lang="en-US" sz="126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CONCLUSION</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EDGE wins overall — not everywhere</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The economic answer is conditional method choice, not universal superiority</a:t>
            </a:r>
            <a:endParaRPr lang="en-US" sz="1070" dirty="0"/>
          </a:p>
        </p:txBody>
      </p:sp>
      <p:sp>
        <p:nvSpPr>
          <p:cNvPr id="5" name="Shape 3"/>
          <p:cNvSpPr/>
          <p:nvPr/>
        </p:nvSpPr>
        <p:spPr>
          <a:xfrm>
            <a:off x="603504" y="1481328"/>
            <a:ext cx="10972800" cy="1005840"/>
          </a:xfrm>
          <a:prstGeom prst="roundRect">
            <a:avLst>
              <a:gd name="adj" fmla="val 5455"/>
            </a:avLst>
          </a:prstGeom>
          <a:solidFill>
            <a:srgbClr val="E2F2F3"/>
          </a:solidFill>
          <a:ln w="12700">
            <a:solidFill>
              <a:srgbClr val="BFDDE0"/>
            </a:solidFill>
            <a:prstDash val="solid"/>
          </a:ln>
          <a:effectLst>
            <a:outerShdw sx="100000" sy="100000" kx="0" ky="0" algn="bl" rotWithShape="0" blurRad="19050" dist="50800" dir="2700000">
              <a:srgbClr val="DDE3E7">
                <a:alpha val="20000"/>
              </a:srgbClr>
            </a:outerShdw>
          </a:effectLst>
        </p:spPr>
      </p:sp>
      <p:sp>
        <p:nvSpPr>
          <p:cNvPr id="6" name="Text 4"/>
          <p:cNvSpPr/>
          <p:nvPr/>
        </p:nvSpPr>
        <p:spPr>
          <a:xfrm>
            <a:off x="932688" y="1746504"/>
            <a:ext cx="10287000" cy="438912"/>
          </a:xfrm>
          <a:prstGeom prst="rect">
            <a:avLst/>
          </a:prstGeom>
          <a:noFill/>
          <a:ln/>
        </p:spPr>
        <p:txBody>
          <a:bodyPr wrap="square" lIns="0" tIns="0" rIns="0" bIns="0" rtlCol="0" anchor="ctr">
            <a:normAutofit/>
          </a:bodyPr>
          <a:lstStyle/>
          <a:p>
            <a:pPr algn="ctr" indent="0" marL="0">
              <a:buNone/>
            </a:pPr>
            <a:r>
              <a:rPr lang="en-US" sz="2020" b="1" dirty="0">
                <a:solidFill>
                  <a:srgbClr val="0B2A45"/>
                </a:solidFill>
                <a:latin typeface="Arial" pitchFamily="34" charset="0"/>
                <a:ea typeface="Arial" pitchFamily="34" charset="-122"/>
                <a:cs typeface="Arial" pitchFamily="34" charset="-120"/>
              </a:rPr>
              <a:t>EDGE is the strongest overall match to the frozen Roll benchmark, but no estimator dominates universally.</a:t>
            </a:r>
            <a:endParaRPr lang="en-US" sz="2020" dirty="0"/>
          </a:p>
        </p:txBody>
      </p:sp>
      <p:sp>
        <p:nvSpPr>
          <p:cNvPr id="7" name="Shape 5"/>
          <p:cNvSpPr/>
          <p:nvPr/>
        </p:nvSpPr>
        <p:spPr>
          <a:xfrm>
            <a:off x="594360" y="2862072"/>
            <a:ext cx="2450592" cy="1572768"/>
          </a:xfrm>
          <a:prstGeom prst="roundRect">
            <a:avLst>
              <a:gd name="adj" fmla="val 3488"/>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8" name="Text 6"/>
          <p:cNvSpPr/>
          <p:nvPr/>
        </p:nvSpPr>
        <p:spPr>
          <a:xfrm>
            <a:off x="713232" y="3072384"/>
            <a:ext cx="2212848" cy="219456"/>
          </a:xfrm>
          <a:prstGeom prst="rect">
            <a:avLst/>
          </a:prstGeom>
          <a:noFill/>
          <a:ln/>
        </p:spPr>
        <p:txBody>
          <a:bodyPr wrap="square" lIns="0" tIns="0" rIns="0" bIns="0" rtlCol="0" anchor="ctr">
            <a:normAutofit/>
          </a:bodyPr>
          <a:lstStyle/>
          <a:p>
            <a:pPr algn="ctr" indent="0" marL="0">
              <a:buNone/>
            </a:pPr>
            <a:r>
              <a:rPr lang="en-US" sz="1240" b="1" dirty="0">
                <a:solidFill>
                  <a:srgbClr val="0B2A45"/>
                </a:solidFill>
                <a:latin typeface="Arial" pitchFamily="34" charset="0"/>
                <a:ea typeface="Arial" pitchFamily="34" charset="-122"/>
                <a:cs typeface="Arial" pitchFamily="34" charset="-120"/>
              </a:rPr>
              <a:t>STOCKS</a:t>
            </a:r>
            <a:endParaRPr lang="en-US" sz="1240" dirty="0"/>
          </a:p>
        </p:txBody>
      </p:sp>
      <p:sp>
        <p:nvSpPr>
          <p:cNvPr id="9" name="Text 7"/>
          <p:cNvSpPr/>
          <p:nvPr/>
        </p:nvSpPr>
        <p:spPr>
          <a:xfrm>
            <a:off x="740664" y="3511296"/>
            <a:ext cx="2157984" cy="420624"/>
          </a:xfrm>
          <a:prstGeom prst="rect">
            <a:avLst/>
          </a:prstGeom>
          <a:noFill/>
          <a:ln/>
        </p:spPr>
        <p:txBody>
          <a:bodyPr wrap="square" lIns="0" tIns="0" rIns="0" bIns="0" rtlCol="0" anchor="ctr">
            <a:normAutofit/>
          </a:bodyPr>
          <a:lstStyle/>
          <a:p>
            <a:pPr algn="ctr" indent="0" marL="0">
              <a:buNone/>
            </a:pPr>
            <a:r>
              <a:rPr lang="en-US" sz="1050" b="1" dirty="0">
                <a:solidFill>
                  <a:srgbClr val="20313F"/>
                </a:solidFill>
                <a:latin typeface="Arial" pitchFamily="34" charset="0"/>
                <a:ea typeface="Arial" pitchFamily="34" charset="-122"/>
                <a:cs typeface="Arial" pitchFamily="34" charset="-120"/>
              </a:rPr>
              <a:t>EDGE by MAE · CS by RMSE</a:t>
            </a:r>
            <a:endParaRPr lang="en-US" sz="1050" dirty="0"/>
          </a:p>
        </p:txBody>
      </p:sp>
      <p:sp>
        <p:nvSpPr>
          <p:cNvPr id="10" name="Shape 8"/>
          <p:cNvSpPr/>
          <p:nvPr/>
        </p:nvSpPr>
        <p:spPr>
          <a:xfrm>
            <a:off x="1271016" y="4005072"/>
            <a:ext cx="1097280" cy="310896"/>
          </a:xfrm>
          <a:prstGeom prst="roundRect">
            <a:avLst>
              <a:gd name="adj" fmla="val 17647"/>
            </a:avLst>
          </a:prstGeom>
          <a:solidFill>
            <a:srgbClr val="F7EEDB"/>
          </a:solidFill>
          <a:ln w="12700">
            <a:solidFill>
              <a:srgbClr val="F7EEDB"/>
            </a:solidFill>
            <a:prstDash val="solid"/>
          </a:ln>
        </p:spPr>
      </p:sp>
      <p:sp>
        <p:nvSpPr>
          <p:cNvPr id="11" name="Text 9"/>
          <p:cNvSpPr/>
          <p:nvPr/>
        </p:nvSpPr>
        <p:spPr>
          <a:xfrm>
            <a:off x="1307592" y="4078224"/>
            <a:ext cx="1024128" cy="155448"/>
          </a:xfrm>
          <a:prstGeom prst="rect">
            <a:avLst/>
          </a:prstGeom>
          <a:noFill/>
          <a:ln/>
        </p:spPr>
        <p:txBody>
          <a:bodyPr wrap="square" lIns="0" tIns="0" rIns="0" bIns="0" rtlCol="0" anchor="ctr">
            <a:normAutofit/>
          </a:bodyPr>
          <a:lstStyle/>
          <a:p>
            <a:pPr algn="ctr" indent="0" marL="0">
              <a:buNone/>
            </a:pPr>
            <a:r>
              <a:rPr lang="en-US" sz="860" b="1" dirty="0">
                <a:solidFill>
                  <a:srgbClr val="C8902F"/>
                </a:solidFill>
                <a:latin typeface="Arial" pitchFamily="34" charset="0"/>
                <a:ea typeface="Arial" pitchFamily="34" charset="-122"/>
                <a:cs typeface="Arial" pitchFamily="34" charset="-120"/>
              </a:rPr>
              <a:t>MIXED</a:t>
            </a:r>
            <a:endParaRPr lang="en-US" sz="860" dirty="0"/>
          </a:p>
        </p:txBody>
      </p:sp>
      <p:sp>
        <p:nvSpPr>
          <p:cNvPr id="12" name="Shape 10"/>
          <p:cNvSpPr/>
          <p:nvPr/>
        </p:nvSpPr>
        <p:spPr>
          <a:xfrm>
            <a:off x="3355848" y="2862072"/>
            <a:ext cx="2450592" cy="1572768"/>
          </a:xfrm>
          <a:prstGeom prst="roundRect">
            <a:avLst>
              <a:gd name="adj" fmla="val 3488"/>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13" name="Text 11"/>
          <p:cNvSpPr/>
          <p:nvPr/>
        </p:nvSpPr>
        <p:spPr>
          <a:xfrm>
            <a:off x="3474720" y="3072384"/>
            <a:ext cx="2212848" cy="219456"/>
          </a:xfrm>
          <a:prstGeom prst="rect">
            <a:avLst/>
          </a:prstGeom>
          <a:noFill/>
          <a:ln/>
        </p:spPr>
        <p:txBody>
          <a:bodyPr wrap="square" lIns="0" tIns="0" rIns="0" bIns="0" rtlCol="0" anchor="ctr">
            <a:normAutofit/>
          </a:bodyPr>
          <a:lstStyle/>
          <a:p>
            <a:pPr algn="ctr" indent="0" marL="0">
              <a:buNone/>
            </a:pPr>
            <a:r>
              <a:rPr lang="en-US" sz="1240" b="1" dirty="0">
                <a:solidFill>
                  <a:srgbClr val="0B2A45"/>
                </a:solidFill>
                <a:latin typeface="Arial" pitchFamily="34" charset="0"/>
                <a:ea typeface="Arial" pitchFamily="34" charset="-122"/>
                <a:cs typeface="Arial" pitchFamily="34" charset="-120"/>
              </a:rPr>
              <a:t>ETFs</a:t>
            </a:r>
            <a:endParaRPr lang="en-US" sz="1240" dirty="0"/>
          </a:p>
        </p:txBody>
      </p:sp>
      <p:sp>
        <p:nvSpPr>
          <p:cNvPr id="14" name="Text 12"/>
          <p:cNvSpPr/>
          <p:nvPr/>
        </p:nvSpPr>
        <p:spPr>
          <a:xfrm>
            <a:off x="3502152" y="3511296"/>
            <a:ext cx="2157984" cy="420624"/>
          </a:xfrm>
          <a:prstGeom prst="rect">
            <a:avLst/>
          </a:prstGeom>
          <a:noFill/>
          <a:ln/>
        </p:spPr>
        <p:txBody>
          <a:bodyPr wrap="square" lIns="0" tIns="0" rIns="0" bIns="0" rtlCol="0" anchor="ctr">
            <a:normAutofit/>
          </a:bodyPr>
          <a:lstStyle/>
          <a:p>
            <a:pPr algn="ctr" indent="0" marL="0">
              <a:buNone/>
            </a:pPr>
            <a:r>
              <a:rPr lang="en-US" sz="1050" b="1" dirty="0">
                <a:solidFill>
                  <a:srgbClr val="20313F"/>
                </a:solidFill>
                <a:latin typeface="Arial" pitchFamily="34" charset="0"/>
                <a:ea typeface="Arial" pitchFamily="34" charset="-122"/>
                <a:cs typeface="Arial" pitchFamily="34" charset="-120"/>
              </a:rPr>
              <a:t>CS by MAE · CS by RMSE</a:t>
            </a:r>
            <a:endParaRPr lang="en-US" sz="1050" dirty="0"/>
          </a:p>
        </p:txBody>
      </p:sp>
      <p:sp>
        <p:nvSpPr>
          <p:cNvPr id="15" name="Shape 13"/>
          <p:cNvSpPr/>
          <p:nvPr/>
        </p:nvSpPr>
        <p:spPr>
          <a:xfrm>
            <a:off x="4032504" y="4005072"/>
            <a:ext cx="1097280" cy="310896"/>
          </a:xfrm>
          <a:prstGeom prst="roundRect">
            <a:avLst>
              <a:gd name="adj" fmla="val 17647"/>
            </a:avLst>
          </a:prstGeom>
          <a:solidFill>
            <a:srgbClr val="EAF1F6"/>
          </a:solidFill>
          <a:ln w="12700">
            <a:solidFill>
              <a:srgbClr val="EAF1F6"/>
            </a:solidFill>
            <a:prstDash val="solid"/>
          </a:ln>
        </p:spPr>
      </p:sp>
      <p:sp>
        <p:nvSpPr>
          <p:cNvPr id="16" name="Text 14"/>
          <p:cNvSpPr/>
          <p:nvPr/>
        </p:nvSpPr>
        <p:spPr>
          <a:xfrm>
            <a:off x="4069080" y="4078224"/>
            <a:ext cx="1024128" cy="155448"/>
          </a:xfrm>
          <a:prstGeom prst="rect">
            <a:avLst/>
          </a:prstGeom>
          <a:noFill/>
          <a:ln/>
        </p:spPr>
        <p:txBody>
          <a:bodyPr wrap="square" lIns="0" tIns="0" rIns="0" bIns="0" rtlCol="0" anchor="ctr">
            <a:normAutofit/>
          </a:bodyPr>
          <a:lstStyle/>
          <a:p>
            <a:pPr algn="ctr" indent="0" marL="0">
              <a:buNone/>
            </a:pPr>
            <a:r>
              <a:rPr lang="en-US" sz="860" b="1" dirty="0">
                <a:solidFill>
                  <a:srgbClr val="2F5D7C"/>
                </a:solidFill>
                <a:latin typeface="Arial" pitchFamily="34" charset="0"/>
                <a:ea typeface="Arial" pitchFamily="34" charset="-122"/>
                <a:cs typeface="Arial" pitchFamily="34" charset="-120"/>
              </a:rPr>
              <a:t>CS</a:t>
            </a:r>
            <a:endParaRPr lang="en-US" sz="860" dirty="0"/>
          </a:p>
        </p:txBody>
      </p:sp>
      <p:sp>
        <p:nvSpPr>
          <p:cNvPr id="17" name="Shape 15"/>
          <p:cNvSpPr/>
          <p:nvPr/>
        </p:nvSpPr>
        <p:spPr>
          <a:xfrm>
            <a:off x="6117336" y="2862072"/>
            <a:ext cx="2450592" cy="1572768"/>
          </a:xfrm>
          <a:prstGeom prst="roundRect">
            <a:avLst>
              <a:gd name="adj" fmla="val 3488"/>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18" name="Text 16"/>
          <p:cNvSpPr/>
          <p:nvPr/>
        </p:nvSpPr>
        <p:spPr>
          <a:xfrm>
            <a:off x="6236208" y="3072384"/>
            <a:ext cx="2212848" cy="219456"/>
          </a:xfrm>
          <a:prstGeom prst="rect">
            <a:avLst/>
          </a:prstGeom>
          <a:noFill/>
          <a:ln/>
        </p:spPr>
        <p:txBody>
          <a:bodyPr wrap="square" lIns="0" tIns="0" rIns="0" bIns="0" rtlCol="0" anchor="ctr">
            <a:normAutofit/>
          </a:bodyPr>
          <a:lstStyle/>
          <a:p>
            <a:pPr algn="ctr" indent="0" marL="0">
              <a:buNone/>
            </a:pPr>
            <a:r>
              <a:rPr lang="en-US" sz="1240" b="1" dirty="0">
                <a:solidFill>
                  <a:srgbClr val="0B2A45"/>
                </a:solidFill>
                <a:latin typeface="Arial" pitchFamily="34" charset="0"/>
                <a:ea typeface="Arial" pitchFamily="34" charset="-122"/>
                <a:cs typeface="Arial" pitchFamily="34" charset="-120"/>
              </a:rPr>
              <a:t>FUTURES</a:t>
            </a:r>
            <a:endParaRPr lang="en-US" sz="1240" dirty="0"/>
          </a:p>
        </p:txBody>
      </p:sp>
      <p:sp>
        <p:nvSpPr>
          <p:cNvPr id="19" name="Text 17"/>
          <p:cNvSpPr/>
          <p:nvPr/>
        </p:nvSpPr>
        <p:spPr>
          <a:xfrm>
            <a:off x="6263640" y="3511296"/>
            <a:ext cx="2157984" cy="420624"/>
          </a:xfrm>
          <a:prstGeom prst="rect">
            <a:avLst/>
          </a:prstGeom>
          <a:noFill/>
          <a:ln/>
        </p:spPr>
        <p:txBody>
          <a:bodyPr wrap="square" lIns="0" tIns="0" rIns="0" bIns="0" rtlCol="0" anchor="ctr">
            <a:normAutofit/>
          </a:bodyPr>
          <a:lstStyle/>
          <a:p>
            <a:pPr algn="ctr" indent="0" marL="0">
              <a:buNone/>
            </a:pPr>
            <a:r>
              <a:rPr lang="en-US" sz="1050" b="1" dirty="0">
                <a:solidFill>
                  <a:srgbClr val="20313F"/>
                </a:solidFill>
                <a:latin typeface="Arial" pitchFamily="34" charset="0"/>
                <a:ea typeface="Arial" pitchFamily="34" charset="-122"/>
                <a:cs typeface="Arial" pitchFamily="34" charset="-120"/>
              </a:rPr>
              <a:t>EDGE by MAE · EDGE by RMSE</a:t>
            </a:r>
            <a:endParaRPr lang="en-US" sz="1050" dirty="0"/>
          </a:p>
        </p:txBody>
      </p:sp>
      <p:sp>
        <p:nvSpPr>
          <p:cNvPr id="20" name="Shape 18"/>
          <p:cNvSpPr/>
          <p:nvPr/>
        </p:nvSpPr>
        <p:spPr>
          <a:xfrm>
            <a:off x="6793992" y="4005072"/>
            <a:ext cx="1097280" cy="310896"/>
          </a:xfrm>
          <a:prstGeom prst="roundRect">
            <a:avLst>
              <a:gd name="adj" fmla="val 17647"/>
            </a:avLst>
          </a:prstGeom>
          <a:solidFill>
            <a:srgbClr val="E2F2F3"/>
          </a:solidFill>
          <a:ln w="12700">
            <a:solidFill>
              <a:srgbClr val="E2F2F3"/>
            </a:solidFill>
            <a:prstDash val="solid"/>
          </a:ln>
        </p:spPr>
      </p:sp>
      <p:sp>
        <p:nvSpPr>
          <p:cNvPr id="21" name="Text 19"/>
          <p:cNvSpPr/>
          <p:nvPr/>
        </p:nvSpPr>
        <p:spPr>
          <a:xfrm>
            <a:off x="6830568" y="4078224"/>
            <a:ext cx="1024128" cy="155448"/>
          </a:xfrm>
          <a:prstGeom prst="rect">
            <a:avLst/>
          </a:prstGeom>
          <a:noFill/>
          <a:ln/>
        </p:spPr>
        <p:txBody>
          <a:bodyPr wrap="square" lIns="0" tIns="0" rIns="0" bIns="0" rtlCol="0" anchor="ctr">
            <a:normAutofit/>
          </a:bodyPr>
          <a:lstStyle/>
          <a:p>
            <a:pPr algn="ctr" indent="0" marL="0">
              <a:buNone/>
            </a:pPr>
            <a:r>
              <a:rPr lang="en-US" sz="860" b="1" dirty="0">
                <a:solidFill>
                  <a:srgbClr val="068A95"/>
                </a:solidFill>
                <a:latin typeface="Arial" pitchFamily="34" charset="0"/>
                <a:ea typeface="Arial" pitchFamily="34" charset="-122"/>
                <a:cs typeface="Arial" pitchFamily="34" charset="-120"/>
              </a:rPr>
              <a:t>EDGE</a:t>
            </a:r>
            <a:endParaRPr lang="en-US" sz="860" dirty="0"/>
          </a:p>
        </p:txBody>
      </p:sp>
      <p:sp>
        <p:nvSpPr>
          <p:cNvPr id="22" name="Shape 20"/>
          <p:cNvSpPr/>
          <p:nvPr/>
        </p:nvSpPr>
        <p:spPr>
          <a:xfrm>
            <a:off x="8878824" y="2862072"/>
            <a:ext cx="2450592" cy="1572768"/>
          </a:xfrm>
          <a:prstGeom prst="roundRect">
            <a:avLst>
              <a:gd name="adj" fmla="val 3488"/>
            </a:avLst>
          </a:prstGeom>
          <a:solidFill>
            <a:srgbClr val="FFFFFF"/>
          </a:solidFill>
          <a:ln w="12700">
            <a:solidFill>
              <a:srgbClr val="D9E0E5"/>
            </a:solidFill>
            <a:prstDash val="solid"/>
          </a:ln>
          <a:effectLst>
            <a:outerShdw sx="100000" sy="100000" kx="0" ky="0" algn="bl" rotWithShape="0" blurRad="19050" dist="50800" dir="2700000">
              <a:srgbClr val="DDE3E7">
                <a:alpha val="20000"/>
              </a:srgbClr>
            </a:outerShdw>
          </a:effectLst>
        </p:spPr>
      </p:sp>
      <p:sp>
        <p:nvSpPr>
          <p:cNvPr id="23" name="Text 21"/>
          <p:cNvSpPr/>
          <p:nvPr/>
        </p:nvSpPr>
        <p:spPr>
          <a:xfrm>
            <a:off x="8997696" y="3072384"/>
            <a:ext cx="2212848" cy="219456"/>
          </a:xfrm>
          <a:prstGeom prst="rect">
            <a:avLst/>
          </a:prstGeom>
          <a:noFill/>
          <a:ln/>
        </p:spPr>
        <p:txBody>
          <a:bodyPr wrap="square" lIns="0" tIns="0" rIns="0" bIns="0" rtlCol="0" anchor="ctr">
            <a:normAutofit/>
          </a:bodyPr>
          <a:lstStyle/>
          <a:p>
            <a:pPr algn="ctr" indent="0" marL="0">
              <a:buNone/>
            </a:pPr>
            <a:r>
              <a:rPr lang="en-US" sz="1240" b="1" dirty="0">
                <a:solidFill>
                  <a:srgbClr val="0B2A45"/>
                </a:solidFill>
                <a:latin typeface="Arial" pitchFamily="34" charset="0"/>
                <a:ea typeface="Arial" pitchFamily="34" charset="-122"/>
                <a:cs typeface="Arial" pitchFamily="34" charset="-120"/>
              </a:rPr>
              <a:t>CRYPTO</a:t>
            </a:r>
            <a:endParaRPr lang="en-US" sz="1240" dirty="0"/>
          </a:p>
        </p:txBody>
      </p:sp>
      <p:sp>
        <p:nvSpPr>
          <p:cNvPr id="24" name="Text 22"/>
          <p:cNvSpPr/>
          <p:nvPr/>
        </p:nvSpPr>
        <p:spPr>
          <a:xfrm>
            <a:off x="9025128" y="3511296"/>
            <a:ext cx="2157984" cy="420624"/>
          </a:xfrm>
          <a:prstGeom prst="rect">
            <a:avLst/>
          </a:prstGeom>
          <a:noFill/>
          <a:ln/>
        </p:spPr>
        <p:txBody>
          <a:bodyPr wrap="square" lIns="0" tIns="0" rIns="0" bIns="0" rtlCol="0" anchor="ctr">
            <a:normAutofit/>
          </a:bodyPr>
          <a:lstStyle/>
          <a:p>
            <a:pPr algn="ctr" indent="0" marL="0">
              <a:buNone/>
            </a:pPr>
            <a:r>
              <a:rPr lang="en-US" sz="1050" b="1" dirty="0">
                <a:solidFill>
                  <a:srgbClr val="20313F"/>
                </a:solidFill>
                <a:latin typeface="Arial" pitchFamily="34" charset="0"/>
                <a:ea typeface="Arial" pitchFamily="34" charset="-122"/>
                <a:cs typeface="Arial" pitchFamily="34" charset="-120"/>
              </a:rPr>
              <a:t>EDGE by MAE · EDGE by RMSE</a:t>
            </a:r>
            <a:endParaRPr lang="en-US" sz="1050" dirty="0"/>
          </a:p>
        </p:txBody>
      </p:sp>
      <p:sp>
        <p:nvSpPr>
          <p:cNvPr id="25" name="Shape 23"/>
          <p:cNvSpPr/>
          <p:nvPr/>
        </p:nvSpPr>
        <p:spPr>
          <a:xfrm>
            <a:off x="9555480" y="4005072"/>
            <a:ext cx="1097280" cy="310896"/>
          </a:xfrm>
          <a:prstGeom prst="roundRect">
            <a:avLst>
              <a:gd name="adj" fmla="val 17647"/>
            </a:avLst>
          </a:prstGeom>
          <a:solidFill>
            <a:srgbClr val="E2F2F3"/>
          </a:solidFill>
          <a:ln w="12700">
            <a:solidFill>
              <a:srgbClr val="E2F2F3"/>
            </a:solidFill>
            <a:prstDash val="solid"/>
          </a:ln>
        </p:spPr>
      </p:sp>
      <p:sp>
        <p:nvSpPr>
          <p:cNvPr id="26" name="Text 24"/>
          <p:cNvSpPr/>
          <p:nvPr/>
        </p:nvSpPr>
        <p:spPr>
          <a:xfrm>
            <a:off x="9592056" y="4078224"/>
            <a:ext cx="1024128" cy="155448"/>
          </a:xfrm>
          <a:prstGeom prst="rect">
            <a:avLst/>
          </a:prstGeom>
          <a:noFill/>
          <a:ln/>
        </p:spPr>
        <p:txBody>
          <a:bodyPr wrap="square" lIns="0" tIns="0" rIns="0" bIns="0" rtlCol="0" anchor="ctr">
            <a:normAutofit/>
          </a:bodyPr>
          <a:lstStyle/>
          <a:p>
            <a:pPr algn="ctr" indent="0" marL="0">
              <a:buNone/>
            </a:pPr>
            <a:r>
              <a:rPr lang="en-US" sz="860" b="1" dirty="0">
                <a:solidFill>
                  <a:srgbClr val="068A95"/>
                </a:solidFill>
                <a:latin typeface="Arial" pitchFamily="34" charset="0"/>
                <a:ea typeface="Arial" pitchFamily="34" charset="-122"/>
                <a:cs typeface="Arial" pitchFamily="34" charset="-120"/>
              </a:rPr>
              <a:t>EDGE</a:t>
            </a:r>
            <a:endParaRPr lang="en-US" sz="860" dirty="0"/>
          </a:p>
        </p:txBody>
      </p:sp>
      <p:sp>
        <p:nvSpPr>
          <p:cNvPr id="27" name="Text 25"/>
          <p:cNvSpPr/>
          <p:nvPr/>
        </p:nvSpPr>
        <p:spPr>
          <a:xfrm>
            <a:off x="1097280" y="4754880"/>
            <a:ext cx="9966960" cy="932688"/>
          </a:xfrm>
          <a:prstGeom prst="rect">
            <a:avLst/>
          </a:prstGeom>
          <a:noFill/>
          <a:ln/>
        </p:spPr>
        <p:txBody>
          <a:bodyPr wrap="square" lIns="254" tIns="254" rIns="254" bIns="254" rtlCol="0" anchor="ctr">
            <a:normAutofit/>
          </a:bodyPr>
          <a:lstStyle/>
          <a:p>
            <a:pPr marL="152400" indent="-152400">
              <a:buSzPct val="100000"/>
              <a:buChar char="•"/>
            </a:pPr>
            <a:r>
              <a:rPr lang="en-US" sz="1180" dirty="0">
                <a:solidFill>
                  <a:srgbClr val="20313F"/>
                </a:solidFill>
                <a:latin typeface="Arial" pitchFamily="34" charset="0"/>
                <a:ea typeface="Arial" pitchFamily="34" charset="-122"/>
                <a:cs typeface="Arial" pitchFamily="34" charset="-120"/>
              </a:rPr>
              <a:t>Estimator choice should depend on asset class and the intended error criterion.</a:t>
            </a:r>
            <a:endParaRPr lang="en-US" sz="1180" dirty="0"/>
          </a:p>
          <a:p>
            <a:pPr marL="152400" indent="-152400">
              <a:buSzPct val="100000"/>
              <a:buChar char="•"/>
            </a:pPr>
            <a:r>
              <a:rPr lang="en-US" sz="1180" dirty="0">
                <a:solidFill>
                  <a:srgbClr val="20313F"/>
                </a:solidFill>
                <a:latin typeface="Arial" pitchFamily="34" charset="0"/>
                <a:ea typeface="Arial" pitchFamily="34" charset="-122"/>
                <a:cs typeface="Arial" pitchFamily="34" charset="-120"/>
              </a:rPr>
              <a:t>Positive LOW-tier CS bias and unstable rankings reject two original directional expectations.</a:t>
            </a:r>
            <a:endParaRPr lang="en-US" sz="1180" dirty="0"/>
          </a:p>
          <a:p>
            <a:pPr marL="152400" indent="-152400">
              <a:buSzPct val="100000"/>
              <a:buChar char="•"/>
            </a:pPr>
            <a:r>
              <a:rPr lang="en-US" sz="1180" dirty="0">
                <a:solidFill>
                  <a:srgbClr val="20313F"/>
                </a:solidFill>
                <a:latin typeface="Arial" pitchFamily="34" charset="0"/>
                <a:ea typeface="Arial" pitchFamily="34" charset="-122"/>
                <a:cs typeface="Arial" pitchFamily="34" charset="-120"/>
              </a:rPr>
              <a:t>Benchmark availability limits inference to agreement with Roll, not true effective execution cost.</a:t>
            </a:r>
            <a:endParaRPr lang="en-US" sz="1180" dirty="0"/>
          </a:p>
        </p:txBody>
      </p:sp>
      <p:sp>
        <p:nvSpPr>
          <p:cNvPr id="28" name="Text 26"/>
          <p:cNvSpPr/>
          <p:nvPr/>
        </p:nvSpPr>
        <p:spPr>
          <a:xfrm>
            <a:off x="1097280" y="5907024"/>
            <a:ext cx="9966960" cy="310896"/>
          </a:xfrm>
          <a:prstGeom prst="rect">
            <a:avLst/>
          </a:prstGeom>
          <a:noFill/>
          <a:ln/>
        </p:spPr>
        <p:txBody>
          <a:bodyPr wrap="square" lIns="0" tIns="0" rIns="0" bIns="0" rtlCol="0" anchor="ctr">
            <a:normAutofit/>
          </a:bodyPr>
          <a:lstStyle/>
          <a:p>
            <a:pPr algn="ctr" indent="0" marL="0">
              <a:buNone/>
            </a:pPr>
            <a:r>
              <a:rPr lang="en-US" sz="1450" b="1" dirty="0">
                <a:solidFill>
                  <a:srgbClr val="068A95"/>
                </a:solidFill>
                <a:latin typeface="Arial" pitchFamily="34" charset="0"/>
                <a:ea typeface="Arial" pitchFamily="34" charset="-122"/>
                <a:cs typeface="Arial" pitchFamily="34" charset="-120"/>
              </a:rPr>
              <a:t>Daily OHLC spread estimators are useful, but they are not interchangeable across market structures.</a:t>
            </a:r>
            <a:endParaRPr lang="en-US" sz="145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A1</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Estimator error is partly predictable</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Secondary diagnostic only — not a new spread estimator or trading forecast</a:t>
            </a:r>
            <a:endParaRPr lang="en-US" sz="1070" dirty="0"/>
          </a:p>
        </p:txBody>
      </p:sp>
      <p:sp>
        <p:nvSpPr>
          <p:cNvPr id="5" name="Shape 3"/>
          <p:cNvSpPr/>
          <p:nvPr/>
        </p:nvSpPr>
        <p:spPr>
          <a:xfrm>
            <a:off x="10058400" y="246888"/>
            <a:ext cx="1920240" cy="256032"/>
          </a:xfrm>
          <a:prstGeom prst="roundRect">
            <a:avLst>
              <a:gd name="adj" fmla="val 14286"/>
            </a:avLst>
          </a:prstGeom>
          <a:solidFill>
            <a:srgbClr val="E2F2F3"/>
          </a:solidFill>
          <a:ln w="12700">
            <a:solidFill>
              <a:srgbClr val="E2F2F3"/>
            </a:solidFill>
            <a:prstDash val="solid"/>
          </a:ln>
        </p:spPr>
      </p:sp>
      <p:sp>
        <p:nvSpPr>
          <p:cNvPr id="6" name="Text 4"/>
          <p:cNvSpPr/>
          <p:nvPr/>
        </p:nvSpPr>
        <p:spPr>
          <a:xfrm>
            <a:off x="10131552" y="283464"/>
            <a:ext cx="1773936" cy="146304"/>
          </a:xfrm>
          <a:prstGeom prst="rect">
            <a:avLst/>
          </a:prstGeom>
          <a:noFill/>
          <a:ln/>
        </p:spPr>
        <p:txBody>
          <a:bodyPr wrap="square" lIns="0" tIns="0" rIns="0" bIns="0" rtlCol="0" anchor="ctr"/>
          <a:lstStyle/>
          <a:p>
            <a:pPr algn="ctr" indent="0" marL="0">
              <a:buNone/>
            </a:pPr>
            <a:r>
              <a:rPr lang="en-US" sz="740" b="1" spc="50" kern="0" dirty="0">
                <a:solidFill>
                  <a:srgbClr val="068A95"/>
                </a:solidFill>
              </a:rPr>
              <a:t>DIAGNOSTIC</a:t>
            </a:r>
            <a:endParaRPr lang="en-US" sz="740" dirty="0"/>
          </a:p>
        </p:txBody>
      </p:sp>
      <p:sp>
        <p:nvSpPr>
          <p:cNvPr id="7" name="Text 5"/>
          <p:cNvSpPr/>
          <p:nvPr/>
        </p:nvSpPr>
        <p:spPr>
          <a:xfrm>
            <a:off x="603504" y="1463040"/>
            <a:ext cx="25603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CROSS-FITTED ABSOLUTE-ERROR R²</a:t>
            </a:r>
            <a:endParaRPr lang="en-US" sz="750" dirty="0"/>
          </a:p>
        </p:txBody>
      </p:sp>
      <p:sp>
        <p:nvSpPr>
          <p:cNvPr id="8" name="Text 6"/>
          <p:cNvSpPr/>
          <p:nvPr/>
        </p:nvSpPr>
        <p:spPr>
          <a:xfrm>
            <a:off x="640080" y="1856232"/>
            <a:ext cx="640080" cy="201168"/>
          </a:xfrm>
          <a:prstGeom prst="rect">
            <a:avLst/>
          </a:prstGeom>
          <a:noFill/>
          <a:ln/>
        </p:spPr>
        <p:txBody>
          <a:bodyPr wrap="square" lIns="0" tIns="0" rIns="0" bIns="0" rtlCol="0" anchor="ctr">
            <a:normAutofit/>
          </a:bodyPr>
          <a:lstStyle/>
          <a:p>
            <a:pPr algn="l" indent="0" marL="0">
              <a:buNone/>
            </a:pPr>
            <a:r>
              <a:rPr lang="en-US" sz="1150" b="1" dirty="0">
                <a:solidFill>
                  <a:srgbClr val="2F5D7C"/>
                </a:solidFill>
                <a:latin typeface="Arial" pitchFamily="34" charset="0"/>
                <a:ea typeface="Arial" pitchFamily="34" charset="-122"/>
                <a:cs typeface="Arial" pitchFamily="34" charset="-120"/>
              </a:rPr>
              <a:t>CS</a:t>
            </a:r>
            <a:endParaRPr lang="en-US" sz="1150" dirty="0"/>
          </a:p>
        </p:txBody>
      </p:sp>
      <p:sp>
        <p:nvSpPr>
          <p:cNvPr id="9" name="Shape 7"/>
          <p:cNvSpPr/>
          <p:nvPr/>
        </p:nvSpPr>
        <p:spPr>
          <a:xfrm>
            <a:off x="1417320" y="1865376"/>
            <a:ext cx="3337560" cy="219456"/>
          </a:xfrm>
          <a:prstGeom prst="roundRect">
            <a:avLst>
              <a:gd name="adj" fmla="val 16667"/>
            </a:avLst>
          </a:prstGeom>
          <a:solidFill>
            <a:srgbClr val="E7ECEF"/>
          </a:solidFill>
          <a:ln w="12700">
            <a:solidFill>
              <a:srgbClr val="E7ECEF"/>
            </a:solidFill>
            <a:prstDash val="solid"/>
          </a:ln>
        </p:spPr>
      </p:sp>
      <p:sp>
        <p:nvSpPr>
          <p:cNvPr id="10" name="Shape 8"/>
          <p:cNvSpPr/>
          <p:nvPr/>
        </p:nvSpPr>
        <p:spPr>
          <a:xfrm>
            <a:off x="1417320" y="1865376"/>
            <a:ext cx="2908445" cy="219456"/>
          </a:xfrm>
          <a:prstGeom prst="roundRect">
            <a:avLst>
              <a:gd name="adj" fmla="val 16667"/>
            </a:avLst>
          </a:prstGeom>
          <a:solidFill>
            <a:srgbClr val="2F5D7C"/>
          </a:solidFill>
          <a:ln w="12700">
            <a:solidFill>
              <a:srgbClr val="2F5D7C"/>
            </a:solidFill>
            <a:prstDash val="solid"/>
          </a:ln>
        </p:spPr>
      </p:sp>
      <p:sp>
        <p:nvSpPr>
          <p:cNvPr id="11" name="Text 9"/>
          <p:cNvSpPr/>
          <p:nvPr/>
        </p:nvSpPr>
        <p:spPr>
          <a:xfrm>
            <a:off x="4864608" y="1837944"/>
            <a:ext cx="548640" cy="246888"/>
          </a:xfrm>
          <a:prstGeom prst="rect">
            <a:avLst/>
          </a:prstGeom>
          <a:noFill/>
          <a:ln/>
        </p:spPr>
        <p:txBody>
          <a:bodyPr wrap="square" lIns="0" tIns="0" rIns="0" bIns="0" rtlCol="0" anchor="ctr">
            <a:normAutofit/>
          </a:bodyPr>
          <a:lstStyle/>
          <a:p>
            <a:pPr algn="r" indent="0" marL="0">
              <a:buNone/>
            </a:pPr>
            <a:r>
              <a:rPr lang="en-US" sz="1150" b="1" dirty="0">
                <a:solidFill>
                  <a:srgbClr val="0B2A45"/>
                </a:solidFill>
                <a:latin typeface="Arial" pitchFamily="34" charset="0"/>
                <a:ea typeface="Arial" pitchFamily="34" charset="-122"/>
                <a:cs typeface="Arial" pitchFamily="34" charset="-120"/>
              </a:rPr>
              <a:t>0.305</a:t>
            </a:r>
            <a:endParaRPr lang="en-US" sz="1150" dirty="0"/>
          </a:p>
        </p:txBody>
      </p:sp>
      <p:sp>
        <p:nvSpPr>
          <p:cNvPr id="12" name="Text 10"/>
          <p:cNvSpPr/>
          <p:nvPr/>
        </p:nvSpPr>
        <p:spPr>
          <a:xfrm>
            <a:off x="640080" y="2487168"/>
            <a:ext cx="640080" cy="201168"/>
          </a:xfrm>
          <a:prstGeom prst="rect">
            <a:avLst/>
          </a:prstGeom>
          <a:noFill/>
          <a:ln/>
        </p:spPr>
        <p:txBody>
          <a:bodyPr wrap="square" lIns="0" tIns="0" rIns="0" bIns="0" rtlCol="0" anchor="ctr">
            <a:normAutofit/>
          </a:bodyPr>
          <a:lstStyle/>
          <a:p>
            <a:pPr algn="l" indent="0" marL="0">
              <a:buNone/>
            </a:pPr>
            <a:r>
              <a:rPr lang="en-US" sz="1150" b="1" dirty="0">
                <a:solidFill>
                  <a:srgbClr val="74828C"/>
                </a:solidFill>
                <a:latin typeface="Arial" pitchFamily="34" charset="0"/>
                <a:ea typeface="Arial" pitchFamily="34" charset="-122"/>
                <a:cs typeface="Arial" pitchFamily="34" charset="-120"/>
              </a:rPr>
              <a:t>AR</a:t>
            </a:r>
            <a:endParaRPr lang="en-US" sz="1150" dirty="0"/>
          </a:p>
        </p:txBody>
      </p:sp>
      <p:sp>
        <p:nvSpPr>
          <p:cNvPr id="13" name="Shape 11"/>
          <p:cNvSpPr/>
          <p:nvPr/>
        </p:nvSpPr>
        <p:spPr>
          <a:xfrm>
            <a:off x="1417320" y="2496312"/>
            <a:ext cx="3337560" cy="219456"/>
          </a:xfrm>
          <a:prstGeom prst="roundRect">
            <a:avLst>
              <a:gd name="adj" fmla="val 16667"/>
            </a:avLst>
          </a:prstGeom>
          <a:solidFill>
            <a:srgbClr val="E7ECEF"/>
          </a:solidFill>
          <a:ln w="12700">
            <a:solidFill>
              <a:srgbClr val="E7ECEF"/>
            </a:solidFill>
            <a:prstDash val="solid"/>
          </a:ln>
        </p:spPr>
      </p:sp>
      <p:sp>
        <p:nvSpPr>
          <p:cNvPr id="14" name="Shape 12"/>
          <p:cNvSpPr/>
          <p:nvPr/>
        </p:nvSpPr>
        <p:spPr>
          <a:xfrm>
            <a:off x="1417320" y="2496312"/>
            <a:ext cx="1544813" cy="219456"/>
          </a:xfrm>
          <a:prstGeom prst="roundRect">
            <a:avLst>
              <a:gd name="adj" fmla="val 16667"/>
            </a:avLst>
          </a:prstGeom>
          <a:solidFill>
            <a:srgbClr val="74828C"/>
          </a:solidFill>
          <a:ln w="12700">
            <a:solidFill>
              <a:srgbClr val="74828C"/>
            </a:solidFill>
            <a:prstDash val="solid"/>
          </a:ln>
        </p:spPr>
      </p:sp>
      <p:sp>
        <p:nvSpPr>
          <p:cNvPr id="15" name="Text 13"/>
          <p:cNvSpPr/>
          <p:nvPr/>
        </p:nvSpPr>
        <p:spPr>
          <a:xfrm>
            <a:off x="4864608" y="2468880"/>
            <a:ext cx="548640" cy="246888"/>
          </a:xfrm>
          <a:prstGeom prst="rect">
            <a:avLst/>
          </a:prstGeom>
          <a:noFill/>
          <a:ln/>
        </p:spPr>
        <p:txBody>
          <a:bodyPr wrap="square" lIns="0" tIns="0" rIns="0" bIns="0" rtlCol="0" anchor="ctr">
            <a:normAutofit/>
          </a:bodyPr>
          <a:lstStyle/>
          <a:p>
            <a:pPr algn="r" indent="0" marL="0">
              <a:buNone/>
            </a:pPr>
            <a:r>
              <a:rPr lang="en-US" sz="1150" b="1" dirty="0">
                <a:solidFill>
                  <a:srgbClr val="0B2A45"/>
                </a:solidFill>
                <a:latin typeface="Arial" pitchFamily="34" charset="0"/>
                <a:ea typeface="Arial" pitchFamily="34" charset="-122"/>
                <a:cs typeface="Arial" pitchFamily="34" charset="-120"/>
              </a:rPr>
              <a:t>0.162</a:t>
            </a:r>
            <a:endParaRPr lang="en-US" sz="1150" dirty="0"/>
          </a:p>
        </p:txBody>
      </p:sp>
      <p:sp>
        <p:nvSpPr>
          <p:cNvPr id="16" name="Text 14"/>
          <p:cNvSpPr/>
          <p:nvPr/>
        </p:nvSpPr>
        <p:spPr>
          <a:xfrm>
            <a:off x="640080" y="3118104"/>
            <a:ext cx="640080" cy="201168"/>
          </a:xfrm>
          <a:prstGeom prst="rect">
            <a:avLst/>
          </a:prstGeom>
          <a:noFill/>
          <a:ln/>
        </p:spPr>
        <p:txBody>
          <a:bodyPr wrap="square" lIns="0" tIns="0" rIns="0" bIns="0" rtlCol="0" anchor="ctr">
            <a:normAutofit/>
          </a:bodyPr>
          <a:lstStyle/>
          <a:p>
            <a:pPr algn="l" indent="0" marL="0">
              <a:buNone/>
            </a:pPr>
            <a:r>
              <a:rPr lang="en-US" sz="1150" b="1" dirty="0">
                <a:solidFill>
                  <a:srgbClr val="068A95"/>
                </a:solidFill>
                <a:latin typeface="Arial" pitchFamily="34" charset="0"/>
                <a:ea typeface="Arial" pitchFamily="34" charset="-122"/>
                <a:cs typeface="Arial" pitchFamily="34" charset="-120"/>
              </a:rPr>
              <a:t>EDGE</a:t>
            </a:r>
            <a:endParaRPr lang="en-US" sz="1150" dirty="0"/>
          </a:p>
        </p:txBody>
      </p:sp>
      <p:sp>
        <p:nvSpPr>
          <p:cNvPr id="17" name="Shape 15"/>
          <p:cNvSpPr/>
          <p:nvPr/>
        </p:nvSpPr>
        <p:spPr>
          <a:xfrm>
            <a:off x="1417320" y="3127248"/>
            <a:ext cx="3337560" cy="219456"/>
          </a:xfrm>
          <a:prstGeom prst="roundRect">
            <a:avLst>
              <a:gd name="adj" fmla="val 16667"/>
            </a:avLst>
          </a:prstGeom>
          <a:solidFill>
            <a:srgbClr val="E7ECEF"/>
          </a:solidFill>
          <a:ln w="12700">
            <a:solidFill>
              <a:srgbClr val="E7ECEF"/>
            </a:solidFill>
            <a:prstDash val="solid"/>
          </a:ln>
        </p:spPr>
      </p:sp>
      <p:sp>
        <p:nvSpPr>
          <p:cNvPr id="18" name="Shape 16"/>
          <p:cNvSpPr/>
          <p:nvPr/>
        </p:nvSpPr>
        <p:spPr>
          <a:xfrm>
            <a:off x="1417320" y="3127248"/>
            <a:ext cx="2279077" cy="219456"/>
          </a:xfrm>
          <a:prstGeom prst="roundRect">
            <a:avLst>
              <a:gd name="adj" fmla="val 16667"/>
            </a:avLst>
          </a:prstGeom>
          <a:solidFill>
            <a:srgbClr val="068A95"/>
          </a:solidFill>
          <a:ln w="12700">
            <a:solidFill>
              <a:srgbClr val="068A95"/>
            </a:solidFill>
            <a:prstDash val="solid"/>
          </a:ln>
        </p:spPr>
      </p:sp>
      <p:sp>
        <p:nvSpPr>
          <p:cNvPr id="19" name="Text 17"/>
          <p:cNvSpPr/>
          <p:nvPr/>
        </p:nvSpPr>
        <p:spPr>
          <a:xfrm>
            <a:off x="4864608" y="3099816"/>
            <a:ext cx="548640" cy="246888"/>
          </a:xfrm>
          <a:prstGeom prst="rect">
            <a:avLst/>
          </a:prstGeom>
          <a:noFill/>
          <a:ln/>
        </p:spPr>
        <p:txBody>
          <a:bodyPr wrap="square" lIns="0" tIns="0" rIns="0" bIns="0" rtlCol="0" anchor="ctr">
            <a:normAutofit/>
          </a:bodyPr>
          <a:lstStyle/>
          <a:p>
            <a:pPr algn="r" indent="0" marL="0">
              <a:buNone/>
            </a:pPr>
            <a:r>
              <a:rPr lang="en-US" sz="1150" b="1" dirty="0">
                <a:solidFill>
                  <a:srgbClr val="0B2A45"/>
                </a:solidFill>
                <a:latin typeface="Arial" pitchFamily="34" charset="0"/>
                <a:ea typeface="Arial" pitchFamily="34" charset="-122"/>
                <a:cs typeface="Arial" pitchFamily="34" charset="-120"/>
              </a:rPr>
              <a:t>0.239</a:t>
            </a:r>
            <a:endParaRPr lang="en-US" sz="1150" dirty="0"/>
          </a:p>
        </p:txBody>
      </p:sp>
      <p:sp>
        <p:nvSpPr>
          <p:cNvPr id="20" name="Shape 18"/>
          <p:cNvSpPr/>
          <p:nvPr/>
        </p:nvSpPr>
        <p:spPr>
          <a:xfrm>
            <a:off x="5833872" y="1463040"/>
            <a:ext cx="0" cy="3474720"/>
          </a:xfrm>
          <a:prstGeom prst="line">
            <a:avLst/>
          </a:prstGeom>
          <a:noFill/>
          <a:ln w="12700">
            <a:solidFill>
              <a:srgbClr val="D9E0E5"/>
            </a:solidFill>
            <a:prstDash val="solid"/>
          </a:ln>
        </p:spPr>
      </p:sp>
      <p:sp>
        <p:nvSpPr>
          <p:cNvPr id="21" name="Text 19"/>
          <p:cNvSpPr/>
          <p:nvPr/>
        </p:nvSpPr>
        <p:spPr>
          <a:xfrm>
            <a:off x="6199632" y="1463040"/>
            <a:ext cx="27432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TOP TEST PERMUTATION IMPORTANCE</a:t>
            </a:r>
            <a:endParaRPr lang="en-US" sz="750" dirty="0"/>
          </a:p>
        </p:txBody>
      </p:sp>
      <p:sp>
        <p:nvSpPr>
          <p:cNvPr id="22" name="Text 20"/>
          <p:cNvSpPr/>
          <p:nvPr/>
        </p:nvSpPr>
        <p:spPr>
          <a:xfrm>
            <a:off x="6217920" y="1828800"/>
            <a:ext cx="566928" cy="210312"/>
          </a:xfrm>
          <a:prstGeom prst="rect">
            <a:avLst/>
          </a:prstGeom>
          <a:noFill/>
          <a:ln/>
        </p:spPr>
        <p:txBody>
          <a:bodyPr wrap="square" lIns="0" tIns="0" rIns="0" bIns="0" rtlCol="0" anchor="ctr">
            <a:normAutofit/>
          </a:bodyPr>
          <a:lstStyle/>
          <a:p>
            <a:pPr algn="l" indent="0" marL="0">
              <a:buNone/>
            </a:pPr>
            <a:r>
              <a:rPr lang="en-US" sz="920" b="1" dirty="0">
                <a:solidFill>
                  <a:srgbClr val="2F5D7C"/>
                </a:solidFill>
                <a:latin typeface="Arial" pitchFamily="34" charset="0"/>
                <a:ea typeface="Arial" pitchFamily="34" charset="-122"/>
                <a:cs typeface="Arial" pitchFamily="34" charset="-120"/>
              </a:rPr>
              <a:t>CS</a:t>
            </a:r>
            <a:endParaRPr lang="en-US" sz="920" dirty="0"/>
          </a:p>
        </p:txBody>
      </p:sp>
      <p:sp>
        <p:nvSpPr>
          <p:cNvPr id="23" name="Text 21"/>
          <p:cNvSpPr/>
          <p:nvPr/>
        </p:nvSpPr>
        <p:spPr>
          <a:xfrm>
            <a:off x="6839712" y="1828800"/>
            <a:ext cx="2743200" cy="210312"/>
          </a:xfrm>
          <a:prstGeom prst="rect">
            <a:avLst/>
          </a:prstGeom>
          <a:noFill/>
          <a:ln/>
        </p:spPr>
        <p:txBody>
          <a:bodyPr wrap="square" lIns="0" tIns="0" rIns="0" bIns="0" rtlCol="0" anchor="ctr">
            <a:normAutofit/>
          </a:bodyPr>
          <a:lstStyle/>
          <a:p>
            <a:pPr algn="l" indent="0" marL="0">
              <a:buNone/>
            </a:pPr>
            <a:r>
              <a:rPr lang="en-US" sz="1010" dirty="0">
                <a:solidFill>
                  <a:srgbClr val="20313F"/>
                </a:solidFill>
                <a:latin typeface="Arial" pitchFamily="34" charset="0"/>
                <a:ea typeface="Arial" pitchFamily="34" charset="-122"/>
                <a:cs typeface="Arial" pitchFamily="34" charset="-120"/>
              </a:rPr>
              <a:t>High–low range</a:t>
            </a:r>
            <a:endParaRPr lang="en-US" sz="1010" dirty="0"/>
          </a:p>
        </p:txBody>
      </p:sp>
      <p:sp>
        <p:nvSpPr>
          <p:cNvPr id="24" name="Text 22"/>
          <p:cNvSpPr/>
          <p:nvPr/>
        </p:nvSpPr>
        <p:spPr>
          <a:xfrm>
            <a:off x="9784080" y="1828800"/>
            <a:ext cx="1005840" cy="210312"/>
          </a:xfrm>
          <a:prstGeom prst="rect">
            <a:avLst/>
          </a:prstGeom>
          <a:noFill/>
          <a:ln/>
        </p:spPr>
        <p:txBody>
          <a:bodyPr wrap="square" lIns="0" tIns="0" rIns="0" bIns="0" rtlCol="0" anchor="ctr">
            <a:normAutofit/>
          </a:bodyPr>
          <a:lstStyle/>
          <a:p>
            <a:pPr algn="r" indent="0" marL="0">
              <a:buNone/>
            </a:pPr>
            <a:r>
              <a:rPr lang="en-US" sz="1010" b="1" dirty="0">
                <a:solidFill>
                  <a:srgbClr val="0B2A45"/>
                </a:solidFill>
                <a:latin typeface="Arial" pitchFamily="34" charset="0"/>
                <a:ea typeface="Arial" pitchFamily="34" charset="-122"/>
                <a:cs typeface="Arial" pitchFamily="34" charset="-120"/>
              </a:rPr>
              <a:t>41.11 bps</a:t>
            </a:r>
            <a:endParaRPr lang="en-US" sz="1010" dirty="0"/>
          </a:p>
        </p:txBody>
      </p:sp>
      <p:sp>
        <p:nvSpPr>
          <p:cNvPr id="25" name="Text 23"/>
          <p:cNvSpPr/>
          <p:nvPr/>
        </p:nvSpPr>
        <p:spPr>
          <a:xfrm>
            <a:off x="6217920" y="2331720"/>
            <a:ext cx="566928" cy="210312"/>
          </a:xfrm>
          <a:prstGeom prst="rect">
            <a:avLst/>
          </a:prstGeom>
          <a:noFill/>
          <a:ln/>
        </p:spPr>
        <p:txBody>
          <a:bodyPr wrap="square" lIns="0" tIns="0" rIns="0" bIns="0" rtlCol="0" anchor="ctr">
            <a:normAutofit/>
          </a:bodyPr>
          <a:lstStyle/>
          <a:p>
            <a:pPr algn="l" indent="0" marL="0">
              <a:buNone/>
            </a:pPr>
            <a:r>
              <a:rPr lang="en-US" sz="920" b="1" dirty="0">
                <a:solidFill>
                  <a:srgbClr val="2F5D7C"/>
                </a:solidFill>
                <a:latin typeface="Arial" pitchFamily="34" charset="0"/>
                <a:ea typeface="Arial" pitchFamily="34" charset="-122"/>
                <a:cs typeface="Arial" pitchFamily="34" charset="-120"/>
              </a:rPr>
              <a:t>CS</a:t>
            </a:r>
            <a:endParaRPr lang="en-US" sz="920" dirty="0"/>
          </a:p>
        </p:txBody>
      </p:sp>
      <p:sp>
        <p:nvSpPr>
          <p:cNvPr id="26" name="Text 24"/>
          <p:cNvSpPr/>
          <p:nvPr/>
        </p:nvSpPr>
        <p:spPr>
          <a:xfrm>
            <a:off x="6839712" y="2331720"/>
            <a:ext cx="2743200" cy="210312"/>
          </a:xfrm>
          <a:prstGeom prst="rect">
            <a:avLst/>
          </a:prstGeom>
          <a:noFill/>
          <a:ln/>
        </p:spPr>
        <p:txBody>
          <a:bodyPr wrap="square" lIns="0" tIns="0" rIns="0" bIns="0" rtlCol="0" anchor="ctr">
            <a:normAutofit/>
          </a:bodyPr>
          <a:lstStyle/>
          <a:p>
            <a:pPr algn="l" indent="0" marL="0">
              <a:buNone/>
            </a:pPr>
            <a:r>
              <a:rPr lang="en-US" sz="1010" dirty="0">
                <a:solidFill>
                  <a:srgbClr val="20313F"/>
                </a:solidFill>
                <a:latin typeface="Arial" pitchFamily="34" charset="0"/>
                <a:ea typeface="Arial" pitchFamily="34" charset="-122"/>
                <a:cs typeface="Arial" pitchFamily="34" charset="-120"/>
              </a:rPr>
              <a:t>Open–close move</a:t>
            </a:r>
            <a:endParaRPr lang="en-US" sz="1010" dirty="0"/>
          </a:p>
        </p:txBody>
      </p:sp>
      <p:sp>
        <p:nvSpPr>
          <p:cNvPr id="27" name="Text 25"/>
          <p:cNvSpPr/>
          <p:nvPr/>
        </p:nvSpPr>
        <p:spPr>
          <a:xfrm>
            <a:off x="9784080" y="2331720"/>
            <a:ext cx="1005840" cy="210312"/>
          </a:xfrm>
          <a:prstGeom prst="rect">
            <a:avLst/>
          </a:prstGeom>
          <a:noFill/>
          <a:ln/>
        </p:spPr>
        <p:txBody>
          <a:bodyPr wrap="square" lIns="0" tIns="0" rIns="0" bIns="0" rtlCol="0" anchor="ctr">
            <a:normAutofit/>
          </a:bodyPr>
          <a:lstStyle/>
          <a:p>
            <a:pPr algn="r" indent="0" marL="0">
              <a:buNone/>
            </a:pPr>
            <a:r>
              <a:rPr lang="en-US" sz="1010" b="1" dirty="0">
                <a:solidFill>
                  <a:srgbClr val="0B2A45"/>
                </a:solidFill>
                <a:latin typeface="Arial" pitchFamily="34" charset="0"/>
                <a:ea typeface="Arial" pitchFamily="34" charset="-122"/>
                <a:cs typeface="Arial" pitchFamily="34" charset="-120"/>
              </a:rPr>
              <a:t>2.67</a:t>
            </a:r>
            <a:endParaRPr lang="en-US" sz="1010" dirty="0"/>
          </a:p>
        </p:txBody>
      </p:sp>
      <p:sp>
        <p:nvSpPr>
          <p:cNvPr id="28" name="Text 26"/>
          <p:cNvSpPr/>
          <p:nvPr/>
        </p:nvSpPr>
        <p:spPr>
          <a:xfrm>
            <a:off x="6217920" y="2834640"/>
            <a:ext cx="566928" cy="210312"/>
          </a:xfrm>
          <a:prstGeom prst="rect">
            <a:avLst/>
          </a:prstGeom>
          <a:noFill/>
          <a:ln/>
        </p:spPr>
        <p:txBody>
          <a:bodyPr wrap="square" lIns="0" tIns="0" rIns="0" bIns="0" rtlCol="0" anchor="ctr">
            <a:normAutofit/>
          </a:bodyPr>
          <a:lstStyle/>
          <a:p>
            <a:pPr algn="l" indent="0" marL="0">
              <a:buNone/>
            </a:pPr>
            <a:r>
              <a:rPr lang="en-US" sz="920" b="1" dirty="0">
                <a:solidFill>
                  <a:srgbClr val="74828C"/>
                </a:solidFill>
                <a:latin typeface="Arial" pitchFamily="34" charset="0"/>
                <a:ea typeface="Arial" pitchFamily="34" charset="-122"/>
                <a:cs typeface="Arial" pitchFamily="34" charset="-120"/>
              </a:rPr>
              <a:t>AR</a:t>
            </a:r>
            <a:endParaRPr lang="en-US" sz="920" dirty="0"/>
          </a:p>
        </p:txBody>
      </p:sp>
      <p:sp>
        <p:nvSpPr>
          <p:cNvPr id="29" name="Text 27"/>
          <p:cNvSpPr/>
          <p:nvPr/>
        </p:nvSpPr>
        <p:spPr>
          <a:xfrm>
            <a:off x="6839712" y="2834640"/>
            <a:ext cx="2743200" cy="210312"/>
          </a:xfrm>
          <a:prstGeom prst="rect">
            <a:avLst/>
          </a:prstGeom>
          <a:noFill/>
          <a:ln/>
        </p:spPr>
        <p:txBody>
          <a:bodyPr wrap="square" lIns="0" tIns="0" rIns="0" bIns="0" rtlCol="0" anchor="ctr">
            <a:normAutofit/>
          </a:bodyPr>
          <a:lstStyle/>
          <a:p>
            <a:pPr algn="l" indent="0" marL="0">
              <a:buNone/>
            </a:pPr>
            <a:r>
              <a:rPr lang="en-US" sz="1010" dirty="0">
                <a:solidFill>
                  <a:srgbClr val="20313F"/>
                </a:solidFill>
                <a:latin typeface="Arial" pitchFamily="34" charset="0"/>
                <a:ea typeface="Arial" pitchFamily="34" charset="-122"/>
                <a:cs typeface="Arial" pitchFamily="34" charset="-120"/>
              </a:rPr>
              <a:t>High–low range</a:t>
            </a:r>
            <a:endParaRPr lang="en-US" sz="1010" dirty="0"/>
          </a:p>
        </p:txBody>
      </p:sp>
      <p:sp>
        <p:nvSpPr>
          <p:cNvPr id="30" name="Text 28"/>
          <p:cNvSpPr/>
          <p:nvPr/>
        </p:nvSpPr>
        <p:spPr>
          <a:xfrm>
            <a:off x="9784080" y="2834640"/>
            <a:ext cx="1005840" cy="210312"/>
          </a:xfrm>
          <a:prstGeom prst="rect">
            <a:avLst/>
          </a:prstGeom>
          <a:noFill/>
          <a:ln/>
        </p:spPr>
        <p:txBody>
          <a:bodyPr wrap="square" lIns="0" tIns="0" rIns="0" bIns="0" rtlCol="0" anchor="ctr">
            <a:normAutofit/>
          </a:bodyPr>
          <a:lstStyle/>
          <a:p>
            <a:pPr algn="r" indent="0" marL="0">
              <a:buNone/>
            </a:pPr>
            <a:r>
              <a:rPr lang="en-US" sz="1010" b="1" dirty="0">
                <a:solidFill>
                  <a:srgbClr val="0B2A45"/>
                </a:solidFill>
                <a:latin typeface="Arial" pitchFamily="34" charset="0"/>
                <a:ea typeface="Arial" pitchFamily="34" charset="-122"/>
                <a:cs typeface="Arial" pitchFamily="34" charset="-120"/>
              </a:rPr>
              <a:t>19.27</a:t>
            </a:r>
            <a:endParaRPr lang="en-US" sz="1010" dirty="0"/>
          </a:p>
        </p:txBody>
      </p:sp>
      <p:sp>
        <p:nvSpPr>
          <p:cNvPr id="31" name="Text 29"/>
          <p:cNvSpPr/>
          <p:nvPr/>
        </p:nvSpPr>
        <p:spPr>
          <a:xfrm>
            <a:off x="6217920" y="3337560"/>
            <a:ext cx="566928" cy="210312"/>
          </a:xfrm>
          <a:prstGeom prst="rect">
            <a:avLst/>
          </a:prstGeom>
          <a:noFill/>
          <a:ln/>
        </p:spPr>
        <p:txBody>
          <a:bodyPr wrap="square" lIns="0" tIns="0" rIns="0" bIns="0" rtlCol="0" anchor="ctr">
            <a:normAutofit/>
          </a:bodyPr>
          <a:lstStyle/>
          <a:p>
            <a:pPr algn="l" indent="0" marL="0">
              <a:buNone/>
            </a:pPr>
            <a:r>
              <a:rPr lang="en-US" sz="920" b="1" dirty="0">
                <a:solidFill>
                  <a:srgbClr val="74828C"/>
                </a:solidFill>
                <a:latin typeface="Arial" pitchFamily="34" charset="0"/>
                <a:ea typeface="Arial" pitchFamily="34" charset="-122"/>
                <a:cs typeface="Arial" pitchFamily="34" charset="-120"/>
              </a:rPr>
              <a:t>AR</a:t>
            </a:r>
            <a:endParaRPr lang="en-US" sz="920" dirty="0"/>
          </a:p>
        </p:txBody>
      </p:sp>
      <p:sp>
        <p:nvSpPr>
          <p:cNvPr id="32" name="Text 30"/>
          <p:cNvSpPr/>
          <p:nvPr/>
        </p:nvSpPr>
        <p:spPr>
          <a:xfrm>
            <a:off x="6839712" y="3337560"/>
            <a:ext cx="2743200" cy="210312"/>
          </a:xfrm>
          <a:prstGeom prst="rect">
            <a:avLst/>
          </a:prstGeom>
          <a:noFill/>
          <a:ln/>
        </p:spPr>
        <p:txBody>
          <a:bodyPr wrap="square" lIns="0" tIns="0" rIns="0" bIns="0" rtlCol="0" anchor="ctr">
            <a:normAutofit/>
          </a:bodyPr>
          <a:lstStyle/>
          <a:p>
            <a:pPr algn="l" indent="0" marL="0">
              <a:buNone/>
            </a:pPr>
            <a:r>
              <a:rPr lang="en-US" sz="1010" dirty="0">
                <a:solidFill>
                  <a:srgbClr val="20313F"/>
                </a:solidFill>
                <a:latin typeface="Arial" pitchFamily="34" charset="0"/>
                <a:ea typeface="Arial" pitchFamily="34" charset="-122"/>
                <a:cs typeface="Arial" pitchFamily="34" charset="-120"/>
              </a:rPr>
              <a:t>Open–close move</a:t>
            </a:r>
            <a:endParaRPr lang="en-US" sz="1010" dirty="0"/>
          </a:p>
        </p:txBody>
      </p:sp>
      <p:sp>
        <p:nvSpPr>
          <p:cNvPr id="33" name="Text 31"/>
          <p:cNvSpPr/>
          <p:nvPr/>
        </p:nvSpPr>
        <p:spPr>
          <a:xfrm>
            <a:off x="9784080" y="3337560"/>
            <a:ext cx="1005840" cy="210312"/>
          </a:xfrm>
          <a:prstGeom prst="rect">
            <a:avLst/>
          </a:prstGeom>
          <a:noFill/>
          <a:ln/>
        </p:spPr>
        <p:txBody>
          <a:bodyPr wrap="square" lIns="0" tIns="0" rIns="0" bIns="0" rtlCol="0" anchor="ctr">
            <a:normAutofit/>
          </a:bodyPr>
          <a:lstStyle/>
          <a:p>
            <a:pPr algn="r" indent="0" marL="0">
              <a:buNone/>
            </a:pPr>
            <a:r>
              <a:rPr lang="en-US" sz="1010" b="1" dirty="0">
                <a:solidFill>
                  <a:srgbClr val="0B2A45"/>
                </a:solidFill>
                <a:latin typeface="Arial" pitchFamily="34" charset="0"/>
                <a:ea typeface="Arial" pitchFamily="34" charset="-122"/>
                <a:cs typeface="Arial" pitchFamily="34" charset="-120"/>
              </a:rPr>
              <a:t>4.80</a:t>
            </a:r>
            <a:endParaRPr lang="en-US" sz="1010" dirty="0"/>
          </a:p>
        </p:txBody>
      </p:sp>
      <p:sp>
        <p:nvSpPr>
          <p:cNvPr id="34" name="Text 32"/>
          <p:cNvSpPr/>
          <p:nvPr/>
        </p:nvSpPr>
        <p:spPr>
          <a:xfrm>
            <a:off x="6217920" y="3840480"/>
            <a:ext cx="566928" cy="210312"/>
          </a:xfrm>
          <a:prstGeom prst="rect">
            <a:avLst/>
          </a:prstGeom>
          <a:noFill/>
          <a:ln/>
        </p:spPr>
        <p:txBody>
          <a:bodyPr wrap="square" lIns="0" tIns="0" rIns="0" bIns="0" rtlCol="0" anchor="ctr">
            <a:normAutofit/>
          </a:bodyPr>
          <a:lstStyle/>
          <a:p>
            <a:pPr algn="l" indent="0" marL="0">
              <a:buNone/>
            </a:pPr>
            <a:r>
              <a:rPr lang="en-US" sz="920" b="1" dirty="0">
                <a:solidFill>
                  <a:srgbClr val="068A95"/>
                </a:solidFill>
                <a:latin typeface="Arial" pitchFamily="34" charset="0"/>
                <a:ea typeface="Arial" pitchFamily="34" charset="-122"/>
                <a:cs typeface="Arial" pitchFamily="34" charset="-120"/>
              </a:rPr>
              <a:t>EDGE</a:t>
            </a:r>
            <a:endParaRPr lang="en-US" sz="920" dirty="0"/>
          </a:p>
        </p:txBody>
      </p:sp>
      <p:sp>
        <p:nvSpPr>
          <p:cNvPr id="35" name="Text 33"/>
          <p:cNvSpPr/>
          <p:nvPr/>
        </p:nvSpPr>
        <p:spPr>
          <a:xfrm>
            <a:off x="6839712" y="3840480"/>
            <a:ext cx="2743200" cy="210312"/>
          </a:xfrm>
          <a:prstGeom prst="rect">
            <a:avLst/>
          </a:prstGeom>
          <a:noFill/>
          <a:ln/>
        </p:spPr>
        <p:txBody>
          <a:bodyPr wrap="square" lIns="0" tIns="0" rIns="0" bIns="0" rtlCol="0" anchor="ctr">
            <a:normAutofit/>
          </a:bodyPr>
          <a:lstStyle/>
          <a:p>
            <a:pPr algn="l" indent="0" marL="0">
              <a:buNone/>
            </a:pPr>
            <a:r>
              <a:rPr lang="en-US" sz="1010" dirty="0">
                <a:solidFill>
                  <a:srgbClr val="20313F"/>
                </a:solidFill>
                <a:latin typeface="Arial" pitchFamily="34" charset="0"/>
                <a:ea typeface="Arial" pitchFamily="34" charset="-122"/>
                <a:cs typeface="Arial" pitchFamily="34" charset="-120"/>
              </a:rPr>
              <a:t>Asset class</a:t>
            </a:r>
            <a:endParaRPr lang="en-US" sz="1010" dirty="0"/>
          </a:p>
        </p:txBody>
      </p:sp>
      <p:sp>
        <p:nvSpPr>
          <p:cNvPr id="36" name="Text 34"/>
          <p:cNvSpPr/>
          <p:nvPr/>
        </p:nvSpPr>
        <p:spPr>
          <a:xfrm>
            <a:off x="9784080" y="3840480"/>
            <a:ext cx="1005840" cy="210312"/>
          </a:xfrm>
          <a:prstGeom prst="rect">
            <a:avLst/>
          </a:prstGeom>
          <a:noFill/>
          <a:ln/>
        </p:spPr>
        <p:txBody>
          <a:bodyPr wrap="square" lIns="0" tIns="0" rIns="0" bIns="0" rtlCol="0" anchor="ctr">
            <a:normAutofit/>
          </a:bodyPr>
          <a:lstStyle/>
          <a:p>
            <a:pPr algn="r" indent="0" marL="0">
              <a:buNone/>
            </a:pPr>
            <a:r>
              <a:rPr lang="en-US" sz="1010" b="1" dirty="0">
                <a:solidFill>
                  <a:srgbClr val="0B2A45"/>
                </a:solidFill>
                <a:latin typeface="Arial" pitchFamily="34" charset="0"/>
                <a:ea typeface="Arial" pitchFamily="34" charset="-122"/>
                <a:cs typeface="Arial" pitchFamily="34" charset="-120"/>
              </a:rPr>
              <a:t>13.86</a:t>
            </a:r>
            <a:endParaRPr lang="en-US" sz="1010" dirty="0"/>
          </a:p>
        </p:txBody>
      </p:sp>
      <p:sp>
        <p:nvSpPr>
          <p:cNvPr id="37" name="Text 35"/>
          <p:cNvSpPr/>
          <p:nvPr/>
        </p:nvSpPr>
        <p:spPr>
          <a:xfrm>
            <a:off x="6217920" y="4343400"/>
            <a:ext cx="566928" cy="210312"/>
          </a:xfrm>
          <a:prstGeom prst="rect">
            <a:avLst/>
          </a:prstGeom>
          <a:noFill/>
          <a:ln/>
        </p:spPr>
        <p:txBody>
          <a:bodyPr wrap="square" lIns="0" tIns="0" rIns="0" bIns="0" rtlCol="0" anchor="ctr">
            <a:normAutofit/>
          </a:bodyPr>
          <a:lstStyle/>
          <a:p>
            <a:pPr algn="l" indent="0" marL="0">
              <a:buNone/>
            </a:pPr>
            <a:r>
              <a:rPr lang="en-US" sz="920" b="1" dirty="0">
                <a:solidFill>
                  <a:srgbClr val="068A95"/>
                </a:solidFill>
                <a:latin typeface="Arial" pitchFamily="34" charset="0"/>
                <a:ea typeface="Arial" pitchFamily="34" charset="-122"/>
                <a:cs typeface="Arial" pitchFamily="34" charset="-120"/>
              </a:rPr>
              <a:t>EDGE</a:t>
            </a:r>
            <a:endParaRPr lang="en-US" sz="920" dirty="0"/>
          </a:p>
        </p:txBody>
      </p:sp>
      <p:sp>
        <p:nvSpPr>
          <p:cNvPr id="38" name="Text 36"/>
          <p:cNvSpPr/>
          <p:nvPr/>
        </p:nvSpPr>
        <p:spPr>
          <a:xfrm>
            <a:off x="6839712" y="4343400"/>
            <a:ext cx="2743200" cy="210312"/>
          </a:xfrm>
          <a:prstGeom prst="rect">
            <a:avLst/>
          </a:prstGeom>
          <a:noFill/>
          <a:ln/>
        </p:spPr>
        <p:txBody>
          <a:bodyPr wrap="square" lIns="0" tIns="0" rIns="0" bIns="0" rtlCol="0" anchor="ctr">
            <a:normAutofit/>
          </a:bodyPr>
          <a:lstStyle/>
          <a:p>
            <a:pPr algn="l" indent="0" marL="0">
              <a:buNone/>
            </a:pPr>
            <a:r>
              <a:rPr lang="en-US" sz="1010" dirty="0">
                <a:solidFill>
                  <a:srgbClr val="20313F"/>
                </a:solidFill>
                <a:latin typeface="Arial" pitchFamily="34" charset="0"/>
                <a:ea typeface="Arial" pitchFamily="34" charset="-122"/>
                <a:cs typeface="Arial" pitchFamily="34" charset="-120"/>
              </a:rPr>
              <a:t>High–low range</a:t>
            </a:r>
            <a:endParaRPr lang="en-US" sz="1010" dirty="0"/>
          </a:p>
        </p:txBody>
      </p:sp>
      <p:sp>
        <p:nvSpPr>
          <p:cNvPr id="39" name="Text 37"/>
          <p:cNvSpPr/>
          <p:nvPr/>
        </p:nvSpPr>
        <p:spPr>
          <a:xfrm>
            <a:off x="9784080" y="4343400"/>
            <a:ext cx="1005840" cy="210312"/>
          </a:xfrm>
          <a:prstGeom prst="rect">
            <a:avLst/>
          </a:prstGeom>
          <a:noFill/>
          <a:ln/>
        </p:spPr>
        <p:txBody>
          <a:bodyPr wrap="square" lIns="0" tIns="0" rIns="0" bIns="0" rtlCol="0" anchor="ctr">
            <a:normAutofit/>
          </a:bodyPr>
          <a:lstStyle/>
          <a:p>
            <a:pPr algn="r" indent="0" marL="0">
              <a:buNone/>
            </a:pPr>
            <a:r>
              <a:rPr lang="en-US" sz="1010" b="1" dirty="0">
                <a:solidFill>
                  <a:srgbClr val="0B2A45"/>
                </a:solidFill>
                <a:latin typeface="Arial" pitchFamily="34" charset="0"/>
                <a:ea typeface="Arial" pitchFamily="34" charset="-122"/>
                <a:cs typeface="Arial" pitchFamily="34" charset="-120"/>
              </a:rPr>
              <a:t>11.71</a:t>
            </a:r>
            <a:endParaRPr lang="en-US" sz="1010" dirty="0"/>
          </a:p>
        </p:txBody>
      </p:sp>
      <p:sp>
        <p:nvSpPr>
          <p:cNvPr id="40" name="Shape 38"/>
          <p:cNvSpPr/>
          <p:nvPr/>
        </p:nvSpPr>
        <p:spPr>
          <a:xfrm>
            <a:off x="658368" y="4892040"/>
            <a:ext cx="10771632" cy="822960"/>
          </a:xfrm>
          <a:prstGeom prst="roundRect">
            <a:avLst>
              <a:gd name="adj" fmla="val 6667"/>
            </a:avLst>
          </a:prstGeom>
          <a:solidFill>
            <a:srgbClr val="F5F7F8"/>
          </a:solidFill>
          <a:ln w="12700">
            <a:solidFill>
              <a:srgbClr val="D9E0E5"/>
            </a:solidFill>
            <a:prstDash val="solid"/>
          </a:ln>
        </p:spPr>
      </p:sp>
      <p:sp>
        <p:nvSpPr>
          <p:cNvPr id="41" name="Text 39"/>
          <p:cNvSpPr/>
          <p:nvPr/>
        </p:nvSpPr>
        <p:spPr>
          <a:xfrm>
            <a:off x="859536" y="5074920"/>
            <a:ext cx="10332720" cy="438912"/>
          </a:xfrm>
          <a:prstGeom prst="rect">
            <a:avLst/>
          </a:prstGeom>
          <a:noFill/>
          <a:ln/>
        </p:spPr>
        <p:txBody>
          <a:bodyPr wrap="square" lIns="0" tIns="0" rIns="0" bIns="0" rtlCol="0" anchor="ctr">
            <a:normAutofit/>
          </a:bodyPr>
          <a:lstStyle/>
          <a:p>
            <a:pPr algn="ctr" indent="0" marL="0">
              <a:buNone/>
            </a:pPr>
            <a:r>
              <a:rPr lang="en-US" sz="1130" b="1" dirty="0">
                <a:solidFill>
                  <a:srgbClr val="0B2A45"/>
                </a:solidFill>
                <a:latin typeface="Arial" pitchFamily="34" charset="0"/>
                <a:ea typeface="Arial" pitchFamily="34" charset="-122"/>
                <a:cs typeface="Arial" pitchFamily="34" charset="-120"/>
              </a:rPr>
              <a:t>Daily range and open–close movement are the most consistent market-condition predictors. Liquidity-tier importance is small / unstable conditional on other features.</a:t>
            </a:r>
            <a:endParaRPr lang="en-US" sz="1130" dirty="0"/>
          </a:p>
        </p:txBody>
      </p:sp>
      <p:sp>
        <p:nvSpPr>
          <p:cNvPr id="42" name="Text 40"/>
          <p:cNvSpPr/>
          <p:nvPr/>
        </p:nvSpPr>
        <p:spPr>
          <a:xfrm>
            <a:off x="685800" y="5989320"/>
            <a:ext cx="10698480" cy="192024"/>
          </a:xfrm>
          <a:prstGeom prst="rect">
            <a:avLst/>
          </a:prstGeom>
          <a:noFill/>
          <a:ln/>
        </p:spPr>
        <p:txBody>
          <a:bodyPr wrap="square" lIns="0" tIns="0" rIns="0" bIns="0" rtlCol="0" anchor="ctr">
            <a:normAutofit/>
          </a:bodyPr>
          <a:lstStyle/>
          <a:p>
            <a:pPr algn="ctr" indent="0" marL="0">
              <a:buNone/>
            </a:pPr>
            <a:r>
              <a:rPr lang="en-US" sz="850" dirty="0">
                <a:solidFill>
                  <a:srgbClr val="6F7E89"/>
                </a:solidFill>
                <a:latin typeface="Arial" pitchFamily="34" charset="0"/>
                <a:ea typeface="Arial" pitchFamily="34" charset="-122"/>
                <a:cs typeface="Arial" pitchFamily="34" charset="-120"/>
              </a:rPr>
              <a:t>Five chronological test folds · 1% embargo = 21 dates · exact information-interval purging · no hyperparameter tuning</a:t>
            </a:r>
            <a:endParaRPr lang="en-US" sz="85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A2</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Exact selected universe</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Nine assets or futures roots per class · three per frozen liquidity tier</a:t>
            </a:r>
            <a:endParaRPr lang="en-US" sz="1070" dirty="0"/>
          </a:p>
        </p:txBody>
      </p:sp>
      <p:sp>
        <p:nvSpPr>
          <p:cNvPr id="5" name="Shape 3"/>
          <p:cNvSpPr/>
          <p:nvPr/>
        </p:nvSpPr>
        <p:spPr>
          <a:xfrm>
            <a:off x="658368" y="1490472"/>
            <a:ext cx="1508760" cy="438912"/>
          </a:xfrm>
          <a:prstGeom prst="rect">
            <a:avLst/>
          </a:prstGeom>
          <a:solidFill>
            <a:srgbClr val="0B2A45"/>
          </a:solidFill>
          <a:ln w="10160">
            <a:solidFill>
              <a:srgbClr val="FFFFFF"/>
            </a:solidFill>
            <a:prstDash val="solid"/>
          </a:ln>
        </p:spPr>
      </p:sp>
      <p:sp>
        <p:nvSpPr>
          <p:cNvPr id="6" name="Text 4"/>
          <p:cNvSpPr/>
          <p:nvPr/>
        </p:nvSpPr>
        <p:spPr>
          <a:xfrm>
            <a:off x="731520" y="1591056"/>
            <a:ext cx="1362456" cy="201168"/>
          </a:xfrm>
          <a:prstGeom prst="rect">
            <a:avLst/>
          </a:prstGeom>
          <a:noFill/>
          <a:ln/>
        </p:spPr>
        <p:txBody>
          <a:bodyPr wrap="square" lIns="0" tIns="0" rIns="0" bIns="0" rtlCol="0" anchor="ctr">
            <a:normAutofit/>
          </a:bodyPr>
          <a:lstStyle/>
          <a:p>
            <a:pPr algn="l" indent="0" marL="0">
              <a:buNone/>
            </a:pPr>
            <a:r>
              <a:rPr lang="en-US" sz="1070" b="1" dirty="0">
                <a:solidFill>
                  <a:srgbClr val="FFFFFF"/>
                </a:solidFill>
                <a:latin typeface="Arial" pitchFamily="34" charset="0"/>
                <a:ea typeface="Arial" pitchFamily="34" charset="-122"/>
                <a:cs typeface="Arial" pitchFamily="34" charset="-120"/>
              </a:rPr>
              <a:t>Class</a:t>
            </a:r>
            <a:endParaRPr lang="en-US" sz="1070" dirty="0"/>
          </a:p>
        </p:txBody>
      </p:sp>
      <p:sp>
        <p:nvSpPr>
          <p:cNvPr id="7" name="Shape 5"/>
          <p:cNvSpPr/>
          <p:nvPr/>
        </p:nvSpPr>
        <p:spPr>
          <a:xfrm>
            <a:off x="2167128" y="1490472"/>
            <a:ext cx="3127248" cy="438912"/>
          </a:xfrm>
          <a:prstGeom prst="rect">
            <a:avLst/>
          </a:prstGeom>
          <a:solidFill>
            <a:srgbClr val="0B2A45"/>
          </a:solidFill>
          <a:ln w="10160">
            <a:solidFill>
              <a:srgbClr val="FFFFFF"/>
            </a:solidFill>
            <a:prstDash val="solid"/>
          </a:ln>
        </p:spPr>
      </p:sp>
      <p:sp>
        <p:nvSpPr>
          <p:cNvPr id="8" name="Text 6"/>
          <p:cNvSpPr/>
          <p:nvPr/>
        </p:nvSpPr>
        <p:spPr>
          <a:xfrm>
            <a:off x="2240280" y="1591056"/>
            <a:ext cx="2980944" cy="201168"/>
          </a:xfrm>
          <a:prstGeom prst="rect">
            <a:avLst/>
          </a:prstGeom>
          <a:noFill/>
          <a:ln/>
        </p:spPr>
        <p:txBody>
          <a:bodyPr wrap="square" lIns="0" tIns="0" rIns="0" bIns="0" rtlCol="0" anchor="ctr">
            <a:normAutofit/>
          </a:bodyPr>
          <a:lstStyle/>
          <a:p>
            <a:pPr algn="ctr" indent="0" marL="0">
              <a:buNone/>
            </a:pPr>
            <a:r>
              <a:rPr lang="en-US" sz="1070" b="1" dirty="0">
                <a:solidFill>
                  <a:srgbClr val="FFFFFF"/>
                </a:solidFill>
                <a:latin typeface="Arial" pitchFamily="34" charset="0"/>
                <a:ea typeface="Arial" pitchFamily="34" charset="-122"/>
                <a:cs typeface="Arial" pitchFamily="34" charset="-120"/>
              </a:rPr>
              <a:t>LOW</a:t>
            </a:r>
            <a:endParaRPr lang="en-US" sz="1070" dirty="0"/>
          </a:p>
        </p:txBody>
      </p:sp>
      <p:sp>
        <p:nvSpPr>
          <p:cNvPr id="9" name="Shape 7"/>
          <p:cNvSpPr/>
          <p:nvPr/>
        </p:nvSpPr>
        <p:spPr>
          <a:xfrm>
            <a:off x="5294376" y="1490472"/>
            <a:ext cx="3127248" cy="438912"/>
          </a:xfrm>
          <a:prstGeom prst="rect">
            <a:avLst/>
          </a:prstGeom>
          <a:solidFill>
            <a:srgbClr val="0B2A45"/>
          </a:solidFill>
          <a:ln w="10160">
            <a:solidFill>
              <a:srgbClr val="FFFFFF"/>
            </a:solidFill>
            <a:prstDash val="solid"/>
          </a:ln>
        </p:spPr>
      </p:sp>
      <p:sp>
        <p:nvSpPr>
          <p:cNvPr id="10" name="Text 8"/>
          <p:cNvSpPr/>
          <p:nvPr/>
        </p:nvSpPr>
        <p:spPr>
          <a:xfrm>
            <a:off x="5367528" y="1591056"/>
            <a:ext cx="2980944" cy="201168"/>
          </a:xfrm>
          <a:prstGeom prst="rect">
            <a:avLst/>
          </a:prstGeom>
          <a:noFill/>
          <a:ln/>
        </p:spPr>
        <p:txBody>
          <a:bodyPr wrap="square" lIns="0" tIns="0" rIns="0" bIns="0" rtlCol="0" anchor="ctr">
            <a:normAutofit/>
          </a:bodyPr>
          <a:lstStyle/>
          <a:p>
            <a:pPr algn="ctr" indent="0" marL="0">
              <a:buNone/>
            </a:pPr>
            <a:r>
              <a:rPr lang="en-US" sz="1070" b="1" dirty="0">
                <a:solidFill>
                  <a:srgbClr val="FFFFFF"/>
                </a:solidFill>
                <a:latin typeface="Arial" pitchFamily="34" charset="0"/>
                <a:ea typeface="Arial" pitchFamily="34" charset="-122"/>
                <a:cs typeface="Arial" pitchFamily="34" charset="-120"/>
              </a:rPr>
              <a:t>MEDIUM</a:t>
            </a:r>
            <a:endParaRPr lang="en-US" sz="1070" dirty="0"/>
          </a:p>
        </p:txBody>
      </p:sp>
      <p:sp>
        <p:nvSpPr>
          <p:cNvPr id="11" name="Shape 9"/>
          <p:cNvSpPr/>
          <p:nvPr/>
        </p:nvSpPr>
        <p:spPr>
          <a:xfrm>
            <a:off x="8421624" y="1490472"/>
            <a:ext cx="3127248" cy="438912"/>
          </a:xfrm>
          <a:prstGeom prst="rect">
            <a:avLst/>
          </a:prstGeom>
          <a:solidFill>
            <a:srgbClr val="0B2A45"/>
          </a:solidFill>
          <a:ln w="10160">
            <a:solidFill>
              <a:srgbClr val="FFFFFF"/>
            </a:solidFill>
            <a:prstDash val="solid"/>
          </a:ln>
        </p:spPr>
      </p:sp>
      <p:sp>
        <p:nvSpPr>
          <p:cNvPr id="12" name="Text 10"/>
          <p:cNvSpPr/>
          <p:nvPr/>
        </p:nvSpPr>
        <p:spPr>
          <a:xfrm>
            <a:off x="8494776" y="1591056"/>
            <a:ext cx="2980944" cy="201168"/>
          </a:xfrm>
          <a:prstGeom prst="rect">
            <a:avLst/>
          </a:prstGeom>
          <a:noFill/>
          <a:ln/>
        </p:spPr>
        <p:txBody>
          <a:bodyPr wrap="square" lIns="0" tIns="0" rIns="0" bIns="0" rtlCol="0" anchor="ctr">
            <a:normAutofit/>
          </a:bodyPr>
          <a:lstStyle/>
          <a:p>
            <a:pPr algn="ctr" indent="0" marL="0">
              <a:buNone/>
            </a:pPr>
            <a:r>
              <a:rPr lang="en-US" sz="1070" b="1" dirty="0">
                <a:solidFill>
                  <a:srgbClr val="FFFFFF"/>
                </a:solidFill>
                <a:latin typeface="Arial" pitchFamily="34" charset="0"/>
                <a:ea typeface="Arial" pitchFamily="34" charset="-122"/>
                <a:cs typeface="Arial" pitchFamily="34" charset="-120"/>
              </a:rPr>
              <a:t>HIGH</a:t>
            </a:r>
            <a:endParaRPr lang="en-US" sz="1070" dirty="0"/>
          </a:p>
        </p:txBody>
      </p:sp>
      <p:sp>
        <p:nvSpPr>
          <p:cNvPr id="13" name="Shape 11"/>
          <p:cNvSpPr/>
          <p:nvPr/>
        </p:nvSpPr>
        <p:spPr>
          <a:xfrm>
            <a:off x="658368" y="1929384"/>
            <a:ext cx="1508760" cy="749808"/>
          </a:xfrm>
          <a:prstGeom prst="rect">
            <a:avLst/>
          </a:prstGeom>
          <a:solidFill>
            <a:srgbClr val="EEF2F4"/>
          </a:solidFill>
          <a:ln w="7620">
            <a:solidFill>
              <a:srgbClr val="DDE4E8"/>
            </a:solidFill>
            <a:prstDash val="solid"/>
          </a:ln>
        </p:spPr>
      </p:sp>
      <p:sp>
        <p:nvSpPr>
          <p:cNvPr id="14" name="Text 12"/>
          <p:cNvSpPr/>
          <p:nvPr/>
        </p:nvSpPr>
        <p:spPr>
          <a:xfrm>
            <a:off x="749808" y="2103120"/>
            <a:ext cx="1325880" cy="365760"/>
          </a:xfrm>
          <a:prstGeom prst="rect">
            <a:avLst/>
          </a:prstGeom>
          <a:noFill/>
          <a:ln/>
        </p:spPr>
        <p:txBody>
          <a:bodyPr wrap="square" lIns="0" tIns="0" rIns="0" bIns="0" rtlCol="0" anchor="ctr">
            <a:normAutofit/>
          </a:bodyPr>
          <a:lstStyle/>
          <a:p>
            <a:pPr algn="l" indent="0" marL="0">
              <a:buNone/>
            </a:pPr>
            <a:r>
              <a:rPr lang="en-US" sz="1100" b="1" dirty="0">
                <a:solidFill>
                  <a:srgbClr val="0B2A45"/>
                </a:solidFill>
                <a:latin typeface="Arial" pitchFamily="34" charset="0"/>
                <a:ea typeface="Arial" pitchFamily="34" charset="-122"/>
                <a:cs typeface="Arial" pitchFamily="34" charset="-120"/>
              </a:rPr>
              <a:t>Stocks</a:t>
            </a:r>
            <a:endParaRPr lang="en-US" sz="1100" dirty="0"/>
          </a:p>
        </p:txBody>
      </p:sp>
      <p:sp>
        <p:nvSpPr>
          <p:cNvPr id="15" name="Shape 13"/>
          <p:cNvSpPr/>
          <p:nvPr/>
        </p:nvSpPr>
        <p:spPr>
          <a:xfrm>
            <a:off x="2167128" y="1929384"/>
            <a:ext cx="3127248" cy="749808"/>
          </a:xfrm>
          <a:prstGeom prst="rect">
            <a:avLst/>
          </a:prstGeom>
          <a:solidFill>
            <a:srgbClr val="EEF2F4"/>
          </a:solidFill>
          <a:ln w="7620">
            <a:solidFill>
              <a:srgbClr val="DDE4E8"/>
            </a:solidFill>
            <a:prstDash val="solid"/>
          </a:ln>
        </p:spPr>
      </p:sp>
      <p:sp>
        <p:nvSpPr>
          <p:cNvPr id="16" name="Text 14"/>
          <p:cNvSpPr/>
          <p:nvPr/>
        </p:nvSpPr>
        <p:spPr>
          <a:xfrm>
            <a:off x="2258568" y="2103120"/>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IMDX · AIRG · CCBG</a:t>
            </a:r>
            <a:endParaRPr lang="en-US" sz="1020" dirty="0"/>
          </a:p>
        </p:txBody>
      </p:sp>
      <p:sp>
        <p:nvSpPr>
          <p:cNvPr id="17" name="Shape 15"/>
          <p:cNvSpPr/>
          <p:nvPr/>
        </p:nvSpPr>
        <p:spPr>
          <a:xfrm>
            <a:off x="5294376" y="1929384"/>
            <a:ext cx="3127248" cy="749808"/>
          </a:xfrm>
          <a:prstGeom prst="rect">
            <a:avLst/>
          </a:prstGeom>
          <a:solidFill>
            <a:srgbClr val="EEF2F4"/>
          </a:solidFill>
          <a:ln w="7620">
            <a:solidFill>
              <a:srgbClr val="DDE4E8"/>
            </a:solidFill>
            <a:prstDash val="solid"/>
          </a:ln>
        </p:spPr>
      </p:sp>
      <p:sp>
        <p:nvSpPr>
          <p:cNvPr id="18" name="Text 16"/>
          <p:cNvSpPr/>
          <p:nvPr/>
        </p:nvSpPr>
        <p:spPr>
          <a:xfrm>
            <a:off x="5385816" y="2103120"/>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ANGO · SNDL · FCPT</a:t>
            </a:r>
            <a:endParaRPr lang="en-US" sz="1020" dirty="0"/>
          </a:p>
        </p:txBody>
      </p:sp>
      <p:sp>
        <p:nvSpPr>
          <p:cNvPr id="19" name="Shape 17"/>
          <p:cNvSpPr/>
          <p:nvPr/>
        </p:nvSpPr>
        <p:spPr>
          <a:xfrm>
            <a:off x="8421624" y="1929384"/>
            <a:ext cx="3127248" cy="749808"/>
          </a:xfrm>
          <a:prstGeom prst="rect">
            <a:avLst/>
          </a:prstGeom>
          <a:solidFill>
            <a:srgbClr val="EEF2F4"/>
          </a:solidFill>
          <a:ln w="7620">
            <a:solidFill>
              <a:srgbClr val="DDE4E8"/>
            </a:solidFill>
            <a:prstDash val="solid"/>
          </a:ln>
        </p:spPr>
      </p:sp>
      <p:sp>
        <p:nvSpPr>
          <p:cNvPr id="20" name="Text 18"/>
          <p:cNvSpPr/>
          <p:nvPr/>
        </p:nvSpPr>
        <p:spPr>
          <a:xfrm>
            <a:off x="8513064" y="2103120"/>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FDS · XPO · BIDU</a:t>
            </a:r>
            <a:endParaRPr lang="en-US" sz="1020" dirty="0"/>
          </a:p>
        </p:txBody>
      </p:sp>
      <p:sp>
        <p:nvSpPr>
          <p:cNvPr id="21" name="Shape 19"/>
          <p:cNvSpPr/>
          <p:nvPr/>
        </p:nvSpPr>
        <p:spPr>
          <a:xfrm>
            <a:off x="658368" y="2679192"/>
            <a:ext cx="1508760" cy="749808"/>
          </a:xfrm>
          <a:prstGeom prst="rect">
            <a:avLst/>
          </a:prstGeom>
          <a:solidFill>
            <a:srgbClr val="F8FAFB"/>
          </a:solidFill>
          <a:ln w="7620">
            <a:solidFill>
              <a:srgbClr val="DDE4E8"/>
            </a:solidFill>
            <a:prstDash val="solid"/>
          </a:ln>
        </p:spPr>
      </p:sp>
      <p:sp>
        <p:nvSpPr>
          <p:cNvPr id="22" name="Text 20"/>
          <p:cNvSpPr/>
          <p:nvPr/>
        </p:nvSpPr>
        <p:spPr>
          <a:xfrm>
            <a:off x="749808" y="2852928"/>
            <a:ext cx="1325880" cy="365760"/>
          </a:xfrm>
          <a:prstGeom prst="rect">
            <a:avLst/>
          </a:prstGeom>
          <a:noFill/>
          <a:ln/>
        </p:spPr>
        <p:txBody>
          <a:bodyPr wrap="square" lIns="0" tIns="0" rIns="0" bIns="0" rtlCol="0" anchor="ctr">
            <a:normAutofit/>
          </a:bodyPr>
          <a:lstStyle/>
          <a:p>
            <a:pPr algn="l" indent="0" marL="0">
              <a:buNone/>
            </a:pPr>
            <a:r>
              <a:rPr lang="en-US" sz="1100" b="1" dirty="0">
                <a:solidFill>
                  <a:srgbClr val="0B2A45"/>
                </a:solidFill>
                <a:latin typeface="Arial" pitchFamily="34" charset="0"/>
                <a:ea typeface="Arial" pitchFamily="34" charset="-122"/>
                <a:cs typeface="Arial" pitchFamily="34" charset="-120"/>
              </a:rPr>
              <a:t>ETFs</a:t>
            </a:r>
            <a:endParaRPr lang="en-US" sz="1100" dirty="0"/>
          </a:p>
        </p:txBody>
      </p:sp>
      <p:sp>
        <p:nvSpPr>
          <p:cNvPr id="23" name="Shape 21"/>
          <p:cNvSpPr/>
          <p:nvPr/>
        </p:nvSpPr>
        <p:spPr>
          <a:xfrm>
            <a:off x="2167128" y="2679192"/>
            <a:ext cx="3127248" cy="749808"/>
          </a:xfrm>
          <a:prstGeom prst="rect">
            <a:avLst/>
          </a:prstGeom>
          <a:solidFill>
            <a:srgbClr val="F8FAFB"/>
          </a:solidFill>
          <a:ln w="7620">
            <a:solidFill>
              <a:srgbClr val="DDE4E8"/>
            </a:solidFill>
            <a:prstDash val="solid"/>
          </a:ln>
        </p:spPr>
      </p:sp>
      <p:sp>
        <p:nvSpPr>
          <p:cNvPr id="24" name="Text 22"/>
          <p:cNvSpPr/>
          <p:nvPr/>
        </p:nvSpPr>
        <p:spPr>
          <a:xfrm>
            <a:off x="2258568" y="2852928"/>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SDCI · AAA · JSML</a:t>
            </a:r>
            <a:endParaRPr lang="en-US" sz="1020" dirty="0"/>
          </a:p>
        </p:txBody>
      </p:sp>
      <p:sp>
        <p:nvSpPr>
          <p:cNvPr id="25" name="Shape 23"/>
          <p:cNvSpPr/>
          <p:nvPr/>
        </p:nvSpPr>
        <p:spPr>
          <a:xfrm>
            <a:off x="5294376" y="2679192"/>
            <a:ext cx="3127248" cy="749808"/>
          </a:xfrm>
          <a:prstGeom prst="rect">
            <a:avLst/>
          </a:prstGeom>
          <a:solidFill>
            <a:srgbClr val="F8FAFB"/>
          </a:solidFill>
          <a:ln w="7620">
            <a:solidFill>
              <a:srgbClr val="DDE4E8"/>
            </a:solidFill>
            <a:prstDash val="solid"/>
          </a:ln>
        </p:spPr>
      </p:sp>
      <p:sp>
        <p:nvSpPr>
          <p:cNvPr id="26" name="Text 24"/>
          <p:cNvSpPr/>
          <p:nvPr/>
        </p:nvSpPr>
        <p:spPr>
          <a:xfrm>
            <a:off x="5385816" y="2852928"/>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PGJ · PJAN · FSMD</a:t>
            </a:r>
            <a:endParaRPr lang="en-US" sz="1020" dirty="0"/>
          </a:p>
        </p:txBody>
      </p:sp>
      <p:sp>
        <p:nvSpPr>
          <p:cNvPr id="27" name="Shape 25"/>
          <p:cNvSpPr/>
          <p:nvPr/>
        </p:nvSpPr>
        <p:spPr>
          <a:xfrm>
            <a:off x="8421624" y="2679192"/>
            <a:ext cx="3127248" cy="749808"/>
          </a:xfrm>
          <a:prstGeom prst="rect">
            <a:avLst/>
          </a:prstGeom>
          <a:solidFill>
            <a:srgbClr val="F8FAFB"/>
          </a:solidFill>
          <a:ln w="7620">
            <a:solidFill>
              <a:srgbClr val="DDE4E8"/>
            </a:solidFill>
            <a:prstDash val="solid"/>
          </a:ln>
        </p:spPr>
      </p:sp>
      <p:sp>
        <p:nvSpPr>
          <p:cNvPr id="28" name="Text 26"/>
          <p:cNvSpPr/>
          <p:nvPr/>
        </p:nvSpPr>
        <p:spPr>
          <a:xfrm>
            <a:off x="8513064" y="2852928"/>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SPBO · SCHM · MCHI</a:t>
            </a:r>
            <a:endParaRPr lang="en-US" sz="1020" dirty="0"/>
          </a:p>
        </p:txBody>
      </p:sp>
      <p:sp>
        <p:nvSpPr>
          <p:cNvPr id="29" name="Shape 27"/>
          <p:cNvSpPr/>
          <p:nvPr/>
        </p:nvSpPr>
        <p:spPr>
          <a:xfrm>
            <a:off x="658368" y="3429000"/>
            <a:ext cx="1508760" cy="749808"/>
          </a:xfrm>
          <a:prstGeom prst="rect">
            <a:avLst/>
          </a:prstGeom>
          <a:solidFill>
            <a:srgbClr val="EEF2F4"/>
          </a:solidFill>
          <a:ln w="7620">
            <a:solidFill>
              <a:srgbClr val="DDE4E8"/>
            </a:solidFill>
            <a:prstDash val="solid"/>
          </a:ln>
        </p:spPr>
      </p:sp>
      <p:sp>
        <p:nvSpPr>
          <p:cNvPr id="30" name="Text 28"/>
          <p:cNvSpPr/>
          <p:nvPr/>
        </p:nvSpPr>
        <p:spPr>
          <a:xfrm>
            <a:off x="749808" y="3602736"/>
            <a:ext cx="1325880" cy="365760"/>
          </a:xfrm>
          <a:prstGeom prst="rect">
            <a:avLst/>
          </a:prstGeom>
          <a:noFill/>
          <a:ln/>
        </p:spPr>
        <p:txBody>
          <a:bodyPr wrap="square" lIns="0" tIns="0" rIns="0" bIns="0" rtlCol="0" anchor="ctr">
            <a:normAutofit/>
          </a:bodyPr>
          <a:lstStyle/>
          <a:p>
            <a:pPr algn="l" indent="0" marL="0">
              <a:buNone/>
            </a:pPr>
            <a:r>
              <a:rPr lang="en-US" sz="1100" b="1" dirty="0">
                <a:solidFill>
                  <a:srgbClr val="0B2A45"/>
                </a:solidFill>
                <a:latin typeface="Arial" pitchFamily="34" charset="0"/>
                <a:ea typeface="Arial" pitchFamily="34" charset="-122"/>
                <a:cs typeface="Arial" pitchFamily="34" charset="-120"/>
              </a:rPr>
              <a:t>Futures</a:t>
            </a:r>
            <a:endParaRPr lang="en-US" sz="1100" dirty="0"/>
          </a:p>
        </p:txBody>
      </p:sp>
      <p:sp>
        <p:nvSpPr>
          <p:cNvPr id="31" name="Shape 29"/>
          <p:cNvSpPr/>
          <p:nvPr/>
        </p:nvSpPr>
        <p:spPr>
          <a:xfrm>
            <a:off x="2167128" y="3429000"/>
            <a:ext cx="3127248" cy="749808"/>
          </a:xfrm>
          <a:prstGeom prst="rect">
            <a:avLst/>
          </a:prstGeom>
          <a:solidFill>
            <a:srgbClr val="EEF2F4"/>
          </a:solidFill>
          <a:ln w="7620">
            <a:solidFill>
              <a:srgbClr val="DDE4E8"/>
            </a:solidFill>
            <a:prstDash val="solid"/>
          </a:ln>
        </p:spPr>
      </p:sp>
      <p:sp>
        <p:nvSpPr>
          <p:cNvPr id="32" name="Text 30"/>
          <p:cNvSpPr/>
          <p:nvPr/>
        </p:nvSpPr>
        <p:spPr>
          <a:xfrm>
            <a:off x="2258568" y="3602736"/>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HG · AD · B6</a:t>
            </a:r>
            <a:endParaRPr lang="en-US" sz="1020" dirty="0"/>
          </a:p>
        </p:txBody>
      </p:sp>
      <p:sp>
        <p:nvSpPr>
          <p:cNvPr id="33" name="Shape 31"/>
          <p:cNvSpPr/>
          <p:nvPr/>
        </p:nvSpPr>
        <p:spPr>
          <a:xfrm>
            <a:off x="5294376" y="3429000"/>
            <a:ext cx="3127248" cy="749808"/>
          </a:xfrm>
          <a:prstGeom prst="rect">
            <a:avLst/>
          </a:prstGeom>
          <a:solidFill>
            <a:srgbClr val="EEF2F4"/>
          </a:solidFill>
          <a:ln w="7620">
            <a:solidFill>
              <a:srgbClr val="DDE4E8"/>
            </a:solidFill>
            <a:prstDash val="solid"/>
          </a:ln>
        </p:spPr>
      </p:sp>
      <p:sp>
        <p:nvSpPr>
          <p:cNvPr id="34" name="Text 32"/>
          <p:cNvSpPr/>
          <p:nvPr/>
        </p:nvSpPr>
        <p:spPr>
          <a:xfrm>
            <a:off x="5385816" y="3602736"/>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J1 · GC · E6</a:t>
            </a:r>
            <a:endParaRPr lang="en-US" sz="1020" dirty="0"/>
          </a:p>
        </p:txBody>
      </p:sp>
      <p:sp>
        <p:nvSpPr>
          <p:cNvPr id="35" name="Shape 33"/>
          <p:cNvSpPr/>
          <p:nvPr/>
        </p:nvSpPr>
        <p:spPr>
          <a:xfrm>
            <a:off x="8421624" y="3429000"/>
            <a:ext cx="3127248" cy="749808"/>
          </a:xfrm>
          <a:prstGeom prst="rect">
            <a:avLst/>
          </a:prstGeom>
          <a:solidFill>
            <a:srgbClr val="EEF2F4"/>
          </a:solidFill>
          <a:ln w="7620">
            <a:solidFill>
              <a:srgbClr val="DDE4E8"/>
            </a:solidFill>
            <a:prstDash val="solid"/>
          </a:ln>
        </p:spPr>
      </p:sp>
      <p:sp>
        <p:nvSpPr>
          <p:cNvPr id="36" name="Text 34"/>
          <p:cNvSpPr/>
          <p:nvPr/>
        </p:nvSpPr>
        <p:spPr>
          <a:xfrm>
            <a:off x="8513064" y="3602736"/>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NQ · ZF · ES</a:t>
            </a:r>
            <a:endParaRPr lang="en-US" sz="1020" dirty="0"/>
          </a:p>
        </p:txBody>
      </p:sp>
      <p:sp>
        <p:nvSpPr>
          <p:cNvPr id="37" name="Shape 35"/>
          <p:cNvSpPr/>
          <p:nvPr/>
        </p:nvSpPr>
        <p:spPr>
          <a:xfrm>
            <a:off x="658368" y="4178808"/>
            <a:ext cx="1508760" cy="749808"/>
          </a:xfrm>
          <a:prstGeom prst="rect">
            <a:avLst/>
          </a:prstGeom>
          <a:solidFill>
            <a:srgbClr val="F8FAFB"/>
          </a:solidFill>
          <a:ln w="7620">
            <a:solidFill>
              <a:srgbClr val="DDE4E8"/>
            </a:solidFill>
            <a:prstDash val="solid"/>
          </a:ln>
        </p:spPr>
      </p:sp>
      <p:sp>
        <p:nvSpPr>
          <p:cNvPr id="38" name="Text 36"/>
          <p:cNvSpPr/>
          <p:nvPr/>
        </p:nvSpPr>
        <p:spPr>
          <a:xfrm>
            <a:off x="749808" y="4352544"/>
            <a:ext cx="1325880" cy="365760"/>
          </a:xfrm>
          <a:prstGeom prst="rect">
            <a:avLst/>
          </a:prstGeom>
          <a:noFill/>
          <a:ln/>
        </p:spPr>
        <p:txBody>
          <a:bodyPr wrap="square" lIns="0" tIns="0" rIns="0" bIns="0" rtlCol="0" anchor="ctr">
            <a:normAutofit/>
          </a:bodyPr>
          <a:lstStyle/>
          <a:p>
            <a:pPr algn="l" indent="0" marL="0">
              <a:buNone/>
            </a:pPr>
            <a:r>
              <a:rPr lang="en-US" sz="1100" b="1" dirty="0">
                <a:solidFill>
                  <a:srgbClr val="0B2A45"/>
                </a:solidFill>
                <a:latin typeface="Arial" pitchFamily="34" charset="0"/>
                <a:ea typeface="Arial" pitchFamily="34" charset="-122"/>
                <a:cs typeface="Arial" pitchFamily="34" charset="-120"/>
              </a:rPr>
              <a:t>Crypto</a:t>
            </a:r>
            <a:endParaRPr lang="en-US" sz="1100" dirty="0"/>
          </a:p>
        </p:txBody>
      </p:sp>
      <p:sp>
        <p:nvSpPr>
          <p:cNvPr id="39" name="Shape 37"/>
          <p:cNvSpPr/>
          <p:nvPr/>
        </p:nvSpPr>
        <p:spPr>
          <a:xfrm>
            <a:off x="2167128" y="4178808"/>
            <a:ext cx="3127248" cy="749808"/>
          </a:xfrm>
          <a:prstGeom prst="rect">
            <a:avLst/>
          </a:prstGeom>
          <a:solidFill>
            <a:srgbClr val="F8FAFB"/>
          </a:solidFill>
          <a:ln w="7620">
            <a:solidFill>
              <a:srgbClr val="DDE4E8"/>
            </a:solidFill>
            <a:prstDash val="solid"/>
          </a:ln>
        </p:spPr>
      </p:sp>
      <p:sp>
        <p:nvSpPr>
          <p:cNvPr id="40" name="Text 38"/>
          <p:cNvSpPr/>
          <p:nvPr/>
        </p:nvSpPr>
        <p:spPr>
          <a:xfrm>
            <a:off x="2258568" y="4352544"/>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ICX · NEO · DASH</a:t>
            </a:r>
            <a:endParaRPr lang="en-US" sz="1020" dirty="0"/>
          </a:p>
        </p:txBody>
      </p:sp>
      <p:sp>
        <p:nvSpPr>
          <p:cNvPr id="41" name="Shape 39"/>
          <p:cNvSpPr/>
          <p:nvPr/>
        </p:nvSpPr>
        <p:spPr>
          <a:xfrm>
            <a:off x="5294376" y="4178808"/>
            <a:ext cx="3127248" cy="749808"/>
          </a:xfrm>
          <a:prstGeom prst="rect">
            <a:avLst/>
          </a:prstGeom>
          <a:solidFill>
            <a:srgbClr val="F8FAFB"/>
          </a:solidFill>
          <a:ln w="7620">
            <a:solidFill>
              <a:srgbClr val="DDE4E8"/>
            </a:solidFill>
            <a:prstDash val="solid"/>
          </a:ln>
        </p:spPr>
      </p:sp>
      <p:sp>
        <p:nvSpPr>
          <p:cNvPr id="42" name="Text 40"/>
          <p:cNvSpPr/>
          <p:nvPr/>
        </p:nvSpPr>
        <p:spPr>
          <a:xfrm>
            <a:off x="5385816" y="4352544"/>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ZEC · ALGO · MKR</a:t>
            </a:r>
            <a:endParaRPr lang="en-US" sz="1020" dirty="0"/>
          </a:p>
        </p:txBody>
      </p:sp>
      <p:sp>
        <p:nvSpPr>
          <p:cNvPr id="43" name="Shape 41"/>
          <p:cNvSpPr/>
          <p:nvPr/>
        </p:nvSpPr>
        <p:spPr>
          <a:xfrm>
            <a:off x="8421624" y="4178808"/>
            <a:ext cx="3127248" cy="749808"/>
          </a:xfrm>
          <a:prstGeom prst="rect">
            <a:avLst/>
          </a:prstGeom>
          <a:solidFill>
            <a:srgbClr val="F8FAFB"/>
          </a:solidFill>
          <a:ln w="7620">
            <a:solidFill>
              <a:srgbClr val="DDE4E8"/>
            </a:solidFill>
            <a:prstDash val="solid"/>
          </a:ln>
        </p:spPr>
      </p:sp>
      <p:sp>
        <p:nvSpPr>
          <p:cNvPr id="44" name="Text 42"/>
          <p:cNvSpPr/>
          <p:nvPr/>
        </p:nvSpPr>
        <p:spPr>
          <a:xfrm>
            <a:off x="8513064" y="4352544"/>
            <a:ext cx="2944368" cy="365760"/>
          </a:xfrm>
          <a:prstGeom prst="rect">
            <a:avLst/>
          </a:prstGeom>
          <a:noFill/>
          <a:ln/>
        </p:spPr>
        <p:txBody>
          <a:bodyPr wrap="square" lIns="0" tIns="0" rIns="0" bIns="0" rtlCol="0" anchor="ctr">
            <a:normAutofit/>
          </a:bodyPr>
          <a:lstStyle/>
          <a:p>
            <a:pPr algn="ctr" indent="0" marL="0">
              <a:buNone/>
            </a:pPr>
            <a:r>
              <a:rPr lang="en-US" sz="1020" dirty="0">
                <a:solidFill>
                  <a:srgbClr val="20313F"/>
                </a:solidFill>
                <a:latin typeface="Arial" pitchFamily="34" charset="0"/>
                <a:ea typeface="Arial" pitchFamily="34" charset="-122"/>
                <a:cs typeface="Arial" pitchFamily="34" charset="-120"/>
              </a:rPr>
              <a:t>NEAR · LINK · DOGE</a:t>
            </a:r>
            <a:endParaRPr lang="en-US" sz="1020" dirty="0"/>
          </a:p>
        </p:txBody>
      </p:sp>
      <p:sp>
        <p:nvSpPr>
          <p:cNvPr id="45" name="Shape 43"/>
          <p:cNvSpPr/>
          <p:nvPr/>
        </p:nvSpPr>
        <p:spPr>
          <a:xfrm>
            <a:off x="1051560" y="5166360"/>
            <a:ext cx="10058400" cy="713232"/>
          </a:xfrm>
          <a:prstGeom prst="roundRect">
            <a:avLst>
              <a:gd name="adj" fmla="val 7692"/>
            </a:avLst>
          </a:prstGeom>
          <a:solidFill>
            <a:srgbClr val="F5F7F8"/>
          </a:solidFill>
          <a:ln w="12700">
            <a:solidFill>
              <a:srgbClr val="D9E0E5"/>
            </a:solidFill>
            <a:prstDash val="solid"/>
          </a:ln>
        </p:spPr>
      </p:sp>
      <p:sp>
        <p:nvSpPr>
          <p:cNvPr id="46" name="Text 44"/>
          <p:cNvSpPr/>
          <p:nvPr/>
        </p:nvSpPr>
        <p:spPr>
          <a:xfrm>
            <a:off x="1280160" y="5367528"/>
            <a:ext cx="9601200" cy="329184"/>
          </a:xfrm>
          <a:prstGeom prst="rect">
            <a:avLst/>
          </a:prstGeom>
          <a:noFill/>
          <a:ln/>
        </p:spPr>
        <p:txBody>
          <a:bodyPr wrap="square" lIns="0" tIns="0" rIns="0" bIns="0" rtlCol="0" anchor="ctr">
            <a:normAutofit/>
          </a:bodyPr>
          <a:lstStyle/>
          <a:p>
            <a:pPr algn="ctr" indent="0" marL="0">
              <a:buNone/>
            </a:pPr>
            <a:r>
              <a:rPr lang="en-US" sz="1070" dirty="0">
                <a:solidFill>
                  <a:srgbClr val="20313F"/>
                </a:solidFill>
                <a:latin typeface="Arial" pitchFamily="34" charset="0"/>
                <a:ea typeface="Arial" pitchFamily="34" charset="-122"/>
                <a:cs typeface="Arial" pitchFamily="34" charset="-120"/>
              </a:rPr>
              <a:t>No performance-based replacement. REIT/ADS lines are allowed under the stock rule. IMDX historical continuity remains uncertified; no OCX stitching.</a:t>
            </a:r>
            <a:endParaRPr lang="en-US" sz="107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A3</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Estimator definitions and frozen daily mappings</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Implementation choices are ex-post measurement conventions, not trading signals</a:t>
            </a:r>
            <a:endParaRPr lang="en-US" sz="1070" dirty="0"/>
          </a:p>
        </p:txBody>
      </p:sp>
      <p:sp>
        <p:nvSpPr>
          <p:cNvPr id="5" name="Shape 3"/>
          <p:cNvSpPr/>
          <p:nvPr/>
        </p:nvSpPr>
        <p:spPr>
          <a:xfrm>
            <a:off x="594360" y="1426464"/>
            <a:ext cx="10972800" cy="960120"/>
          </a:xfrm>
          <a:prstGeom prst="roundRect">
            <a:avLst>
              <a:gd name="adj" fmla="val 5714"/>
            </a:avLst>
          </a:prstGeom>
          <a:solidFill>
            <a:srgbClr val="F5F7F8"/>
          </a:solidFill>
          <a:ln w="12700">
            <a:solidFill>
              <a:srgbClr val="DDE4E8"/>
            </a:solidFill>
            <a:prstDash val="solid"/>
          </a:ln>
        </p:spPr>
      </p:sp>
      <p:sp>
        <p:nvSpPr>
          <p:cNvPr id="6" name="Text 4"/>
          <p:cNvSpPr/>
          <p:nvPr/>
        </p:nvSpPr>
        <p:spPr>
          <a:xfrm>
            <a:off x="758952" y="1600200"/>
            <a:ext cx="749808" cy="237744"/>
          </a:xfrm>
          <a:prstGeom prst="rect">
            <a:avLst/>
          </a:prstGeom>
          <a:noFill/>
          <a:ln/>
        </p:spPr>
        <p:txBody>
          <a:bodyPr wrap="square" lIns="0" tIns="0" rIns="0" bIns="0" rtlCol="0" anchor="ctr">
            <a:normAutofit/>
          </a:bodyPr>
          <a:lstStyle/>
          <a:p>
            <a:pPr algn="ctr" indent="0" marL="0">
              <a:buNone/>
            </a:pPr>
            <a:r>
              <a:rPr lang="en-US" sz="1300" b="1" dirty="0">
                <a:solidFill>
                  <a:srgbClr val="C8902F"/>
                </a:solidFill>
                <a:latin typeface="Arial" pitchFamily="34" charset="0"/>
                <a:ea typeface="Arial" pitchFamily="34" charset="-122"/>
                <a:cs typeface="Arial" pitchFamily="34" charset="-120"/>
              </a:rPr>
              <a:t>ROLL</a:t>
            </a:r>
            <a:endParaRPr lang="en-US" sz="1300" dirty="0"/>
          </a:p>
        </p:txBody>
      </p:sp>
      <p:sp>
        <p:nvSpPr>
          <p:cNvPr id="7" name="Shape 5"/>
          <p:cNvSpPr/>
          <p:nvPr/>
        </p:nvSpPr>
        <p:spPr>
          <a:xfrm>
            <a:off x="1627632" y="1572768"/>
            <a:ext cx="0" cy="667512"/>
          </a:xfrm>
          <a:prstGeom prst="line">
            <a:avLst/>
          </a:prstGeom>
          <a:noFill/>
          <a:ln w="12700">
            <a:solidFill>
              <a:srgbClr val="D7DFE4"/>
            </a:solidFill>
            <a:prstDash val="solid"/>
          </a:ln>
        </p:spPr>
      </p:sp>
      <p:sp>
        <p:nvSpPr>
          <p:cNvPr id="8" name="Text 6"/>
          <p:cNvSpPr/>
          <p:nvPr/>
        </p:nvSpPr>
        <p:spPr>
          <a:xfrm>
            <a:off x="1810512" y="1536192"/>
            <a:ext cx="9144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CONCEPT</a:t>
            </a:r>
            <a:endParaRPr lang="en-US" sz="750" dirty="0"/>
          </a:p>
        </p:txBody>
      </p:sp>
      <p:sp>
        <p:nvSpPr>
          <p:cNvPr id="9" name="Text 7"/>
          <p:cNvSpPr/>
          <p:nvPr/>
        </p:nvSpPr>
        <p:spPr>
          <a:xfrm>
            <a:off x="1810512" y="1755648"/>
            <a:ext cx="2880360" cy="384048"/>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Lag-1 covariance of adjacent 1-min simple returns</a:t>
            </a:r>
            <a:endParaRPr lang="en-US" sz="980" dirty="0"/>
          </a:p>
        </p:txBody>
      </p:sp>
      <p:sp>
        <p:nvSpPr>
          <p:cNvPr id="10" name="Text 8"/>
          <p:cNvSpPr/>
          <p:nvPr/>
        </p:nvSpPr>
        <p:spPr>
          <a:xfrm>
            <a:off x="4919472" y="1536192"/>
            <a:ext cx="11887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FROZEN MAPPING</a:t>
            </a:r>
            <a:endParaRPr lang="en-US" sz="750" dirty="0"/>
          </a:p>
        </p:txBody>
      </p:sp>
      <p:sp>
        <p:nvSpPr>
          <p:cNvPr id="11" name="Text 9"/>
          <p:cNvSpPr/>
          <p:nvPr/>
        </p:nvSpPr>
        <p:spPr>
          <a:xfrm>
            <a:off x="4919472" y="1755648"/>
            <a:ext cx="3035808" cy="402336"/>
          </a:xfrm>
          <a:prstGeom prst="rect">
            <a:avLst/>
          </a:prstGeom>
          <a:noFill/>
          <a:ln/>
        </p:spPr>
        <p:txBody>
          <a:bodyPr wrap="square" lIns="0" tIns="0" rIns="0" bIns="0" rtlCol="0" anchor="ctr">
            <a:normAutofit/>
          </a:bodyPr>
          <a:lstStyle/>
          <a:p>
            <a:pPr algn="l" indent="0" marL="0">
              <a:buNone/>
            </a:pPr>
            <a:r>
              <a:rPr lang="en-US" sz="960" dirty="0">
                <a:solidFill>
                  <a:srgbClr val="20313F"/>
                </a:solidFill>
                <a:latin typeface="Arial" pitchFamily="34" charset="0"/>
                <a:ea typeface="Arial" pitchFamily="34" charset="-122"/>
                <a:cs typeface="Arial" pitchFamily="34" charset="-120"/>
              </a:rPr>
              <a:t>Within frozen session/day; ddof=1; min 2 covariance pairs</a:t>
            </a:r>
            <a:endParaRPr lang="en-US" sz="960" dirty="0"/>
          </a:p>
        </p:txBody>
      </p:sp>
      <p:sp>
        <p:nvSpPr>
          <p:cNvPr id="12" name="Text 10"/>
          <p:cNvSpPr/>
          <p:nvPr/>
        </p:nvSpPr>
        <p:spPr>
          <a:xfrm>
            <a:off x="8211312" y="1536192"/>
            <a:ext cx="150876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NEGATIVE / UNDEFINED</a:t>
            </a:r>
            <a:endParaRPr lang="en-US" sz="750" dirty="0"/>
          </a:p>
        </p:txBody>
      </p:sp>
      <p:sp>
        <p:nvSpPr>
          <p:cNvPr id="13" name="Text 11"/>
          <p:cNvSpPr/>
          <p:nvPr/>
        </p:nvSpPr>
        <p:spPr>
          <a:xfrm>
            <a:off x="8211312" y="1755648"/>
            <a:ext cx="3017520" cy="402336"/>
          </a:xfrm>
          <a:prstGeom prst="rect">
            <a:avLst/>
          </a:prstGeom>
          <a:noFill/>
          <a:ln/>
        </p:spPr>
        <p:txBody>
          <a:bodyPr wrap="square" lIns="0" tIns="0" rIns="0" bIns="0" rtlCol="0" anchor="ctr">
            <a:normAutofit/>
          </a:bodyPr>
          <a:lstStyle/>
          <a:p>
            <a:pPr algn="l" indent="0" marL="0">
              <a:buNone/>
            </a:pPr>
            <a:r>
              <a:rPr lang="en-US" sz="950" dirty="0">
                <a:solidFill>
                  <a:srgbClr val="20313F"/>
                </a:solidFill>
                <a:latin typeface="Arial" pitchFamily="34" charset="0"/>
                <a:ea typeface="Arial" pitchFamily="34" charset="-122"/>
                <a:cs typeface="Arial" pitchFamily="34" charset="-120"/>
              </a:rPr>
              <a:t>Nonnegative covariance → undefined; never zero</a:t>
            </a:r>
            <a:endParaRPr lang="en-US" sz="950" dirty="0"/>
          </a:p>
        </p:txBody>
      </p:sp>
      <p:sp>
        <p:nvSpPr>
          <p:cNvPr id="14" name="Shape 12"/>
          <p:cNvSpPr/>
          <p:nvPr/>
        </p:nvSpPr>
        <p:spPr>
          <a:xfrm>
            <a:off x="594360" y="2569464"/>
            <a:ext cx="10972800" cy="960120"/>
          </a:xfrm>
          <a:prstGeom prst="roundRect">
            <a:avLst>
              <a:gd name="adj" fmla="val 5714"/>
            </a:avLst>
          </a:prstGeom>
          <a:solidFill>
            <a:srgbClr val="FBFCFD"/>
          </a:solidFill>
          <a:ln w="12700">
            <a:solidFill>
              <a:srgbClr val="DDE4E8"/>
            </a:solidFill>
            <a:prstDash val="solid"/>
          </a:ln>
        </p:spPr>
      </p:sp>
      <p:sp>
        <p:nvSpPr>
          <p:cNvPr id="15" name="Text 13"/>
          <p:cNvSpPr/>
          <p:nvPr/>
        </p:nvSpPr>
        <p:spPr>
          <a:xfrm>
            <a:off x="758952" y="2743200"/>
            <a:ext cx="749808" cy="237744"/>
          </a:xfrm>
          <a:prstGeom prst="rect">
            <a:avLst/>
          </a:prstGeom>
          <a:noFill/>
          <a:ln/>
        </p:spPr>
        <p:txBody>
          <a:bodyPr wrap="square" lIns="0" tIns="0" rIns="0" bIns="0" rtlCol="0" anchor="ctr">
            <a:normAutofit/>
          </a:bodyPr>
          <a:lstStyle/>
          <a:p>
            <a:pPr algn="ctr" indent="0" marL="0">
              <a:buNone/>
            </a:pPr>
            <a:r>
              <a:rPr lang="en-US" sz="1300" b="1" dirty="0">
                <a:solidFill>
                  <a:srgbClr val="2F5D7C"/>
                </a:solidFill>
                <a:latin typeface="Arial" pitchFamily="34" charset="0"/>
                <a:ea typeface="Arial" pitchFamily="34" charset="-122"/>
                <a:cs typeface="Arial" pitchFamily="34" charset="-120"/>
              </a:rPr>
              <a:t>CS</a:t>
            </a:r>
            <a:endParaRPr lang="en-US" sz="1300" dirty="0"/>
          </a:p>
        </p:txBody>
      </p:sp>
      <p:sp>
        <p:nvSpPr>
          <p:cNvPr id="16" name="Shape 14"/>
          <p:cNvSpPr/>
          <p:nvPr/>
        </p:nvSpPr>
        <p:spPr>
          <a:xfrm>
            <a:off x="1627632" y="2715768"/>
            <a:ext cx="0" cy="667512"/>
          </a:xfrm>
          <a:prstGeom prst="line">
            <a:avLst/>
          </a:prstGeom>
          <a:noFill/>
          <a:ln w="12700">
            <a:solidFill>
              <a:srgbClr val="D7DFE4"/>
            </a:solidFill>
            <a:prstDash val="solid"/>
          </a:ln>
        </p:spPr>
      </p:sp>
      <p:sp>
        <p:nvSpPr>
          <p:cNvPr id="17" name="Text 15"/>
          <p:cNvSpPr/>
          <p:nvPr/>
        </p:nvSpPr>
        <p:spPr>
          <a:xfrm>
            <a:off x="1810512" y="2679192"/>
            <a:ext cx="9144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CONCEPT</a:t>
            </a:r>
            <a:endParaRPr lang="en-US" sz="750" dirty="0"/>
          </a:p>
        </p:txBody>
      </p:sp>
      <p:sp>
        <p:nvSpPr>
          <p:cNvPr id="18" name="Text 16"/>
          <p:cNvSpPr/>
          <p:nvPr/>
        </p:nvSpPr>
        <p:spPr>
          <a:xfrm>
            <a:off x="1810512" y="2898648"/>
            <a:ext cx="2880360" cy="384048"/>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Overnight-adjusted two-session high–low moments</a:t>
            </a:r>
            <a:endParaRPr lang="en-US" sz="980" dirty="0"/>
          </a:p>
        </p:txBody>
      </p:sp>
      <p:sp>
        <p:nvSpPr>
          <p:cNvPr id="19" name="Text 17"/>
          <p:cNvSpPr/>
          <p:nvPr/>
        </p:nvSpPr>
        <p:spPr>
          <a:xfrm>
            <a:off x="4919472" y="2679192"/>
            <a:ext cx="11887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FROZEN MAPPING</a:t>
            </a:r>
            <a:endParaRPr lang="en-US" sz="750" dirty="0"/>
          </a:p>
        </p:txBody>
      </p:sp>
      <p:sp>
        <p:nvSpPr>
          <p:cNvPr id="20" name="Text 18"/>
          <p:cNvSpPr/>
          <p:nvPr/>
        </p:nvSpPr>
        <p:spPr>
          <a:xfrm>
            <a:off x="4919472" y="2898648"/>
            <a:ext cx="3035808" cy="402336"/>
          </a:xfrm>
          <a:prstGeom prst="rect">
            <a:avLst/>
          </a:prstGeom>
          <a:noFill/>
          <a:ln/>
        </p:spPr>
        <p:txBody>
          <a:bodyPr wrap="square" lIns="0" tIns="0" rIns="0" bIns="0" rtlCol="0" anchor="ctr">
            <a:normAutofit/>
          </a:bodyPr>
          <a:lstStyle/>
          <a:p>
            <a:pPr algn="l" indent="0" marL="0">
              <a:buNone/>
            </a:pPr>
            <a:r>
              <a:rPr lang="en-US" sz="960" dirty="0">
                <a:solidFill>
                  <a:srgbClr val="20313F"/>
                </a:solidFill>
                <a:latin typeface="Arial" pitchFamily="34" charset="0"/>
                <a:ea typeface="Arial" pitchFamily="34" charset="-122"/>
                <a:cs typeface="Arial" pitchFamily="34" charset="-120"/>
              </a:rPr>
              <a:t>Mean corrected intervals (t−1,t) and (t,t+1); both required</a:t>
            </a:r>
            <a:endParaRPr lang="en-US" sz="960" dirty="0"/>
          </a:p>
        </p:txBody>
      </p:sp>
      <p:sp>
        <p:nvSpPr>
          <p:cNvPr id="21" name="Text 19"/>
          <p:cNvSpPr/>
          <p:nvPr/>
        </p:nvSpPr>
        <p:spPr>
          <a:xfrm>
            <a:off x="8211312" y="2679192"/>
            <a:ext cx="150876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NEGATIVE / UNDEFINED</a:t>
            </a:r>
            <a:endParaRPr lang="en-US" sz="750" dirty="0"/>
          </a:p>
        </p:txBody>
      </p:sp>
      <p:sp>
        <p:nvSpPr>
          <p:cNvPr id="22" name="Text 20"/>
          <p:cNvSpPr/>
          <p:nvPr/>
        </p:nvSpPr>
        <p:spPr>
          <a:xfrm>
            <a:off x="8211312" y="2898648"/>
            <a:ext cx="3017520" cy="402336"/>
          </a:xfrm>
          <a:prstGeom prst="rect">
            <a:avLst/>
          </a:prstGeom>
          <a:noFill/>
          <a:ln/>
        </p:spPr>
        <p:txBody>
          <a:bodyPr wrap="square" lIns="0" tIns="0" rIns="0" bIns="0" rtlCol="0" anchor="ctr">
            <a:normAutofit/>
          </a:bodyPr>
          <a:lstStyle/>
          <a:p>
            <a:pPr algn="l" indent="0" marL="0">
              <a:buNone/>
            </a:pPr>
            <a:r>
              <a:rPr lang="en-US" sz="950" dirty="0">
                <a:solidFill>
                  <a:srgbClr val="20313F"/>
                </a:solidFill>
                <a:latin typeface="Arial" pitchFamily="34" charset="0"/>
                <a:ea typeface="Arial" pitchFamily="34" charset="-122"/>
                <a:cs typeface="Arial" pitchFamily="34" charset="-120"/>
              </a:rPr>
              <a:t>Floor each finite interval separately; retain raw signed diagnostic</a:t>
            </a:r>
            <a:endParaRPr lang="en-US" sz="950" dirty="0"/>
          </a:p>
        </p:txBody>
      </p:sp>
      <p:sp>
        <p:nvSpPr>
          <p:cNvPr id="23" name="Shape 21"/>
          <p:cNvSpPr/>
          <p:nvPr/>
        </p:nvSpPr>
        <p:spPr>
          <a:xfrm>
            <a:off x="594360" y="3712464"/>
            <a:ext cx="10972800" cy="960120"/>
          </a:xfrm>
          <a:prstGeom prst="roundRect">
            <a:avLst>
              <a:gd name="adj" fmla="val 5714"/>
            </a:avLst>
          </a:prstGeom>
          <a:solidFill>
            <a:srgbClr val="F5F7F8"/>
          </a:solidFill>
          <a:ln w="12700">
            <a:solidFill>
              <a:srgbClr val="DDE4E8"/>
            </a:solidFill>
            <a:prstDash val="solid"/>
          </a:ln>
        </p:spPr>
      </p:sp>
      <p:sp>
        <p:nvSpPr>
          <p:cNvPr id="24" name="Text 22"/>
          <p:cNvSpPr/>
          <p:nvPr/>
        </p:nvSpPr>
        <p:spPr>
          <a:xfrm>
            <a:off x="758952" y="3886200"/>
            <a:ext cx="749808" cy="237744"/>
          </a:xfrm>
          <a:prstGeom prst="rect">
            <a:avLst/>
          </a:prstGeom>
          <a:noFill/>
          <a:ln/>
        </p:spPr>
        <p:txBody>
          <a:bodyPr wrap="square" lIns="0" tIns="0" rIns="0" bIns="0" rtlCol="0" anchor="ctr">
            <a:normAutofit/>
          </a:bodyPr>
          <a:lstStyle/>
          <a:p>
            <a:pPr algn="ctr" indent="0" marL="0">
              <a:buNone/>
            </a:pPr>
            <a:r>
              <a:rPr lang="en-US" sz="1300" b="1" dirty="0">
                <a:solidFill>
                  <a:srgbClr val="74828C"/>
                </a:solidFill>
                <a:latin typeface="Arial" pitchFamily="34" charset="0"/>
                <a:ea typeface="Arial" pitchFamily="34" charset="-122"/>
                <a:cs typeface="Arial" pitchFamily="34" charset="-120"/>
              </a:rPr>
              <a:t>AR</a:t>
            </a:r>
            <a:endParaRPr lang="en-US" sz="1300" dirty="0"/>
          </a:p>
        </p:txBody>
      </p:sp>
      <p:sp>
        <p:nvSpPr>
          <p:cNvPr id="25" name="Shape 23"/>
          <p:cNvSpPr/>
          <p:nvPr/>
        </p:nvSpPr>
        <p:spPr>
          <a:xfrm>
            <a:off x="1627632" y="3858768"/>
            <a:ext cx="0" cy="667512"/>
          </a:xfrm>
          <a:prstGeom prst="line">
            <a:avLst/>
          </a:prstGeom>
          <a:noFill/>
          <a:ln w="12700">
            <a:solidFill>
              <a:srgbClr val="D7DFE4"/>
            </a:solidFill>
            <a:prstDash val="solid"/>
          </a:ln>
        </p:spPr>
      </p:sp>
      <p:sp>
        <p:nvSpPr>
          <p:cNvPr id="26" name="Text 24"/>
          <p:cNvSpPr/>
          <p:nvPr/>
        </p:nvSpPr>
        <p:spPr>
          <a:xfrm>
            <a:off x="1810512" y="3822192"/>
            <a:ext cx="9144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CONCEPT</a:t>
            </a:r>
            <a:endParaRPr lang="en-US" sz="750" dirty="0"/>
          </a:p>
        </p:txBody>
      </p:sp>
      <p:sp>
        <p:nvSpPr>
          <p:cNvPr id="27" name="Text 25"/>
          <p:cNvSpPr/>
          <p:nvPr/>
        </p:nvSpPr>
        <p:spPr>
          <a:xfrm>
            <a:off x="1810512" y="4041648"/>
            <a:ext cx="2880360" cy="384048"/>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Close vs high–low midpoint two-day moment</a:t>
            </a:r>
            <a:endParaRPr lang="en-US" sz="980" dirty="0"/>
          </a:p>
        </p:txBody>
      </p:sp>
      <p:sp>
        <p:nvSpPr>
          <p:cNvPr id="28" name="Text 26"/>
          <p:cNvSpPr/>
          <p:nvPr/>
        </p:nvSpPr>
        <p:spPr>
          <a:xfrm>
            <a:off x="4919472" y="3822192"/>
            <a:ext cx="11887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FROZEN MAPPING</a:t>
            </a:r>
            <a:endParaRPr lang="en-US" sz="750" dirty="0"/>
          </a:p>
        </p:txBody>
      </p:sp>
      <p:sp>
        <p:nvSpPr>
          <p:cNvPr id="29" name="Text 27"/>
          <p:cNvSpPr/>
          <p:nvPr/>
        </p:nvSpPr>
        <p:spPr>
          <a:xfrm>
            <a:off x="4919472" y="4041648"/>
            <a:ext cx="3035808" cy="402336"/>
          </a:xfrm>
          <a:prstGeom prst="rect">
            <a:avLst/>
          </a:prstGeom>
          <a:noFill/>
          <a:ln/>
        </p:spPr>
        <p:txBody>
          <a:bodyPr wrap="square" lIns="0" tIns="0" rIns="0" bIns="0" rtlCol="0" anchor="ctr">
            <a:normAutofit/>
          </a:bodyPr>
          <a:lstStyle/>
          <a:p>
            <a:pPr algn="l" indent="0" marL="0">
              <a:buNone/>
            </a:pPr>
            <a:r>
              <a:rPr lang="en-US" sz="960" dirty="0">
                <a:solidFill>
                  <a:srgbClr val="20313F"/>
                </a:solidFill>
                <a:latin typeface="Arial" pitchFamily="34" charset="0"/>
                <a:ea typeface="Arial" pitchFamily="34" charset="-122"/>
                <a:cs typeface="Arial" pitchFamily="34" charset="-120"/>
              </a:rPr>
              <a:t>Target t + next scheduled period; no carry-forward</a:t>
            </a:r>
            <a:endParaRPr lang="en-US" sz="960" dirty="0"/>
          </a:p>
        </p:txBody>
      </p:sp>
      <p:sp>
        <p:nvSpPr>
          <p:cNvPr id="30" name="Text 28"/>
          <p:cNvSpPr/>
          <p:nvPr/>
        </p:nvSpPr>
        <p:spPr>
          <a:xfrm>
            <a:off x="8211312" y="3822192"/>
            <a:ext cx="150876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NEGATIVE / UNDEFINED</a:t>
            </a:r>
            <a:endParaRPr lang="en-US" sz="750" dirty="0"/>
          </a:p>
        </p:txBody>
      </p:sp>
      <p:sp>
        <p:nvSpPr>
          <p:cNvPr id="31" name="Text 29"/>
          <p:cNvSpPr/>
          <p:nvPr/>
        </p:nvSpPr>
        <p:spPr>
          <a:xfrm>
            <a:off x="8211312" y="4041648"/>
            <a:ext cx="3017520" cy="402336"/>
          </a:xfrm>
          <a:prstGeom prst="rect">
            <a:avLst/>
          </a:prstGeom>
          <a:noFill/>
          <a:ln/>
        </p:spPr>
        <p:txBody>
          <a:bodyPr wrap="square" lIns="0" tIns="0" rIns="0" bIns="0" rtlCol="0" anchor="ctr">
            <a:normAutofit/>
          </a:bodyPr>
          <a:lstStyle/>
          <a:p>
            <a:pPr algn="l" indent="0" marL="0">
              <a:buNone/>
            </a:pPr>
            <a:r>
              <a:rPr lang="en-US" sz="950" dirty="0">
                <a:solidFill>
                  <a:srgbClr val="20313F"/>
                </a:solidFill>
                <a:latin typeface="Arial" pitchFamily="34" charset="0"/>
                <a:ea typeface="Arial" pitchFamily="34" charset="-122"/>
                <a:cs typeface="Arial" pitchFamily="34" charset="-120"/>
              </a:rPr>
              <a:t>sqrt(max(s²,0)); finite negative raw moment stays defined</a:t>
            </a:r>
            <a:endParaRPr lang="en-US" sz="950" dirty="0"/>
          </a:p>
        </p:txBody>
      </p:sp>
      <p:sp>
        <p:nvSpPr>
          <p:cNvPr id="32" name="Shape 30"/>
          <p:cNvSpPr/>
          <p:nvPr/>
        </p:nvSpPr>
        <p:spPr>
          <a:xfrm>
            <a:off x="594360" y="4855464"/>
            <a:ext cx="10972800" cy="960120"/>
          </a:xfrm>
          <a:prstGeom prst="roundRect">
            <a:avLst>
              <a:gd name="adj" fmla="val 5714"/>
            </a:avLst>
          </a:prstGeom>
          <a:solidFill>
            <a:srgbClr val="FBFCFD"/>
          </a:solidFill>
          <a:ln w="12700">
            <a:solidFill>
              <a:srgbClr val="DDE4E8"/>
            </a:solidFill>
            <a:prstDash val="solid"/>
          </a:ln>
        </p:spPr>
      </p:sp>
      <p:sp>
        <p:nvSpPr>
          <p:cNvPr id="33" name="Text 31"/>
          <p:cNvSpPr/>
          <p:nvPr/>
        </p:nvSpPr>
        <p:spPr>
          <a:xfrm>
            <a:off x="758952" y="5029200"/>
            <a:ext cx="749808" cy="237744"/>
          </a:xfrm>
          <a:prstGeom prst="rect">
            <a:avLst/>
          </a:prstGeom>
          <a:noFill/>
          <a:ln/>
        </p:spPr>
        <p:txBody>
          <a:bodyPr wrap="square" lIns="0" tIns="0" rIns="0" bIns="0" rtlCol="0" anchor="ctr">
            <a:normAutofit/>
          </a:bodyPr>
          <a:lstStyle/>
          <a:p>
            <a:pPr algn="ctr" indent="0" marL="0">
              <a:buNone/>
            </a:pPr>
            <a:r>
              <a:rPr lang="en-US" sz="1300" b="1" dirty="0">
                <a:solidFill>
                  <a:srgbClr val="068A95"/>
                </a:solidFill>
                <a:latin typeface="Arial" pitchFamily="34" charset="0"/>
                <a:ea typeface="Arial" pitchFamily="34" charset="-122"/>
                <a:cs typeface="Arial" pitchFamily="34" charset="-120"/>
              </a:rPr>
              <a:t>EDGE</a:t>
            </a:r>
            <a:endParaRPr lang="en-US" sz="1300" dirty="0"/>
          </a:p>
        </p:txBody>
      </p:sp>
      <p:sp>
        <p:nvSpPr>
          <p:cNvPr id="34" name="Shape 32"/>
          <p:cNvSpPr/>
          <p:nvPr/>
        </p:nvSpPr>
        <p:spPr>
          <a:xfrm>
            <a:off x="1627632" y="5001768"/>
            <a:ext cx="0" cy="667512"/>
          </a:xfrm>
          <a:prstGeom prst="line">
            <a:avLst/>
          </a:prstGeom>
          <a:noFill/>
          <a:ln w="12700">
            <a:solidFill>
              <a:srgbClr val="D7DFE4"/>
            </a:solidFill>
            <a:prstDash val="solid"/>
          </a:ln>
        </p:spPr>
      </p:sp>
      <p:sp>
        <p:nvSpPr>
          <p:cNvPr id="35" name="Text 33"/>
          <p:cNvSpPr/>
          <p:nvPr/>
        </p:nvSpPr>
        <p:spPr>
          <a:xfrm>
            <a:off x="1810512" y="4965192"/>
            <a:ext cx="9144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CONCEPT</a:t>
            </a:r>
            <a:endParaRPr lang="en-US" sz="750" dirty="0"/>
          </a:p>
        </p:txBody>
      </p:sp>
      <p:sp>
        <p:nvSpPr>
          <p:cNvPr id="36" name="Text 34"/>
          <p:cNvSpPr/>
          <p:nvPr/>
        </p:nvSpPr>
        <p:spPr>
          <a:xfrm>
            <a:off x="1810512" y="5184648"/>
            <a:ext cx="2880360" cy="384048"/>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Minimum-variance combination of OHLC log moments</a:t>
            </a:r>
            <a:endParaRPr lang="en-US" sz="980" dirty="0"/>
          </a:p>
        </p:txBody>
      </p:sp>
      <p:sp>
        <p:nvSpPr>
          <p:cNvPr id="37" name="Text 35"/>
          <p:cNvSpPr/>
          <p:nvPr/>
        </p:nvSpPr>
        <p:spPr>
          <a:xfrm>
            <a:off x="4919472" y="4965192"/>
            <a:ext cx="118872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FROZEN MAPPING</a:t>
            </a:r>
            <a:endParaRPr lang="en-US" sz="750" dirty="0"/>
          </a:p>
        </p:txBody>
      </p:sp>
      <p:sp>
        <p:nvSpPr>
          <p:cNvPr id="38" name="Text 36"/>
          <p:cNvSpPr/>
          <p:nvPr/>
        </p:nvSpPr>
        <p:spPr>
          <a:xfrm>
            <a:off x="4919472" y="5184648"/>
            <a:ext cx="3035808" cy="402336"/>
          </a:xfrm>
          <a:prstGeom prst="rect">
            <a:avLst/>
          </a:prstGeom>
          <a:noFill/>
          <a:ln/>
        </p:spPr>
        <p:txBody>
          <a:bodyPr wrap="square" lIns="0" tIns="0" rIns="0" bIns="0" rtlCol="0" anchor="ctr">
            <a:normAutofit/>
          </a:bodyPr>
          <a:lstStyle/>
          <a:p>
            <a:pPr algn="l" indent="0" marL="0">
              <a:buNone/>
            </a:pPr>
            <a:r>
              <a:rPr lang="en-US" sz="960" dirty="0">
                <a:solidFill>
                  <a:srgbClr val="20313F"/>
                </a:solidFill>
                <a:latin typeface="Arial" pitchFamily="34" charset="0"/>
                <a:ea typeface="Arial" pitchFamily="34" charset="-122"/>
                <a:cs typeface="Arial" pitchFamily="34" charset="-120"/>
              </a:rPr>
              <a:t>Centered three scheduled sessions around target t</a:t>
            </a:r>
            <a:endParaRPr lang="en-US" sz="960" dirty="0"/>
          </a:p>
        </p:txBody>
      </p:sp>
      <p:sp>
        <p:nvSpPr>
          <p:cNvPr id="39" name="Text 37"/>
          <p:cNvSpPr/>
          <p:nvPr/>
        </p:nvSpPr>
        <p:spPr>
          <a:xfrm>
            <a:off x="8211312" y="4965192"/>
            <a:ext cx="150876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NEGATIVE / UNDEFINED</a:t>
            </a:r>
            <a:endParaRPr lang="en-US" sz="750" dirty="0"/>
          </a:p>
        </p:txBody>
      </p:sp>
      <p:sp>
        <p:nvSpPr>
          <p:cNvPr id="40" name="Text 38"/>
          <p:cNvSpPr/>
          <p:nvPr/>
        </p:nvSpPr>
        <p:spPr>
          <a:xfrm>
            <a:off x="8211312" y="5184648"/>
            <a:ext cx="3017520" cy="402336"/>
          </a:xfrm>
          <a:prstGeom prst="rect">
            <a:avLst/>
          </a:prstGeom>
          <a:noFill/>
          <a:ln/>
        </p:spPr>
        <p:txBody>
          <a:bodyPr wrap="square" lIns="0" tIns="0" rIns="0" bIns="0" rtlCol="0" anchor="ctr">
            <a:normAutofit/>
          </a:bodyPr>
          <a:lstStyle/>
          <a:p>
            <a:pPr algn="l" indent="0" marL="0">
              <a:buNone/>
            </a:pPr>
            <a:r>
              <a:rPr lang="en-US" sz="950" dirty="0">
                <a:solidFill>
                  <a:srgbClr val="20313F"/>
                </a:solidFill>
                <a:latin typeface="Arial" pitchFamily="34" charset="0"/>
                <a:ea typeface="Arial" pitchFamily="34" charset="-122"/>
                <a:cs typeface="Arial" pitchFamily="34" charset="-120"/>
              </a:rPr>
              <a:t>sqrt(max(raw s²,0)); abs-root is robustness only</a:t>
            </a:r>
            <a:endParaRPr lang="en-US" sz="950" dirty="0"/>
          </a:p>
        </p:txBody>
      </p:sp>
      <p:sp>
        <p:nvSpPr>
          <p:cNvPr id="41" name="Text 39"/>
          <p:cNvSpPr/>
          <p:nvPr/>
        </p:nvSpPr>
        <p:spPr>
          <a:xfrm>
            <a:off x="749808" y="6153912"/>
            <a:ext cx="10652760" cy="201168"/>
          </a:xfrm>
          <a:prstGeom prst="rect">
            <a:avLst/>
          </a:prstGeom>
          <a:noFill/>
          <a:ln/>
        </p:spPr>
        <p:txBody>
          <a:bodyPr wrap="square" lIns="0" tIns="0" rIns="0" bIns="0" rtlCol="0" anchor="ctr">
            <a:normAutofit/>
          </a:bodyPr>
          <a:lstStyle/>
          <a:p>
            <a:pPr algn="ctr" indent="0" marL="0">
              <a:buNone/>
            </a:pPr>
            <a:r>
              <a:rPr lang="en-US" sz="880" dirty="0">
                <a:solidFill>
                  <a:srgbClr val="6F7E89"/>
                </a:solidFill>
                <a:latin typeface="Arial" pitchFamily="34" charset="0"/>
                <a:ea typeface="Arial" pitchFamily="34" charset="-122"/>
                <a:cs typeface="Arial" pitchFamily="34" charset="-120"/>
              </a:rPr>
              <a:t>No missing-minute filling, gap bridging, carry-forward or compressed missing sessions. Roll computability is not a precision guarantee.</a:t>
            </a:r>
            <a:endParaRPr lang="en-US" sz="88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A4</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Class × liquidity accuracy</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MAE / RMSE in bps · identical common-defined rows within each class × tier cell</a:t>
            </a:r>
            <a:endParaRPr lang="en-US" sz="1070" dirty="0"/>
          </a:p>
        </p:txBody>
      </p:sp>
      <p:sp>
        <p:nvSpPr>
          <p:cNvPr id="5" name="Shape 3"/>
          <p:cNvSpPr/>
          <p:nvPr/>
        </p:nvSpPr>
        <p:spPr>
          <a:xfrm>
            <a:off x="758952" y="1417320"/>
            <a:ext cx="1188720" cy="384048"/>
          </a:xfrm>
          <a:prstGeom prst="rect">
            <a:avLst/>
          </a:prstGeom>
          <a:solidFill>
            <a:srgbClr val="0B2A45"/>
          </a:solidFill>
          <a:ln w="7620">
            <a:solidFill>
              <a:srgbClr val="FFFFFF"/>
            </a:solidFill>
            <a:prstDash val="solid"/>
          </a:ln>
        </p:spPr>
      </p:sp>
      <p:sp>
        <p:nvSpPr>
          <p:cNvPr id="6" name="Text 4"/>
          <p:cNvSpPr/>
          <p:nvPr/>
        </p:nvSpPr>
        <p:spPr>
          <a:xfrm>
            <a:off x="795528" y="1499616"/>
            <a:ext cx="1115568" cy="18288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Class</a:t>
            </a:r>
            <a:endParaRPr lang="en-US" sz="920" dirty="0"/>
          </a:p>
        </p:txBody>
      </p:sp>
      <p:sp>
        <p:nvSpPr>
          <p:cNvPr id="7" name="Shape 5"/>
          <p:cNvSpPr/>
          <p:nvPr/>
        </p:nvSpPr>
        <p:spPr>
          <a:xfrm>
            <a:off x="1947672" y="1417320"/>
            <a:ext cx="1051560" cy="384048"/>
          </a:xfrm>
          <a:prstGeom prst="rect">
            <a:avLst/>
          </a:prstGeom>
          <a:solidFill>
            <a:srgbClr val="0B2A45"/>
          </a:solidFill>
          <a:ln w="7620">
            <a:solidFill>
              <a:srgbClr val="FFFFFF"/>
            </a:solidFill>
            <a:prstDash val="solid"/>
          </a:ln>
        </p:spPr>
      </p:sp>
      <p:sp>
        <p:nvSpPr>
          <p:cNvPr id="8" name="Text 6"/>
          <p:cNvSpPr/>
          <p:nvPr/>
        </p:nvSpPr>
        <p:spPr>
          <a:xfrm>
            <a:off x="1984248" y="1499616"/>
            <a:ext cx="978408" cy="18288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Tier</a:t>
            </a:r>
            <a:endParaRPr lang="en-US" sz="920" dirty="0"/>
          </a:p>
        </p:txBody>
      </p:sp>
      <p:sp>
        <p:nvSpPr>
          <p:cNvPr id="9" name="Shape 7"/>
          <p:cNvSpPr/>
          <p:nvPr/>
        </p:nvSpPr>
        <p:spPr>
          <a:xfrm>
            <a:off x="2999232" y="1417320"/>
            <a:ext cx="2240280" cy="384048"/>
          </a:xfrm>
          <a:prstGeom prst="rect">
            <a:avLst/>
          </a:prstGeom>
          <a:solidFill>
            <a:srgbClr val="0B2A45"/>
          </a:solidFill>
          <a:ln w="7620">
            <a:solidFill>
              <a:srgbClr val="FFFFFF"/>
            </a:solidFill>
            <a:prstDash val="solid"/>
          </a:ln>
        </p:spPr>
      </p:sp>
      <p:sp>
        <p:nvSpPr>
          <p:cNvPr id="10" name="Text 8"/>
          <p:cNvSpPr/>
          <p:nvPr/>
        </p:nvSpPr>
        <p:spPr>
          <a:xfrm>
            <a:off x="3035808" y="1499616"/>
            <a:ext cx="2167128" cy="18288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CS</a:t>
            </a:r>
            <a:endParaRPr lang="en-US" sz="920" dirty="0"/>
          </a:p>
        </p:txBody>
      </p:sp>
      <p:sp>
        <p:nvSpPr>
          <p:cNvPr id="11" name="Shape 9"/>
          <p:cNvSpPr/>
          <p:nvPr/>
        </p:nvSpPr>
        <p:spPr>
          <a:xfrm>
            <a:off x="5239512" y="1417320"/>
            <a:ext cx="2240280" cy="384048"/>
          </a:xfrm>
          <a:prstGeom prst="rect">
            <a:avLst/>
          </a:prstGeom>
          <a:solidFill>
            <a:srgbClr val="0B2A45"/>
          </a:solidFill>
          <a:ln w="7620">
            <a:solidFill>
              <a:srgbClr val="FFFFFF"/>
            </a:solidFill>
            <a:prstDash val="solid"/>
          </a:ln>
        </p:spPr>
      </p:sp>
      <p:sp>
        <p:nvSpPr>
          <p:cNvPr id="12" name="Text 10"/>
          <p:cNvSpPr/>
          <p:nvPr/>
        </p:nvSpPr>
        <p:spPr>
          <a:xfrm>
            <a:off x="5276088" y="1499616"/>
            <a:ext cx="2167128" cy="18288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AR</a:t>
            </a:r>
            <a:endParaRPr lang="en-US" sz="920" dirty="0"/>
          </a:p>
        </p:txBody>
      </p:sp>
      <p:sp>
        <p:nvSpPr>
          <p:cNvPr id="13" name="Shape 11"/>
          <p:cNvSpPr/>
          <p:nvPr/>
        </p:nvSpPr>
        <p:spPr>
          <a:xfrm>
            <a:off x="7479792" y="1417320"/>
            <a:ext cx="2240280" cy="384048"/>
          </a:xfrm>
          <a:prstGeom prst="rect">
            <a:avLst/>
          </a:prstGeom>
          <a:solidFill>
            <a:srgbClr val="0B2A45"/>
          </a:solidFill>
          <a:ln w="7620">
            <a:solidFill>
              <a:srgbClr val="FFFFFF"/>
            </a:solidFill>
            <a:prstDash val="solid"/>
          </a:ln>
        </p:spPr>
      </p:sp>
      <p:sp>
        <p:nvSpPr>
          <p:cNvPr id="14" name="Text 12"/>
          <p:cNvSpPr/>
          <p:nvPr/>
        </p:nvSpPr>
        <p:spPr>
          <a:xfrm>
            <a:off x="7516368" y="1499616"/>
            <a:ext cx="2167128" cy="18288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EDGE</a:t>
            </a:r>
            <a:endParaRPr lang="en-US" sz="920" dirty="0"/>
          </a:p>
        </p:txBody>
      </p:sp>
      <p:sp>
        <p:nvSpPr>
          <p:cNvPr id="15" name="Shape 13"/>
          <p:cNvSpPr/>
          <p:nvPr/>
        </p:nvSpPr>
        <p:spPr>
          <a:xfrm>
            <a:off x="9720072" y="1417320"/>
            <a:ext cx="1005840" cy="384048"/>
          </a:xfrm>
          <a:prstGeom prst="rect">
            <a:avLst/>
          </a:prstGeom>
          <a:solidFill>
            <a:srgbClr val="0B2A45"/>
          </a:solidFill>
          <a:ln w="7620">
            <a:solidFill>
              <a:srgbClr val="FFFFFF"/>
            </a:solidFill>
            <a:prstDash val="solid"/>
          </a:ln>
        </p:spPr>
      </p:sp>
      <p:sp>
        <p:nvSpPr>
          <p:cNvPr id="16" name="Text 14"/>
          <p:cNvSpPr/>
          <p:nvPr/>
        </p:nvSpPr>
        <p:spPr>
          <a:xfrm>
            <a:off x="9756648" y="1499616"/>
            <a:ext cx="932688" cy="18288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N</a:t>
            </a:r>
            <a:endParaRPr lang="en-US" sz="920" dirty="0"/>
          </a:p>
        </p:txBody>
      </p:sp>
      <p:sp>
        <p:nvSpPr>
          <p:cNvPr id="17" name="Shape 15"/>
          <p:cNvSpPr/>
          <p:nvPr/>
        </p:nvSpPr>
        <p:spPr>
          <a:xfrm>
            <a:off x="758952" y="1801368"/>
            <a:ext cx="1188720" cy="365760"/>
          </a:xfrm>
          <a:prstGeom prst="rect">
            <a:avLst/>
          </a:prstGeom>
          <a:solidFill>
            <a:srgbClr val="F2F5F7"/>
          </a:solidFill>
          <a:ln w="5715">
            <a:solidFill>
              <a:srgbClr val="DDE4E8"/>
            </a:solidFill>
            <a:prstDash val="solid"/>
          </a:ln>
        </p:spPr>
      </p:sp>
      <p:sp>
        <p:nvSpPr>
          <p:cNvPr id="18" name="Text 16"/>
          <p:cNvSpPr/>
          <p:nvPr/>
        </p:nvSpPr>
        <p:spPr>
          <a:xfrm>
            <a:off x="786384" y="186994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Crypto</a:t>
            </a:r>
            <a:endParaRPr lang="en-US" sz="880" dirty="0"/>
          </a:p>
        </p:txBody>
      </p:sp>
      <p:sp>
        <p:nvSpPr>
          <p:cNvPr id="19" name="Shape 17"/>
          <p:cNvSpPr/>
          <p:nvPr/>
        </p:nvSpPr>
        <p:spPr>
          <a:xfrm>
            <a:off x="1947672" y="1801368"/>
            <a:ext cx="1051560" cy="365760"/>
          </a:xfrm>
          <a:prstGeom prst="rect">
            <a:avLst/>
          </a:prstGeom>
          <a:solidFill>
            <a:srgbClr val="F2F5F7"/>
          </a:solidFill>
          <a:ln w="5715">
            <a:solidFill>
              <a:srgbClr val="DDE4E8"/>
            </a:solidFill>
            <a:prstDash val="solid"/>
          </a:ln>
        </p:spPr>
      </p:sp>
      <p:sp>
        <p:nvSpPr>
          <p:cNvPr id="20" name="Text 18"/>
          <p:cNvSpPr/>
          <p:nvPr/>
        </p:nvSpPr>
        <p:spPr>
          <a:xfrm>
            <a:off x="1975104" y="186994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HIGH</a:t>
            </a:r>
            <a:endParaRPr lang="en-US" sz="880" dirty="0"/>
          </a:p>
        </p:txBody>
      </p:sp>
      <p:sp>
        <p:nvSpPr>
          <p:cNvPr id="21" name="Shape 19"/>
          <p:cNvSpPr/>
          <p:nvPr/>
        </p:nvSpPr>
        <p:spPr>
          <a:xfrm>
            <a:off x="2999232" y="1801368"/>
            <a:ext cx="2240280" cy="365760"/>
          </a:xfrm>
          <a:prstGeom prst="rect">
            <a:avLst/>
          </a:prstGeom>
          <a:solidFill>
            <a:srgbClr val="F2F5F7"/>
          </a:solidFill>
          <a:ln w="5715">
            <a:solidFill>
              <a:srgbClr val="DDE4E8"/>
            </a:solidFill>
            <a:prstDash val="solid"/>
          </a:ln>
        </p:spPr>
      </p:sp>
      <p:sp>
        <p:nvSpPr>
          <p:cNvPr id="22" name="Text 20"/>
          <p:cNvSpPr/>
          <p:nvPr/>
        </p:nvSpPr>
        <p:spPr>
          <a:xfrm>
            <a:off x="3026664" y="18699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178.02 / 241.95</a:t>
            </a:r>
            <a:endParaRPr lang="en-US" sz="860" dirty="0"/>
          </a:p>
        </p:txBody>
      </p:sp>
      <p:sp>
        <p:nvSpPr>
          <p:cNvPr id="23" name="Shape 21"/>
          <p:cNvSpPr/>
          <p:nvPr/>
        </p:nvSpPr>
        <p:spPr>
          <a:xfrm>
            <a:off x="5239512" y="1801368"/>
            <a:ext cx="2240280" cy="365760"/>
          </a:xfrm>
          <a:prstGeom prst="rect">
            <a:avLst/>
          </a:prstGeom>
          <a:solidFill>
            <a:srgbClr val="F2F5F7"/>
          </a:solidFill>
          <a:ln w="5715">
            <a:solidFill>
              <a:srgbClr val="DDE4E8"/>
            </a:solidFill>
            <a:prstDash val="solid"/>
          </a:ln>
        </p:spPr>
      </p:sp>
      <p:sp>
        <p:nvSpPr>
          <p:cNvPr id="24" name="Text 22"/>
          <p:cNvSpPr/>
          <p:nvPr/>
        </p:nvSpPr>
        <p:spPr>
          <a:xfrm>
            <a:off x="5266944" y="18699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161.05 / 289.90</a:t>
            </a:r>
            <a:endParaRPr lang="en-US" sz="860" dirty="0"/>
          </a:p>
        </p:txBody>
      </p:sp>
      <p:sp>
        <p:nvSpPr>
          <p:cNvPr id="25" name="Shape 23"/>
          <p:cNvSpPr/>
          <p:nvPr/>
        </p:nvSpPr>
        <p:spPr>
          <a:xfrm>
            <a:off x="7479792" y="1801368"/>
            <a:ext cx="2240280" cy="365760"/>
          </a:xfrm>
          <a:prstGeom prst="rect">
            <a:avLst/>
          </a:prstGeom>
          <a:solidFill>
            <a:srgbClr val="EEF8F8"/>
          </a:solidFill>
          <a:ln w="5715">
            <a:solidFill>
              <a:srgbClr val="DDE4E8"/>
            </a:solidFill>
            <a:prstDash val="solid"/>
          </a:ln>
        </p:spPr>
      </p:sp>
      <p:sp>
        <p:nvSpPr>
          <p:cNvPr id="26" name="Text 24"/>
          <p:cNvSpPr/>
          <p:nvPr/>
        </p:nvSpPr>
        <p:spPr>
          <a:xfrm>
            <a:off x="7507224" y="18699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21.64 / 45.60</a:t>
            </a:r>
            <a:endParaRPr lang="en-US" sz="860" dirty="0"/>
          </a:p>
        </p:txBody>
      </p:sp>
      <p:sp>
        <p:nvSpPr>
          <p:cNvPr id="27" name="Shape 25"/>
          <p:cNvSpPr/>
          <p:nvPr/>
        </p:nvSpPr>
        <p:spPr>
          <a:xfrm>
            <a:off x="9720072" y="1801368"/>
            <a:ext cx="1005840" cy="365760"/>
          </a:xfrm>
          <a:prstGeom prst="rect">
            <a:avLst/>
          </a:prstGeom>
          <a:solidFill>
            <a:srgbClr val="F2F5F7"/>
          </a:solidFill>
          <a:ln w="5715">
            <a:solidFill>
              <a:srgbClr val="DDE4E8"/>
            </a:solidFill>
            <a:prstDash val="solid"/>
          </a:ln>
        </p:spPr>
      </p:sp>
      <p:sp>
        <p:nvSpPr>
          <p:cNvPr id="28" name="Text 26"/>
          <p:cNvSpPr/>
          <p:nvPr/>
        </p:nvSpPr>
        <p:spPr>
          <a:xfrm>
            <a:off x="9747504" y="186994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3,710</a:t>
            </a:r>
            <a:endParaRPr lang="en-US" sz="860" dirty="0"/>
          </a:p>
        </p:txBody>
      </p:sp>
      <p:sp>
        <p:nvSpPr>
          <p:cNvPr id="29" name="Shape 27"/>
          <p:cNvSpPr/>
          <p:nvPr/>
        </p:nvSpPr>
        <p:spPr>
          <a:xfrm>
            <a:off x="758952" y="2167128"/>
            <a:ext cx="1188720" cy="365760"/>
          </a:xfrm>
          <a:prstGeom prst="rect">
            <a:avLst/>
          </a:prstGeom>
          <a:solidFill>
            <a:srgbClr val="FBFCFD"/>
          </a:solidFill>
          <a:ln w="5715">
            <a:solidFill>
              <a:srgbClr val="DDE4E8"/>
            </a:solidFill>
            <a:prstDash val="solid"/>
          </a:ln>
        </p:spPr>
      </p:sp>
      <p:sp>
        <p:nvSpPr>
          <p:cNvPr id="30" name="Text 28"/>
          <p:cNvSpPr/>
          <p:nvPr/>
        </p:nvSpPr>
        <p:spPr>
          <a:xfrm>
            <a:off x="786384" y="223570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Crypto</a:t>
            </a:r>
            <a:endParaRPr lang="en-US" sz="880" dirty="0"/>
          </a:p>
        </p:txBody>
      </p:sp>
      <p:sp>
        <p:nvSpPr>
          <p:cNvPr id="31" name="Shape 29"/>
          <p:cNvSpPr/>
          <p:nvPr/>
        </p:nvSpPr>
        <p:spPr>
          <a:xfrm>
            <a:off x="1947672" y="2167128"/>
            <a:ext cx="1051560" cy="365760"/>
          </a:xfrm>
          <a:prstGeom prst="rect">
            <a:avLst/>
          </a:prstGeom>
          <a:solidFill>
            <a:srgbClr val="FBFCFD"/>
          </a:solidFill>
          <a:ln w="5715">
            <a:solidFill>
              <a:srgbClr val="DDE4E8"/>
            </a:solidFill>
            <a:prstDash val="solid"/>
          </a:ln>
        </p:spPr>
      </p:sp>
      <p:sp>
        <p:nvSpPr>
          <p:cNvPr id="32" name="Text 30"/>
          <p:cNvSpPr/>
          <p:nvPr/>
        </p:nvSpPr>
        <p:spPr>
          <a:xfrm>
            <a:off x="1975104" y="223570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LOW</a:t>
            </a:r>
            <a:endParaRPr lang="en-US" sz="880" dirty="0"/>
          </a:p>
        </p:txBody>
      </p:sp>
      <p:sp>
        <p:nvSpPr>
          <p:cNvPr id="33" name="Shape 31"/>
          <p:cNvSpPr/>
          <p:nvPr/>
        </p:nvSpPr>
        <p:spPr>
          <a:xfrm>
            <a:off x="2999232" y="2167128"/>
            <a:ext cx="2240280" cy="365760"/>
          </a:xfrm>
          <a:prstGeom prst="rect">
            <a:avLst/>
          </a:prstGeom>
          <a:solidFill>
            <a:srgbClr val="FBFCFD"/>
          </a:solidFill>
          <a:ln w="5715">
            <a:solidFill>
              <a:srgbClr val="DDE4E8"/>
            </a:solidFill>
            <a:prstDash val="solid"/>
          </a:ln>
        </p:spPr>
      </p:sp>
      <p:sp>
        <p:nvSpPr>
          <p:cNvPr id="34" name="Text 32"/>
          <p:cNvSpPr/>
          <p:nvPr/>
        </p:nvSpPr>
        <p:spPr>
          <a:xfrm>
            <a:off x="3026664" y="22357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165.49 / 246.00</a:t>
            </a:r>
            <a:endParaRPr lang="en-US" sz="860" dirty="0"/>
          </a:p>
        </p:txBody>
      </p:sp>
      <p:sp>
        <p:nvSpPr>
          <p:cNvPr id="35" name="Shape 33"/>
          <p:cNvSpPr/>
          <p:nvPr/>
        </p:nvSpPr>
        <p:spPr>
          <a:xfrm>
            <a:off x="5239512" y="2167128"/>
            <a:ext cx="2240280" cy="365760"/>
          </a:xfrm>
          <a:prstGeom prst="rect">
            <a:avLst/>
          </a:prstGeom>
          <a:solidFill>
            <a:srgbClr val="FBFCFD"/>
          </a:solidFill>
          <a:ln w="5715">
            <a:solidFill>
              <a:srgbClr val="DDE4E8"/>
            </a:solidFill>
            <a:prstDash val="solid"/>
          </a:ln>
        </p:spPr>
      </p:sp>
      <p:sp>
        <p:nvSpPr>
          <p:cNvPr id="36" name="Text 34"/>
          <p:cNvSpPr/>
          <p:nvPr/>
        </p:nvSpPr>
        <p:spPr>
          <a:xfrm>
            <a:off x="5266944" y="22357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167.39 / 283.95</a:t>
            </a:r>
            <a:endParaRPr lang="en-US" sz="860" dirty="0"/>
          </a:p>
        </p:txBody>
      </p:sp>
      <p:sp>
        <p:nvSpPr>
          <p:cNvPr id="37" name="Shape 35"/>
          <p:cNvSpPr/>
          <p:nvPr/>
        </p:nvSpPr>
        <p:spPr>
          <a:xfrm>
            <a:off x="7479792" y="2167128"/>
            <a:ext cx="2240280" cy="365760"/>
          </a:xfrm>
          <a:prstGeom prst="rect">
            <a:avLst/>
          </a:prstGeom>
          <a:solidFill>
            <a:srgbClr val="EEF8F8"/>
          </a:solidFill>
          <a:ln w="5715">
            <a:solidFill>
              <a:srgbClr val="DDE4E8"/>
            </a:solidFill>
            <a:prstDash val="solid"/>
          </a:ln>
        </p:spPr>
      </p:sp>
      <p:sp>
        <p:nvSpPr>
          <p:cNvPr id="38" name="Text 36"/>
          <p:cNvSpPr/>
          <p:nvPr/>
        </p:nvSpPr>
        <p:spPr>
          <a:xfrm>
            <a:off x="7507224" y="22357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65.41 / 128.56</a:t>
            </a:r>
            <a:endParaRPr lang="en-US" sz="860" dirty="0"/>
          </a:p>
        </p:txBody>
      </p:sp>
      <p:sp>
        <p:nvSpPr>
          <p:cNvPr id="39" name="Shape 37"/>
          <p:cNvSpPr/>
          <p:nvPr/>
        </p:nvSpPr>
        <p:spPr>
          <a:xfrm>
            <a:off x="9720072" y="2167128"/>
            <a:ext cx="1005840" cy="365760"/>
          </a:xfrm>
          <a:prstGeom prst="rect">
            <a:avLst/>
          </a:prstGeom>
          <a:solidFill>
            <a:srgbClr val="FBFCFD"/>
          </a:solidFill>
          <a:ln w="5715">
            <a:solidFill>
              <a:srgbClr val="DDE4E8"/>
            </a:solidFill>
            <a:prstDash val="solid"/>
          </a:ln>
        </p:spPr>
      </p:sp>
      <p:sp>
        <p:nvSpPr>
          <p:cNvPr id="40" name="Text 38"/>
          <p:cNvSpPr/>
          <p:nvPr/>
        </p:nvSpPr>
        <p:spPr>
          <a:xfrm>
            <a:off x="9747504" y="223570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2,292</a:t>
            </a:r>
            <a:endParaRPr lang="en-US" sz="860" dirty="0"/>
          </a:p>
        </p:txBody>
      </p:sp>
      <p:sp>
        <p:nvSpPr>
          <p:cNvPr id="41" name="Shape 39"/>
          <p:cNvSpPr/>
          <p:nvPr/>
        </p:nvSpPr>
        <p:spPr>
          <a:xfrm>
            <a:off x="758952" y="2532888"/>
            <a:ext cx="1188720" cy="365760"/>
          </a:xfrm>
          <a:prstGeom prst="rect">
            <a:avLst/>
          </a:prstGeom>
          <a:solidFill>
            <a:srgbClr val="F2F5F7"/>
          </a:solidFill>
          <a:ln w="5715">
            <a:solidFill>
              <a:srgbClr val="DDE4E8"/>
            </a:solidFill>
            <a:prstDash val="solid"/>
          </a:ln>
        </p:spPr>
      </p:sp>
      <p:sp>
        <p:nvSpPr>
          <p:cNvPr id="42" name="Text 40"/>
          <p:cNvSpPr/>
          <p:nvPr/>
        </p:nvSpPr>
        <p:spPr>
          <a:xfrm>
            <a:off x="786384" y="260146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Crypto</a:t>
            </a:r>
            <a:endParaRPr lang="en-US" sz="880" dirty="0"/>
          </a:p>
        </p:txBody>
      </p:sp>
      <p:sp>
        <p:nvSpPr>
          <p:cNvPr id="43" name="Shape 41"/>
          <p:cNvSpPr/>
          <p:nvPr/>
        </p:nvSpPr>
        <p:spPr>
          <a:xfrm>
            <a:off x="1947672" y="2532888"/>
            <a:ext cx="1051560" cy="365760"/>
          </a:xfrm>
          <a:prstGeom prst="rect">
            <a:avLst/>
          </a:prstGeom>
          <a:solidFill>
            <a:srgbClr val="F2F5F7"/>
          </a:solidFill>
          <a:ln w="5715">
            <a:solidFill>
              <a:srgbClr val="DDE4E8"/>
            </a:solidFill>
            <a:prstDash val="solid"/>
          </a:ln>
        </p:spPr>
      </p:sp>
      <p:sp>
        <p:nvSpPr>
          <p:cNvPr id="44" name="Text 42"/>
          <p:cNvSpPr/>
          <p:nvPr/>
        </p:nvSpPr>
        <p:spPr>
          <a:xfrm>
            <a:off x="1975104" y="260146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MEDIUM</a:t>
            </a:r>
            <a:endParaRPr lang="en-US" sz="880" dirty="0"/>
          </a:p>
        </p:txBody>
      </p:sp>
      <p:sp>
        <p:nvSpPr>
          <p:cNvPr id="45" name="Shape 43"/>
          <p:cNvSpPr/>
          <p:nvPr/>
        </p:nvSpPr>
        <p:spPr>
          <a:xfrm>
            <a:off x="2999232" y="2532888"/>
            <a:ext cx="2240280" cy="365760"/>
          </a:xfrm>
          <a:prstGeom prst="rect">
            <a:avLst/>
          </a:prstGeom>
          <a:solidFill>
            <a:srgbClr val="F2F5F7"/>
          </a:solidFill>
          <a:ln w="5715">
            <a:solidFill>
              <a:srgbClr val="DDE4E8"/>
            </a:solidFill>
            <a:prstDash val="solid"/>
          </a:ln>
        </p:spPr>
      </p:sp>
      <p:sp>
        <p:nvSpPr>
          <p:cNvPr id="46" name="Text 44"/>
          <p:cNvSpPr/>
          <p:nvPr/>
        </p:nvSpPr>
        <p:spPr>
          <a:xfrm>
            <a:off x="3026664" y="260146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205.03 / 304.11</a:t>
            </a:r>
            <a:endParaRPr lang="en-US" sz="860" dirty="0"/>
          </a:p>
        </p:txBody>
      </p:sp>
      <p:sp>
        <p:nvSpPr>
          <p:cNvPr id="47" name="Shape 45"/>
          <p:cNvSpPr/>
          <p:nvPr/>
        </p:nvSpPr>
        <p:spPr>
          <a:xfrm>
            <a:off x="5239512" y="2532888"/>
            <a:ext cx="2240280" cy="365760"/>
          </a:xfrm>
          <a:prstGeom prst="rect">
            <a:avLst/>
          </a:prstGeom>
          <a:solidFill>
            <a:srgbClr val="F2F5F7"/>
          </a:solidFill>
          <a:ln w="5715">
            <a:solidFill>
              <a:srgbClr val="DDE4E8"/>
            </a:solidFill>
            <a:prstDash val="solid"/>
          </a:ln>
        </p:spPr>
      </p:sp>
      <p:sp>
        <p:nvSpPr>
          <p:cNvPr id="48" name="Text 46"/>
          <p:cNvSpPr/>
          <p:nvPr/>
        </p:nvSpPr>
        <p:spPr>
          <a:xfrm>
            <a:off x="5266944" y="260146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184.72 / 334.72</a:t>
            </a:r>
            <a:endParaRPr lang="en-US" sz="860" dirty="0"/>
          </a:p>
        </p:txBody>
      </p:sp>
      <p:sp>
        <p:nvSpPr>
          <p:cNvPr id="49" name="Shape 47"/>
          <p:cNvSpPr/>
          <p:nvPr/>
        </p:nvSpPr>
        <p:spPr>
          <a:xfrm>
            <a:off x="7479792" y="2532888"/>
            <a:ext cx="2240280" cy="365760"/>
          </a:xfrm>
          <a:prstGeom prst="rect">
            <a:avLst/>
          </a:prstGeom>
          <a:solidFill>
            <a:srgbClr val="EEF8F8"/>
          </a:solidFill>
          <a:ln w="5715">
            <a:solidFill>
              <a:srgbClr val="DDE4E8"/>
            </a:solidFill>
            <a:prstDash val="solid"/>
          </a:ln>
        </p:spPr>
      </p:sp>
      <p:sp>
        <p:nvSpPr>
          <p:cNvPr id="50" name="Text 48"/>
          <p:cNvSpPr/>
          <p:nvPr/>
        </p:nvSpPr>
        <p:spPr>
          <a:xfrm>
            <a:off x="7507224" y="260146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39.71 / 80.10</a:t>
            </a:r>
            <a:endParaRPr lang="en-US" sz="860" dirty="0"/>
          </a:p>
        </p:txBody>
      </p:sp>
      <p:sp>
        <p:nvSpPr>
          <p:cNvPr id="51" name="Shape 49"/>
          <p:cNvSpPr/>
          <p:nvPr/>
        </p:nvSpPr>
        <p:spPr>
          <a:xfrm>
            <a:off x="9720072" y="2532888"/>
            <a:ext cx="1005840" cy="365760"/>
          </a:xfrm>
          <a:prstGeom prst="rect">
            <a:avLst/>
          </a:prstGeom>
          <a:solidFill>
            <a:srgbClr val="F2F5F7"/>
          </a:solidFill>
          <a:ln w="5715">
            <a:solidFill>
              <a:srgbClr val="DDE4E8"/>
            </a:solidFill>
            <a:prstDash val="solid"/>
          </a:ln>
        </p:spPr>
      </p:sp>
      <p:sp>
        <p:nvSpPr>
          <p:cNvPr id="52" name="Text 50"/>
          <p:cNvSpPr/>
          <p:nvPr/>
        </p:nvSpPr>
        <p:spPr>
          <a:xfrm>
            <a:off x="9747504" y="260146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3,826</a:t>
            </a:r>
            <a:endParaRPr lang="en-US" sz="860" dirty="0"/>
          </a:p>
        </p:txBody>
      </p:sp>
      <p:sp>
        <p:nvSpPr>
          <p:cNvPr id="53" name="Shape 51"/>
          <p:cNvSpPr/>
          <p:nvPr/>
        </p:nvSpPr>
        <p:spPr>
          <a:xfrm>
            <a:off x="758952" y="2898648"/>
            <a:ext cx="1188720" cy="365760"/>
          </a:xfrm>
          <a:prstGeom prst="rect">
            <a:avLst/>
          </a:prstGeom>
          <a:solidFill>
            <a:srgbClr val="FBFCFD"/>
          </a:solidFill>
          <a:ln w="5715">
            <a:solidFill>
              <a:srgbClr val="DDE4E8"/>
            </a:solidFill>
            <a:prstDash val="solid"/>
          </a:ln>
        </p:spPr>
      </p:sp>
      <p:sp>
        <p:nvSpPr>
          <p:cNvPr id="54" name="Text 52"/>
          <p:cNvSpPr/>
          <p:nvPr/>
        </p:nvSpPr>
        <p:spPr>
          <a:xfrm>
            <a:off x="786384" y="296722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ETFs</a:t>
            </a:r>
            <a:endParaRPr lang="en-US" sz="880" dirty="0"/>
          </a:p>
        </p:txBody>
      </p:sp>
      <p:sp>
        <p:nvSpPr>
          <p:cNvPr id="55" name="Shape 53"/>
          <p:cNvSpPr/>
          <p:nvPr/>
        </p:nvSpPr>
        <p:spPr>
          <a:xfrm>
            <a:off x="1947672" y="2898648"/>
            <a:ext cx="1051560" cy="365760"/>
          </a:xfrm>
          <a:prstGeom prst="rect">
            <a:avLst/>
          </a:prstGeom>
          <a:solidFill>
            <a:srgbClr val="FBFCFD"/>
          </a:solidFill>
          <a:ln w="5715">
            <a:solidFill>
              <a:srgbClr val="DDE4E8"/>
            </a:solidFill>
            <a:prstDash val="solid"/>
          </a:ln>
        </p:spPr>
      </p:sp>
      <p:sp>
        <p:nvSpPr>
          <p:cNvPr id="56" name="Text 54"/>
          <p:cNvSpPr/>
          <p:nvPr/>
        </p:nvSpPr>
        <p:spPr>
          <a:xfrm>
            <a:off x="1975104" y="296722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HIGH</a:t>
            </a:r>
            <a:endParaRPr lang="en-US" sz="880" dirty="0"/>
          </a:p>
        </p:txBody>
      </p:sp>
      <p:sp>
        <p:nvSpPr>
          <p:cNvPr id="57" name="Shape 55"/>
          <p:cNvSpPr/>
          <p:nvPr/>
        </p:nvSpPr>
        <p:spPr>
          <a:xfrm>
            <a:off x="2999232" y="2898648"/>
            <a:ext cx="2240280" cy="365760"/>
          </a:xfrm>
          <a:prstGeom prst="rect">
            <a:avLst/>
          </a:prstGeom>
          <a:solidFill>
            <a:srgbClr val="FBFCFD"/>
          </a:solidFill>
          <a:ln w="5715">
            <a:solidFill>
              <a:srgbClr val="DDE4E8"/>
            </a:solidFill>
            <a:prstDash val="solid"/>
          </a:ln>
        </p:spPr>
      </p:sp>
      <p:sp>
        <p:nvSpPr>
          <p:cNvPr id="58" name="Text 56"/>
          <p:cNvSpPr/>
          <p:nvPr/>
        </p:nvSpPr>
        <p:spPr>
          <a:xfrm>
            <a:off x="3026664" y="296722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20.61 / 36.51</a:t>
            </a:r>
            <a:endParaRPr lang="en-US" sz="860" dirty="0"/>
          </a:p>
        </p:txBody>
      </p:sp>
      <p:sp>
        <p:nvSpPr>
          <p:cNvPr id="59" name="Shape 57"/>
          <p:cNvSpPr/>
          <p:nvPr/>
        </p:nvSpPr>
        <p:spPr>
          <a:xfrm>
            <a:off x="5239512" y="2898648"/>
            <a:ext cx="2240280" cy="365760"/>
          </a:xfrm>
          <a:prstGeom prst="rect">
            <a:avLst/>
          </a:prstGeom>
          <a:solidFill>
            <a:srgbClr val="FBFCFD"/>
          </a:solidFill>
          <a:ln w="5715">
            <a:solidFill>
              <a:srgbClr val="DDE4E8"/>
            </a:solidFill>
            <a:prstDash val="solid"/>
          </a:ln>
        </p:spPr>
      </p:sp>
      <p:sp>
        <p:nvSpPr>
          <p:cNvPr id="60" name="Text 58"/>
          <p:cNvSpPr/>
          <p:nvPr/>
        </p:nvSpPr>
        <p:spPr>
          <a:xfrm>
            <a:off x="5266944" y="296722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34.63 / 68.24</a:t>
            </a:r>
            <a:endParaRPr lang="en-US" sz="860" dirty="0"/>
          </a:p>
        </p:txBody>
      </p:sp>
      <p:sp>
        <p:nvSpPr>
          <p:cNvPr id="61" name="Shape 59"/>
          <p:cNvSpPr/>
          <p:nvPr/>
        </p:nvSpPr>
        <p:spPr>
          <a:xfrm>
            <a:off x="7479792" y="2898648"/>
            <a:ext cx="2240280" cy="365760"/>
          </a:xfrm>
          <a:prstGeom prst="rect">
            <a:avLst/>
          </a:prstGeom>
          <a:solidFill>
            <a:srgbClr val="EEF8F8"/>
          </a:solidFill>
          <a:ln w="5715">
            <a:solidFill>
              <a:srgbClr val="DDE4E8"/>
            </a:solidFill>
            <a:prstDash val="solid"/>
          </a:ln>
        </p:spPr>
      </p:sp>
      <p:sp>
        <p:nvSpPr>
          <p:cNvPr id="62" name="Text 60"/>
          <p:cNvSpPr/>
          <p:nvPr/>
        </p:nvSpPr>
        <p:spPr>
          <a:xfrm>
            <a:off x="7507224" y="296722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23.29 / 44.49</a:t>
            </a:r>
            <a:endParaRPr lang="en-US" sz="860" dirty="0"/>
          </a:p>
        </p:txBody>
      </p:sp>
      <p:sp>
        <p:nvSpPr>
          <p:cNvPr id="63" name="Shape 61"/>
          <p:cNvSpPr/>
          <p:nvPr/>
        </p:nvSpPr>
        <p:spPr>
          <a:xfrm>
            <a:off x="9720072" y="2898648"/>
            <a:ext cx="1005840" cy="365760"/>
          </a:xfrm>
          <a:prstGeom prst="rect">
            <a:avLst/>
          </a:prstGeom>
          <a:solidFill>
            <a:srgbClr val="FBFCFD"/>
          </a:solidFill>
          <a:ln w="5715">
            <a:solidFill>
              <a:srgbClr val="DDE4E8"/>
            </a:solidFill>
            <a:prstDash val="solid"/>
          </a:ln>
        </p:spPr>
      </p:sp>
      <p:sp>
        <p:nvSpPr>
          <p:cNvPr id="64" name="Text 62"/>
          <p:cNvSpPr/>
          <p:nvPr/>
        </p:nvSpPr>
        <p:spPr>
          <a:xfrm>
            <a:off x="9747504" y="296722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1,839</a:t>
            </a:r>
            <a:endParaRPr lang="en-US" sz="860" dirty="0"/>
          </a:p>
        </p:txBody>
      </p:sp>
      <p:sp>
        <p:nvSpPr>
          <p:cNvPr id="65" name="Shape 63"/>
          <p:cNvSpPr/>
          <p:nvPr/>
        </p:nvSpPr>
        <p:spPr>
          <a:xfrm>
            <a:off x="758952" y="3264408"/>
            <a:ext cx="1188720" cy="365760"/>
          </a:xfrm>
          <a:prstGeom prst="rect">
            <a:avLst/>
          </a:prstGeom>
          <a:solidFill>
            <a:srgbClr val="F2F5F7"/>
          </a:solidFill>
          <a:ln w="5715">
            <a:solidFill>
              <a:srgbClr val="DDE4E8"/>
            </a:solidFill>
            <a:prstDash val="solid"/>
          </a:ln>
        </p:spPr>
      </p:sp>
      <p:sp>
        <p:nvSpPr>
          <p:cNvPr id="66" name="Text 64"/>
          <p:cNvSpPr/>
          <p:nvPr/>
        </p:nvSpPr>
        <p:spPr>
          <a:xfrm>
            <a:off x="786384" y="333298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ETFs</a:t>
            </a:r>
            <a:endParaRPr lang="en-US" sz="880" dirty="0"/>
          </a:p>
        </p:txBody>
      </p:sp>
      <p:sp>
        <p:nvSpPr>
          <p:cNvPr id="67" name="Shape 65"/>
          <p:cNvSpPr/>
          <p:nvPr/>
        </p:nvSpPr>
        <p:spPr>
          <a:xfrm>
            <a:off x="1947672" y="3264408"/>
            <a:ext cx="1051560" cy="365760"/>
          </a:xfrm>
          <a:prstGeom prst="rect">
            <a:avLst/>
          </a:prstGeom>
          <a:solidFill>
            <a:srgbClr val="F2F5F7"/>
          </a:solidFill>
          <a:ln w="5715">
            <a:solidFill>
              <a:srgbClr val="DDE4E8"/>
            </a:solidFill>
            <a:prstDash val="solid"/>
          </a:ln>
        </p:spPr>
      </p:sp>
      <p:sp>
        <p:nvSpPr>
          <p:cNvPr id="68" name="Text 66"/>
          <p:cNvSpPr/>
          <p:nvPr/>
        </p:nvSpPr>
        <p:spPr>
          <a:xfrm>
            <a:off x="1975104" y="333298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LOW</a:t>
            </a:r>
            <a:endParaRPr lang="en-US" sz="880" dirty="0"/>
          </a:p>
        </p:txBody>
      </p:sp>
      <p:sp>
        <p:nvSpPr>
          <p:cNvPr id="69" name="Shape 67"/>
          <p:cNvSpPr/>
          <p:nvPr/>
        </p:nvSpPr>
        <p:spPr>
          <a:xfrm>
            <a:off x="2999232" y="3264408"/>
            <a:ext cx="2240280" cy="365760"/>
          </a:xfrm>
          <a:prstGeom prst="rect">
            <a:avLst/>
          </a:prstGeom>
          <a:solidFill>
            <a:srgbClr val="F2F5F7"/>
          </a:solidFill>
          <a:ln w="5715">
            <a:solidFill>
              <a:srgbClr val="DDE4E8"/>
            </a:solidFill>
            <a:prstDash val="solid"/>
          </a:ln>
        </p:spPr>
      </p:sp>
      <p:sp>
        <p:nvSpPr>
          <p:cNvPr id="70" name="Text 68"/>
          <p:cNvSpPr/>
          <p:nvPr/>
        </p:nvSpPr>
        <p:spPr>
          <a:xfrm>
            <a:off x="3026664" y="333298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22.61 / 41.34</a:t>
            </a:r>
            <a:endParaRPr lang="en-US" sz="860" dirty="0"/>
          </a:p>
        </p:txBody>
      </p:sp>
      <p:sp>
        <p:nvSpPr>
          <p:cNvPr id="71" name="Shape 69"/>
          <p:cNvSpPr/>
          <p:nvPr/>
        </p:nvSpPr>
        <p:spPr>
          <a:xfrm>
            <a:off x="5239512" y="3264408"/>
            <a:ext cx="2240280" cy="365760"/>
          </a:xfrm>
          <a:prstGeom prst="rect">
            <a:avLst/>
          </a:prstGeom>
          <a:solidFill>
            <a:srgbClr val="F2F5F7"/>
          </a:solidFill>
          <a:ln w="5715">
            <a:solidFill>
              <a:srgbClr val="DDE4E8"/>
            </a:solidFill>
            <a:prstDash val="solid"/>
          </a:ln>
        </p:spPr>
      </p:sp>
      <p:sp>
        <p:nvSpPr>
          <p:cNvPr id="72" name="Text 70"/>
          <p:cNvSpPr/>
          <p:nvPr/>
        </p:nvSpPr>
        <p:spPr>
          <a:xfrm>
            <a:off x="5266944" y="333298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40.68 / 78.27</a:t>
            </a:r>
            <a:endParaRPr lang="en-US" sz="860" dirty="0"/>
          </a:p>
        </p:txBody>
      </p:sp>
      <p:sp>
        <p:nvSpPr>
          <p:cNvPr id="73" name="Shape 71"/>
          <p:cNvSpPr/>
          <p:nvPr/>
        </p:nvSpPr>
        <p:spPr>
          <a:xfrm>
            <a:off x="7479792" y="3264408"/>
            <a:ext cx="2240280" cy="365760"/>
          </a:xfrm>
          <a:prstGeom prst="rect">
            <a:avLst/>
          </a:prstGeom>
          <a:solidFill>
            <a:srgbClr val="EEF8F8"/>
          </a:solidFill>
          <a:ln w="5715">
            <a:solidFill>
              <a:srgbClr val="DDE4E8"/>
            </a:solidFill>
            <a:prstDash val="solid"/>
          </a:ln>
        </p:spPr>
      </p:sp>
      <p:sp>
        <p:nvSpPr>
          <p:cNvPr id="74" name="Text 72"/>
          <p:cNvSpPr/>
          <p:nvPr/>
        </p:nvSpPr>
        <p:spPr>
          <a:xfrm>
            <a:off x="7507224" y="333298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31.31 / 58.07</a:t>
            </a:r>
            <a:endParaRPr lang="en-US" sz="860" dirty="0"/>
          </a:p>
        </p:txBody>
      </p:sp>
      <p:sp>
        <p:nvSpPr>
          <p:cNvPr id="75" name="Shape 73"/>
          <p:cNvSpPr/>
          <p:nvPr/>
        </p:nvSpPr>
        <p:spPr>
          <a:xfrm>
            <a:off x="9720072" y="3264408"/>
            <a:ext cx="1005840" cy="365760"/>
          </a:xfrm>
          <a:prstGeom prst="rect">
            <a:avLst/>
          </a:prstGeom>
          <a:solidFill>
            <a:srgbClr val="F2F5F7"/>
          </a:solidFill>
          <a:ln w="5715">
            <a:solidFill>
              <a:srgbClr val="DDE4E8"/>
            </a:solidFill>
            <a:prstDash val="solid"/>
          </a:ln>
        </p:spPr>
      </p:sp>
      <p:sp>
        <p:nvSpPr>
          <p:cNvPr id="76" name="Text 74"/>
          <p:cNvSpPr/>
          <p:nvPr/>
        </p:nvSpPr>
        <p:spPr>
          <a:xfrm>
            <a:off x="9747504" y="333298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245</a:t>
            </a:r>
            <a:endParaRPr lang="en-US" sz="860" dirty="0"/>
          </a:p>
        </p:txBody>
      </p:sp>
      <p:sp>
        <p:nvSpPr>
          <p:cNvPr id="77" name="Shape 75"/>
          <p:cNvSpPr/>
          <p:nvPr/>
        </p:nvSpPr>
        <p:spPr>
          <a:xfrm>
            <a:off x="758952" y="3630168"/>
            <a:ext cx="1188720" cy="365760"/>
          </a:xfrm>
          <a:prstGeom prst="rect">
            <a:avLst/>
          </a:prstGeom>
          <a:solidFill>
            <a:srgbClr val="FBFCFD"/>
          </a:solidFill>
          <a:ln w="5715">
            <a:solidFill>
              <a:srgbClr val="DDE4E8"/>
            </a:solidFill>
            <a:prstDash val="solid"/>
          </a:ln>
        </p:spPr>
      </p:sp>
      <p:sp>
        <p:nvSpPr>
          <p:cNvPr id="78" name="Text 76"/>
          <p:cNvSpPr/>
          <p:nvPr/>
        </p:nvSpPr>
        <p:spPr>
          <a:xfrm>
            <a:off x="786384" y="369874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ETFs</a:t>
            </a:r>
            <a:endParaRPr lang="en-US" sz="880" dirty="0"/>
          </a:p>
        </p:txBody>
      </p:sp>
      <p:sp>
        <p:nvSpPr>
          <p:cNvPr id="79" name="Shape 77"/>
          <p:cNvSpPr/>
          <p:nvPr/>
        </p:nvSpPr>
        <p:spPr>
          <a:xfrm>
            <a:off x="1947672" y="3630168"/>
            <a:ext cx="1051560" cy="365760"/>
          </a:xfrm>
          <a:prstGeom prst="rect">
            <a:avLst/>
          </a:prstGeom>
          <a:solidFill>
            <a:srgbClr val="FBFCFD"/>
          </a:solidFill>
          <a:ln w="5715">
            <a:solidFill>
              <a:srgbClr val="DDE4E8"/>
            </a:solidFill>
            <a:prstDash val="solid"/>
          </a:ln>
        </p:spPr>
      </p:sp>
      <p:sp>
        <p:nvSpPr>
          <p:cNvPr id="80" name="Text 78"/>
          <p:cNvSpPr/>
          <p:nvPr/>
        </p:nvSpPr>
        <p:spPr>
          <a:xfrm>
            <a:off x="1975104" y="369874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MEDIUM</a:t>
            </a:r>
            <a:endParaRPr lang="en-US" sz="880" dirty="0"/>
          </a:p>
        </p:txBody>
      </p:sp>
      <p:sp>
        <p:nvSpPr>
          <p:cNvPr id="81" name="Shape 79"/>
          <p:cNvSpPr/>
          <p:nvPr/>
        </p:nvSpPr>
        <p:spPr>
          <a:xfrm>
            <a:off x="2999232" y="3630168"/>
            <a:ext cx="2240280" cy="365760"/>
          </a:xfrm>
          <a:prstGeom prst="rect">
            <a:avLst/>
          </a:prstGeom>
          <a:solidFill>
            <a:srgbClr val="FBFCFD"/>
          </a:solidFill>
          <a:ln w="5715">
            <a:solidFill>
              <a:srgbClr val="DDE4E8"/>
            </a:solidFill>
            <a:prstDash val="solid"/>
          </a:ln>
        </p:spPr>
      </p:sp>
      <p:sp>
        <p:nvSpPr>
          <p:cNvPr id="82" name="Text 80"/>
          <p:cNvSpPr/>
          <p:nvPr/>
        </p:nvSpPr>
        <p:spPr>
          <a:xfrm>
            <a:off x="3026664" y="36987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32.20 / 59.35</a:t>
            </a:r>
            <a:endParaRPr lang="en-US" sz="860" dirty="0"/>
          </a:p>
        </p:txBody>
      </p:sp>
      <p:sp>
        <p:nvSpPr>
          <p:cNvPr id="83" name="Shape 81"/>
          <p:cNvSpPr/>
          <p:nvPr/>
        </p:nvSpPr>
        <p:spPr>
          <a:xfrm>
            <a:off x="5239512" y="3630168"/>
            <a:ext cx="2240280" cy="365760"/>
          </a:xfrm>
          <a:prstGeom prst="rect">
            <a:avLst/>
          </a:prstGeom>
          <a:solidFill>
            <a:srgbClr val="FBFCFD"/>
          </a:solidFill>
          <a:ln w="5715">
            <a:solidFill>
              <a:srgbClr val="DDE4E8"/>
            </a:solidFill>
            <a:prstDash val="solid"/>
          </a:ln>
        </p:spPr>
      </p:sp>
      <p:sp>
        <p:nvSpPr>
          <p:cNvPr id="84" name="Text 82"/>
          <p:cNvSpPr/>
          <p:nvPr/>
        </p:nvSpPr>
        <p:spPr>
          <a:xfrm>
            <a:off x="5266944" y="36987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54.94 / 110.22</a:t>
            </a:r>
            <a:endParaRPr lang="en-US" sz="860" dirty="0"/>
          </a:p>
        </p:txBody>
      </p:sp>
      <p:sp>
        <p:nvSpPr>
          <p:cNvPr id="85" name="Shape 83"/>
          <p:cNvSpPr/>
          <p:nvPr/>
        </p:nvSpPr>
        <p:spPr>
          <a:xfrm>
            <a:off x="7479792" y="3630168"/>
            <a:ext cx="2240280" cy="365760"/>
          </a:xfrm>
          <a:prstGeom prst="rect">
            <a:avLst/>
          </a:prstGeom>
          <a:solidFill>
            <a:srgbClr val="EEF8F8"/>
          </a:solidFill>
          <a:ln w="5715">
            <a:solidFill>
              <a:srgbClr val="DDE4E8"/>
            </a:solidFill>
            <a:prstDash val="solid"/>
          </a:ln>
        </p:spPr>
      </p:sp>
      <p:sp>
        <p:nvSpPr>
          <p:cNvPr id="86" name="Text 84"/>
          <p:cNvSpPr/>
          <p:nvPr/>
        </p:nvSpPr>
        <p:spPr>
          <a:xfrm>
            <a:off x="7507224" y="36987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40.04 / 76.31</a:t>
            </a:r>
            <a:endParaRPr lang="en-US" sz="860" dirty="0"/>
          </a:p>
        </p:txBody>
      </p:sp>
      <p:sp>
        <p:nvSpPr>
          <p:cNvPr id="87" name="Shape 85"/>
          <p:cNvSpPr/>
          <p:nvPr/>
        </p:nvSpPr>
        <p:spPr>
          <a:xfrm>
            <a:off x="9720072" y="3630168"/>
            <a:ext cx="1005840" cy="365760"/>
          </a:xfrm>
          <a:prstGeom prst="rect">
            <a:avLst/>
          </a:prstGeom>
          <a:solidFill>
            <a:srgbClr val="FBFCFD"/>
          </a:solidFill>
          <a:ln w="5715">
            <a:solidFill>
              <a:srgbClr val="DDE4E8"/>
            </a:solidFill>
            <a:prstDash val="solid"/>
          </a:ln>
        </p:spPr>
      </p:sp>
      <p:sp>
        <p:nvSpPr>
          <p:cNvPr id="88" name="Text 86"/>
          <p:cNvSpPr/>
          <p:nvPr/>
        </p:nvSpPr>
        <p:spPr>
          <a:xfrm>
            <a:off x="9747504" y="369874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1,091</a:t>
            </a:r>
            <a:endParaRPr lang="en-US" sz="860" dirty="0"/>
          </a:p>
        </p:txBody>
      </p:sp>
      <p:sp>
        <p:nvSpPr>
          <p:cNvPr id="89" name="Shape 87"/>
          <p:cNvSpPr/>
          <p:nvPr/>
        </p:nvSpPr>
        <p:spPr>
          <a:xfrm>
            <a:off x="758952" y="3995928"/>
            <a:ext cx="1188720" cy="365760"/>
          </a:xfrm>
          <a:prstGeom prst="rect">
            <a:avLst/>
          </a:prstGeom>
          <a:solidFill>
            <a:srgbClr val="F2F5F7"/>
          </a:solidFill>
          <a:ln w="5715">
            <a:solidFill>
              <a:srgbClr val="DDE4E8"/>
            </a:solidFill>
            <a:prstDash val="solid"/>
          </a:ln>
        </p:spPr>
      </p:sp>
      <p:sp>
        <p:nvSpPr>
          <p:cNvPr id="90" name="Text 88"/>
          <p:cNvSpPr/>
          <p:nvPr/>
        </p:nvSpPr>
        <p:spPr>
          <a:xfrm>
            <a:off x="786384" y="406450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Futures</a:t>
            </a:r>
            <a:endParaRPr lang="en-US" sz="880" dirty="0"/>
          </a:p>
        </p:txBody>
      </p:sp>
      <p:sp>
        <p:nvSpPr>
          <p:cNvPr id="91" name="Shape 89"/>
          <p:cNvSpPr/>
          <p:nvPr/>
        </p:nvSpPr>
        <p:spPr>
          <a:xfrm>
            <a:off x="1947672" y="3995928"/>
            <a:ext cx="1051560" cy="365760"/>
          </a:xfrm>
          <a:prstGeom prst="rect">
            <a:avLst/>
          </a:prstGeom>
          <a:solidFill>
            <a:srgbClr val="F2F5F7"/>
          </a:solidFill>
          <a:ln w="5715">
            <a:solidFill>
              <a:srgbClr val="DDE4E8"/>
            </a:solidFill>
            <a:prstDash val="solid"/>
          </a:ln>
        </p:spPr>
      </p:sp>
      <p:sp>
        <p:nvSpPr>
          <p:cNvPr id="92" name="Text 90"/>
          <p:cNvSpPr/>
          <p:nvPr/>
        </p:nvSpPr>
        <p:spPr>
          <a:xfrm>
            <a:off x="1975104" y="406450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HIGH</a:t>
            </a:r>
            <a:endParaRPr lang="en-US" sz="880" dirty="0"/>
          </a:p>
        </p:txBody>
      </p:sp>
      <p:sp>
        <p:nvSpPr>
          <p:cNvPr id="93" name="Shape 91"/>
          <p:cNvSpPr/>
          <p:nvPr/>
        </p:nvSpPr>
        <p:spPr>
          <a:xfrm>
            <a:off x="2999232" y="3995928"/>
            <a:ext cx="2240280" cy="365760"/>
          </a:xfrm>
          <a:prstGeom prst="rect">
            <a:avLst/>
          </a:prstGeom>
          <a:solidFill>
            <a:srgbClr val="F2F5F7"/>
          </a:solidFill>
          <a:ln w="5715">
            <a:solidFill>
              <a:srgbClr val="DDE4E8"/>
            </a:solidFill>
            <a:prstDash val="solid"/>
          </a:ln>
        </p:spPr>
      </p:sp>
      <p:sp>
        <p:nvSpPr>
          <p:cNvPr id="94" name="Text 92"/>
          <p:cNvSpPr/>
          <p:nvPr/>
        </p:nvSpPr>
        <p:spPr>
          <a:xfrm>
            <a:off x="3026664" y="40645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21.42 / 36.90</a:t>
            </a:r>
            <a:endParaRPr lang="en-US" sz="860" dirty="0"/>
          </a:p>
        </p:txBody>
      </p:sp>
      <p:sp>
        <p:nvSpPr>
          <p:cNvPr id="95" name="Shape 93"/>
          <p:cNvSpPr/>
          <p:nvPr/>
        </p:nvSpPr>
        <p:spPr>
          <a:xfrm>
            <a:off x="5239512" y="3995928"/>
            <a:ext cx="2240280" cy="365760"/>
          </a:xfrm>
          <a:prstGeom prst="rect">
            <a:avLst/>
          </a:prstGeom>
          <a:solidFill>
            <a:srgbClr val="F2F5F7"/>
          </a:solidFill>
          <a:ln w="5715">
            <a:solidFill>
              <a:srgbClr val="DDE4E8"/>
            </a:solidFill>
            <a:prstDash val="solid"/>
          </a:ln>
        </p:spPr>
      </p:sp>
      <p:sp>
        <p:nvSpPr>
          <p:cNvPr id="96" name="Text 94"/>
          <p:cNvSpPr/>
          <p:nvPr/>
        </p:nvSpPr>
        <p:spPr>
          <a:xfrm>
            <a:off x="5266944" y="40645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21.31 / 43.42</a:t>
            </a:r>
            <a:endParaRPr lang="en-US" sz="860" dirty="0"/>
          </a:p>
        </p:txBody>
      </p:sp>
      <p:sp>
        <p:nvSpPr>
          <p:cNvPr id="97" name="Shape 95"/>
          <p:cNvSpPr/>
          <p:nvPr/>
        </p:nvSpPr>
        <p:spPr>
          <a:xfrm>
            <a:off x="7479792" y="3995928"/>
            <a:ext cx="2240280" cy="365760"/>
          </a:xfrm>
          <a:prstGeom prst="rect">
            <a:avLst/>
          </a:prstGeom>
          <a:solidFill>
            <a:srgbClr val="EEF8F8"/>
          </a:solidFill>
          <a:ln w="5715">
            <a:solidFill>
              <a:srgbClr val="DDE4E8"/>
            </a:solidFill>
            <a:prstDash val="solid"/>
          </a:ln>
        </p:spPr>
      </p:sp>
      <p:sp>
        <p:nvSpPr>
          <p:cNvPr id="98" name="Text 96"/>
          <p:cNvSpPr/>
          <p:nvPr/>
        </p:nvSpPr>
        <p:spPr>
          <a:xfrm>
            <a:off x="7507224" y="40645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5.34 / 11.46</a:t>
            </a:r>
            <a:endParaRPr lang="en-US" sz="860" dirty="0"/>
          </a:p>
        </p:txBody>
      </p:sp>
      <p:sp>
        <p:nvSpPr>
          <p:cNvPr id="99" name="Shape 97"/>
          <p:cNvSpPr/>
          <p:nvPr/>
        </p:nvSpPr>
        <p:spPr>
          <a:xfrm>
            <a:off x="9720072" y="3995928"/>
            <a:ext cx="1005840" cy="365760"/>
          </a:xfrm>
          <a:prstGeom prst="rect">
            <a:avLst/>
          </a:prstGeom>
          <a:solidFill>
            <a:srgbClr val="F2F5F7"/>
          </a:solidFill>
          <a:ln w="5715">
            <a:solidFill>
              <a:srgbClr val="DDE4E8"/>
            </a:solidFill>
            <a:prstDash val="solid"/>
          </a:ln>
        </p:spPr>
      </p:sp>
      <p:sp>
        <p:nvSpPr>
          <p:cNvPr id="100" name="Text 98"/>
          <p:cNvSpPr/>
          <p:nvPr/>
        </p:nvSpPr>
        <p:spPr>
          <a:xfrm>
            <a:off x="9747504" y="406450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521</a:t>
            </a:r>
            <a:endParaRPr lang="en-US" sz="860" dirty="0"/>
          </a:p>
        </p:txBody>
      </p:sp>
      <p:sp>
        <p:nvSpPr>
          <p:cNvPr id="101" name="Shape 99"/>
          <p:cNvSpPr/>
          <p:nvPr/>
        </p:nvSpPr>
        <p:spPr>
          <a:xfrm>
            <a:off x="758952" y="4361688"/>
            <a:ext cx="1188720" cy="365760"/>
          </a:xfrm>
          <a:prstGeom prst="rect">
            <a:avLst/>
          </a:prstGeom>
          <a:solidFill>
            <a:srgbClr val="FBFCFD"/>
          </a:solidFill>
          <a:ln w="5715">
            <a:solidFill>
              <a:srgbClr val="DDE4E8"/>
            </a:solidFill>
            <a:prstDash val="solid"/>
          </a:ln>
        </p:spPr>
      </p:sp>
      <p:sp>
        <p:nvSpPr>
          <p:cNvPr id="102" name="Text 100"/>
          <p:cNvSpPr/>
          <p:nvPr/>
        </p:nvSpPr>
        <p:spPr>
          <a:xfrm>
            <a:off x="786384" y="443026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Futures</a:t>
            </a:r>
            <a:endParaRPr lang="en-US" sz="880" dirty="0"/>
          </a:p>
        </p:txBody>
      </p:sp>
      <p:sp>
        <p:nvSpPr>
          <p:cNvPr id="103" name="Shape 101"/>
          <p:cNvSpPr/>
          <p:nvPr/>
        </p:nvSpPr>
        <p:spPr>
          <a:xfrm>
            <a:off x="1947672" y="4361688"/>
            <a:ext cx="1051560" cy="365760"/>
          </a:xfrm>
          <a:prstGeom prst="rect">
            <a:avLst/>
          </a:prstGeom>
          <a:solidFill>
            <a:srgbClr val="FBFCFD"/>
          </a:solidFill>
          <a:ln w="5715">
            <a:solidFill>
              <a:srgbClr val="DDE4E8"/>
            </a:solidFill>
            <a:prstDash val="solid"/>
          </a:ln>
        </p:spPr>
      </p:sp>
      <p:sp>
        <p:nvSpPr>
          <p:cNvPr id="104" name="Text 102"/>
          <p:cNvSpPr/>
          <p:nvPr/>
        </p:nvSpPr>
        <p:spPr>
          <a:xfrm>
            <a:off x="1975104" y="443026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LOW</a:t>
            </a:r>
            <a:endParaRPr lang="en-US" sz="880" dirty="0"/>
          </a:p>
        </p:txBody>
      </p:sp>
      <p:sp>
        <p:nvSpPr>
          <p:cNvPr id="105" name="Shape 103"/>
          <p:cNvSpPr/>
          <p:nvPr/>
        </p:nvSpPr>
        <p:spPr>
          <a:xfrm>
            <a:off x="2999232" y="4361688"/>
            <a:ext cx="2240280" cy="365760"/>
          </a:xfrm>
          <a:prstGeom prst="rect">
            <a:avLst/>
          </a:prstGeom>
          <a:solidFill>
            <a:srgbClr val="FBFCFD"/>
          </a:solidFill>
          <a:ln w="5715">
            <a:solidFill>
              <a:srgbClr val="DDE4E8"/>
            </a:solidFill>
            <a:prstDash val="solid"/>
          </a:ln>
        </p:spPr>
      </p:sp>
      <p:sp>
        <p:nvSpPr>
          <p:cNvPr id="106" name="Text 104"/>
          <p:cNvSpPr/>
          <p:nvPr/>
        </p:nvSpPr>
        <p:spPr>
          <a:xfrm>
            <a:off x="3026664" y="443026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25.06 / 40.17</a:t>
            </a:r>
            <a:endParaRPr lang="en-US" sz="860" dirty="0"/>
          </a:p>
        </p:txBody>
      </p:sp>
      <p:sp>
        <p:nvSpPr>
          <p:cNvPr id="107" name="Shape 105"/>
          <p:cNvSpPr/>
          <p:nvPr/>
        </p:nvSpPr>
        <p:spPr>
          <a:xfrm>
            <a:off x="5239512" y="4361688"/>
            <a:ext cx="2240280" cy="365760"/>
          </a:xfrm>
          <a:prstGeom prst="rect">
            <a:avLst/>
          </a:prstGeom>
          <a:solidFill>
            <a:srgbClr val="FBFCFD"/>
          </a:solidFill>
          <a:ln w="5715">
            <a:solidFill>
              <a:srgbClr val="DDE4E8"/>
            </a:solidFill>
            <a:prstDash val="solid"/>
          </a:ln>
        </p:spPr>
      </p:sp>
      <p:sp>
        <p:nvSpPr>
          <p:cNvPr id="108" name="Text 106"/>
          <p:cNvSpPr/>
          <p:nvPr/>
        </p:nvSpPr>
        <p:spPr>
          <a:xfrm>
            <a:off x="5266944" y="443026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24.65 / 50.61</a:t>
            </a:r>
            <a:endParaRPr lang="en-US" sz="860" dirty="0"/>
          </a:p>
        </p:txBody>
      </p:sp>
      <p:sp>
        <p:nvSpPr>
          <p:cNvPr id="109" name="Shape 107"/>
          <p:cNvSpPr/>
          <p:nvPr/>
        </p:nvSpPr>
        <p:spPr>
          <a:xfrm>
            <a:off x="7479792" y="4361688"/>
            <a:ext cx="2240280" cy="365760"/>
          </a:xfrm>
          <a:prstGeom prst="rect">
            <a:avLst/>
          </a:prstGeom>
          <a:solidFill>
            <a:srgbClr val="EEF8F8"/>
          </a:solidFill>
          <a:ln w="5715">
            <a:solidFill>
              <a:srgbClr val="DDE4E8"/>
            </a:solidFill>
            <a:prstDash val="solid"/>
          </a:ln>
        </p:spPr>
      </p:sp>
      <p:sp>
        <p:nvSpPr>
          <p:cNvPr id="110" name="Text 108"/>
          <p:cNvSpPr/>
          <p:nvPr/>
        </p:nvSpPr>
        <p:spPr>
          <a:xfrm>
            <a:off x="7507224" y="443026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5.19 / 10.85</a:t>
            </a:r>
            <a:endParaRPr lang="en-US" sz="860" dirty="0"/>
          </a:p>
        </p:txBody>
      </p:sp>
      <p:sp>
        <p:nvSpPr>
          <p:cNvPr id="111" name="Shape 109"/>
          <p:cNvSpPr/>
          <p:nvPr/>
        </p:nvSpPr>
        <p:spPr>
          <a:xfrm>
            <a:off x="9720072" y="4361688"/>
            <a:ext cx="1005840" cy="365760"/>
          </a:xfrm>
          <a:prstGeom prst="rect">
            <a:avLst/>
          </a:prstGeom>
          <a:solidFill>
            <a:srgbClr val="FBFCFD"/>
          </a:solidFill>
          <a:ln w="5715">
            <a:solidFill>
              <a:srgbClr val="DDE4E8"/>
            </a:solidFill>
            <a:prstDash val="solid"/>
          </a:ln>
        </p:spPr>
      </p:sp>
      <p:sp>
        <p:nvSpPr>
          <p:cNvPr id="112" name="Text 110"/>
          <p:cNvSpPr/>
          <p:nvPr/>
        </p:nvSpPr>
        <p:spPr>
          <a:xfrm>
            <a:off x="9747504" y="443026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590</a:t>
            </a:r>
            <a:endParaRPr lang="en-US" sz="860" dirty="0"/>
          </a:p>
        </p:txBody>
      </p:sp>
      <p:sp>
        <p:nvSpPr>
          <p:cNvPr id="113" name="Shape 111"/>
          <p:cNvSpPr/>
          <p:nvPr/>
        </p:nvSpPr>
        <p:spPr>
          <a:xfrm>
            <a:off x="758952" y="4727448"/>
            <a:ext cx="1188720" cy="365760"/>
          </a:xfrm>
          <a:prstGeom prst="rect">
            <a:avLst/>
          </a:prstGeom>
          <a:solidFill>
            <a:srgbClr val="F2F5F7"/>
          </a:solidFill>
          <a:ln w="5715">
            <a:solidFill>
              <a:srgbClr val="DDE4E8"/>
            </a:solidFill>
            <a:prstDash val="solid"/>
          </a:ln>
        </p:spPr>
      </p:sp>
      <p:sp>
        <p:nvSpPr>
          <p:cNvPr id="114" name="Text 112"/>
          <p:cNvSpPr/>
          <p:nvPr/>
        </p:nvSpPr>
        <p:spPr>
          <a:xfrm>
            <a:off x="786384" y="479602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Futures</a:t>
            </a:r>
            <a:endParaRPr lang="en-US" sz="880" dirty="0"/>
          </a:p>
        </p:txBody>
      </p:sp>
      <p:sp>
        <p:nvSpPr>
          <p:cNvPr id="115" name="Shape 113"/>
          <p:cNvSpPr/>
          <p:nvPr/>
        </p:nvSpPr>
        <p:spPr>
          <a:xfrm>
            <a:off x="1947672" y="4727448"/>
            <a:ext cx="1051560" cy="365760"/>
          </a:xfrm>
          <a:prstGeom prst="rect">
            <a:avLst/>
          </a:prstGeom>
          <a:solidFill>
            <a:srgbClr val="F2F5F7"/>
          </a:solidFill>
          <a:ln w="5715">
            <a:solidFill>
              <a:srgbClr val="DDE4E8"/>
            </a:solidFill>
            <a:prstDash val="solid"/>
          </a:ln>
        </p:spPr>
      </p:sp>
      <p:sp>
        <p:nvSpPr>
          <p:cNvPr id="116" name="Text 114"/>
          <p:cNvSpPr/>
          <p:nvPr/>
        </p:nvSpPr>
        <p:spPr>
          <a:xfrm>
            <a:off x="1975104" y="479602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MEDIUM</a:t>
            </a:r>
            <a:endParaRPr lang="en-US" sz="880" dirty="0"/>
          </a:p>
        </p:txBody>
      </p:sp>
      <p:sp>
        <p:nvSpPr>
          <p:cNvPr id="117" name="Shape 115"/>
          <p:cNvSpPr/>
          <p:nvPr/>
        </p:nvSpPr>
        <p:spPr>
          <a:xfrm>
            <a:off x="2999232" y="4727448"/>
            <a:ext cx="2240280" cy="365760"/>
          </a:xfrm>
          <a:prstGeom prst="rect">
            <a:avLst/>
          </a:prstGeom>
          <a:solidFill>
            <a:srgbClr val="F2F5F7"/>
          </a:solidFill>
          <a:ln w="5715">
            <a:solidFill>
              <a:srgbClr val="DDE4E8"/>
            </a:solidFill>
            <a:prstDash val="solid"/>
          </a:ln>
        </p:spPr>
      </p:sp>
      <p:sp>
        <p:nvSpPr>
          <p:cNvPr id="118" name="Text 116"/>
          <p:cNvSpPr/>
          <p:nvPr/>
        </p:nvSpPr>
        <p:spPr>
          <a:xfrm>
            <a:off x="3026664" y="479602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23.00 / 32.26</a:t>
            </a:r>
            <a:endParaRPr lang="en-US" sz="860" dirty="0"/>
          </a:p>
        </p:txBody>
      </p:sp>
      <p:sp>
        <p:nvSpPr>
          <p:cNvPr id="119" name="Shape 117"/>
          <p:cNvSpPr/>
          <p:nvPr/>
        </p:nvSpPr>
        <p:spPr>
          <a:xfrm>
            <a:off x="5239512" y="4727448"/>
            <a:ext cx="2240280" cy="365760"/>
          </a:xfrm>
          <a:prstGeom prst="rect">
            <a:avLst/>
          </a:prstGeom>
          <a:solidFill>
            <a:srgbClr val="F2F5F7"/>
          </a:solidFill>
          <a:ln w="5715">
            <a:solidFill>
              <a:srgbClr val="DDE4E8"/>
            </a:solidFill>
            <a:prstDash val="solid"/>
          </a:ln>
        </p:spPr>
      </p:sp>
      <p:sp>
        <p:nvSpPr>
          <p:cNvPr id="120" name="Text 118"/>
          <p:cNvSpPr/>
          <p:nvPr/>
        </p:nvSpPr>
        <p:spPr>
          <a:xfrm>
            <a:off x="5266944" y="479602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23.82 / 42.10</a:t>
            </a:r>
            <a:endParaRPr lang="en-US" sz="860" dirty="0"/>
          </a:p>
        </p:txBody>
      </p:sp>
      <p:sp>
        <p:nvSpPr>
          <p:cNvPr id="121" name="Shape 119"/>
          <p:cNvSpPr/>
          <p:nvPr/>
        </p:nvSpPr>
        <p:spPr>
          <a:xfrm>
            <a:off x="7479792" y="4727448"/>
            <a:ext cx="2240280" cy="365760"/>
          </a:xfrm>
          <a:prstGeom prst="rect">
            <a:avLst/>
          </a:prstGeom>
          <a:solidFill>
            <a:srgbClr val="EEF8F8"/>
          </a:solidFill>
          <a:ln w="5715">
            <a:solidFill>
              <a:srgbClr val="DDE4E8"/>
            </a:solidFill>
            <a:prstDash val="solid"/>
          </a:ln>
        </p:spPr>
      </p:sp>
      <p:sp>
        <p:nvSpPr>
          <p:cNvPr id="122" name="Text 120"/>
          <p:cNvSpPr/>
          <p:nvPr/>
        </p:nvSpPr>
        <p:spPr>
          <a:xfrm>
            <a:off x="7507224" y="479602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5.34 / 10.77</a:t>
            </a:r>
            <a:endParaRPr lang="en-US" sz="860" dirty="0"/>
          </a:p>
        </p:txBody>
      </p:sp>
      <p:sp>
        <p:nvSpPr>
          <p:cNvPr id="123" name="Shape 121"/>
          <p:cNvSpPr/>
          <p:nvPr/>
        </p:nvSpPr>
        <p:spPr>
          <a:xfrm>
            <a:off x="9720072" y="4727448"/>
            <a:ext cx="1005840" cy="365760"/>
          </a:xfrm>
          <a:prstGeom prst="rect">
            <a:avLst/>
          </a:prstGeom>
          <a:solidFill>
            <a:srgbClr val="F2F5F7"/>
          </a:solidFill>
          <a:ln w="5715">
            <a:solidFill>
              <a:srgbClr val="DDE4E8"/>
            </a:solidFill>
            <a:prstDash val="solid"/>
          </a:ln>
        </p:spPr>
      </p:sp>
      <p:sp>
        <p:nvSpPr>
          <p:cNvPr id="124" name="Text 122"/>
          <p:cNvSpPr/>
          <p:nvPr/>
        </p:nvSpPr>
        <p:spPr>
          <a:xfrm>
            <a:off x="9747504" y="479602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556</a:t>
            </a:r>
            <a:endParaRPr lang="en-US" sz="860" dirty="0"/>
          </a:p>
        </p:txBody>
      </p:sp>
      <p:sp>
        <p:nvSpPr>
          <p:cNvPr id="125" name="Shape 123"/>
          <p:cNvSpPr/>
          <p:nvPr/>
        </p:nvSpPr>
        <p:spPr>
          <a:xfrm>
            <a:off x="758952" y="5093208"/>
            <a:ext cx="1188720" cy="365760"/>
          </a:xfrm>
          <a:prstGeom prst="rect">
            <a:avLst/>
          </a:prstGeom>
          <a:solidFill>
            <a:srgbClr val="FBFCFD"/>
          </a:solidFill>
          <a:ln w="5715">
            <a:solidFill>
              <a:srgbClr val="DDE4E8"/>
            </a:solidFill>
            <a:prstDash val="solid"/>
          </a:ln>
        </p:spPr>
      </p:sp>
      <p:sp>
        <p:nvSpPr>
          <p:cNvPr id="126" name="Text 124"/>
          <p:cNvSpPr/>
          <p:nvPr/>
        </p:nvSpPr>
        <p:spPr>
          <a:xfrm>
            <a:off x="786384" y="516178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Stocks</a:t>
            </a:r>
            <a:endParaRPr lang="en-US" sz="880" dirty="0"/>
          </a:p>
        </p:txBody>
      </p:sp>
      <p:sp>
        <p:nvSpPr>
          <p:cNvPr id="127" name="Shape 125"/>
          <p:cNvSpPr/>
          <p:nvPr/>
        </p:nvSpPr>
        <p:spPr>
          <a:xfrm>
            <a:off x="1947672" y="5093208"/>
            <a:ext cx="1051560" cy="365760"/>
          </a:xfrm>
          <a:prstGeom prst="rect">
            <a:avLst/>
          </a:prstGeom>
          <a:solidFill>
            <a:srgbClr val="FBFCFD"/>
          </a:solidFill>
          <a:ln w="5715">
            <a:solidFill>
              <a:srgbClr val="DDE4E8"/>
            </a:solidFill>
            <a:prstDash val="solid"/>
          </a:ln>
        </p:spPr>
      </p:sp>
      <p:sp>
        <p:nvSpPr>
          <p:cNvPr id="128" name="Text 126"/>
          <p:cNvSpPr/>
          <p:nvPr/>
        </p:nvSpPr>
        <p:spPr>
          <a:xfrm>
            <a:off x="1975104" y="516178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HIGH</a:t>
            </a:r>
            <a:endParaRPr lang="en-US" sz="880" dirty="0"/>
          </a:p>
        </p:txBody>
      </p:sp>
      <p:sp>
        <p:nvSpPr>
          <p:cNvPr id="129" name="Shape 127"/>
          <p:cNvSpPr/>
          <p:nvPr/>
        </p:nvSpPr>
        <p:spPr>
          <a:xfrm>
            <a:off x="2999232" y="5093208"/>
            <a:ext cx="2240280" cy="365760"/>
          </a:xfrm>
          <a:prstGeom prst="rect">
            <a:avLst/>
          </a:prstGeom>
          <a:solidFill>
            <a:srgbClr val="FBFCFD"/>
          </a:solidFill>
          <a:ln w="5715">
            <a:solidFill>
              <a:srgbClr val="DDE4E8"/>
            </a:solidFill>
            <a:prstDash val="solid"/>
          </a:ln>
        </p:spPr>
      </p:sp>
      <p:sp>
        <p:nvSpPr>
          <p:cNvPr id="130" name="Text 128"/>
          <p:cNvSpPr/>
          <p:nvPr/>
        </p:nvSpPr>
        <p:spPr>
          <a:xfrm>
            <a:off x="3026664" y="516178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67.51 / 97.45</a:t>
            </a:r>
            <a:endParaRPr lang="en-US" sz="860" dirty="0"/>
          </a:p>
        </p:txBody>
      </p:sp>
      <p:sp>
        <p:nvSpPr>
          <p:cNvPr id="131" name="Shape 129"/>
          <p:cNvSpPr/>
          <p:nvPr/>
        </p:nvSpPr>
        <p:spPr>
          <a:xfrm>
            <a:off x="5239512" y="5093208"/>
            <a:ext cx="2240280" cy="365760"/>
          </a:xfrm>
          <a:prstGeom prst="rect">
            <a:avLst/>
          </a:prstGeom>
          <a:solidFill>
            <a:srgbClr val="FBFCFD"/>
          </a:solidFill>
          <a:ln w="5715">
            <a:solidFill>
              <a:srgbClr val="DDE4E8"/>
            </a:solidFill>
            <a:prstDash val="solid"/>
          </a:ln>
        </p:spPr>
      </p:sp>
      <p:sp>
        <p:nvSpPr>
          <p:cNvPr id="132" name="Text 130"/>
          <p:cNvSpPr/>
          <p:nvPr/>
        </p:nvSpPr>
        <p:spPr>
          <a:xfrm>
            <a:off x="5266944" y="516178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88.00 / 161.87</a:t>
            </a:r>
            <a:endParaRPr lang="en-US" sz="860" dirty="0"/>
          </a:p>
        </p:txBody>
      </p:sp>
      <p:sp>
        <p:nvSpPr>
          <p:cNvPr id="133" name="Shape 131"/>
          <p:cNvSpPr/>
          <p:nvPr/>
        </p:nvSpPr>
        <p:spPr>
          <a:xfrm>
            <a:off x="7479792" y="5093208"/>
            <a:ext cx="2240280" cy="365760"/>
          </a:xfrm>
          <a:prstGeom prst="rect">
            <a:avLst/>
          </a:prstGeom>
          <a:solidFill>
            <a:srgbClr val="EEF8F8"/>
          </a:solidFill>
          <a:ln w="5715">
            <a:solidFill>
              <a:srgbClr val="DDE4E8"/>
            </a:solidFill>
            <a:prstDash val="solid"/>
          </a:ln>
        </p:spPr>
      </p:sp>
      <p:sp>
        <p:nvSpPr>
          <p:cNvPr id="134" name="Text 132"/>
          <p:cNvSpPr/>
          <p:nvPr/>
        </p:nvSpPr>
        <p:spPr>
          <a:xfrm>
            <a:off x="7507224" y="516178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56.17 / 96.41</a:t>
            </a:r>
            <a:endParaRPr lang="en-US" sz="860" dirty="0"/>
          </a:p>
        </p:txBody>
      </p:sp>
      <p:sp>
        <p:nvSpPr>
          <p:cNvPr id="135" name="Shape 133"/>
          <p:cNvSpPr/>
          <p:nvPr/>
        </p:nvSpPr>
        <p:spPr>
          <a:xfrm>
            <a:off x="9720072" y="5093208"/>
            <a:ext cx="1005840" cy="365760"/>
          </a:xfrm>
          <a:prstGeom prst="rect">
            <a:avLst/>
          </a:prstGeom>
          <a:solidFill>
            <a:srgbClr val="FBFCFD"/>
          </a:solidFill>
          <a:ln w="5715">
            <a:solidFill>
              <a:srgbClr val="DDE4E8"/>
            </a:solidFill>
            <a:prstDash val="solid"/>
          </a:ln>
        </p:spPr>
      </p:sp>
      <p:sp>
        <p:nvSpPr>
          <p:cNvPr id="136" name="Text 134"/>
          <p:cNvSpPr/>
          <p:nvPr/>
        </p:nvSpPr>
        <p:spPr>
          <a:xfrm>
            <a:off x="9747504" y="516178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3,481</a:t>
            </a:r>
            <a:endParaRPr lang="en-US" sz="860" dirty="0"/>
          </a:p>
        </p:txBody>
      </p:sp>
      <p:sp>
        <p:nvSpPr>
          <p:cNvPr id="137" name="Shape 135"/>
          <p:cNvSpPr/>
          <p:nvPr/>
        </p:nvSpPr>
        <p:spPr>
          <a:xfrm>
            <a:off x="758952" y="5458968"/>
            <a:ext cx="1188720" cy="365760"/>
          </a:xfrm>
          <a:prstGeom prst="rect">
            <a:avLst/>
          </a:prstGeom>
          <a:solidFill>
            <a:srgbClr val="F2F5F7"/>
          </a:solidFill>
          <a:ln w="5715">
            <a:solidFill>
              <a:srgbClr val="DDE4E8"/>
            </a:solidFill>
            <a:prstDash val="solid"/>
          </a:ln>
        </p:spPr>
      </p:sp>
      <p:sp>
        <p:nvSpPr>
          <p:cNvPr id="138" name="Text 136"/>
          <p:cNvSpPr/>
          <p:nvPr/>
        </p:nvSpPr>
        <p:spPr>
          <a:xfrm>
            <a:off x="786384" y="552754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Stocks</a:t>
            </a:r>
            <a:endParaRPr lang="en-US" sz="880" dirty="0"/>
          </a:p>
        </p:txBody>
      </p:sp>
      <p:sp>
        <p:nvSpPr>
          <p:cNvPr id="139" name="Shape 137"/>
          <p:cNvSpPr/>
          <p:nvPr/>
        </p:nvSpPr>
        <p:spPr>
          <a:xfrm>
            <a:off x="1947672" y="5458968"/>
            <a:ext cx="1051560" cy="365760"/>
          </a:xfrm>
          <a:prstGeom prst="rect">
            <a:avLst/>
          </a:prstGeom>
          <a:solidFill>
            <a:srgbClr val="F2F5F7"/>
          </a:solidFill>
          <a:ln w="5715">
            <a:solidFill>
              <a:srgbClr val="DDE4E8"/>
            </a:solidFill>
            <a:prstDash val="solid"/>
          </a:ln>
        </p:spPr>
      </p:sp>
      <p:sp>
        <p:nvSpPr>
          <p:cNvPr id="140" name="Text 138"/>
          <p:cNvSpPr/>
          <p:nvPr/>
        </p:nvSpPr>
        <p:spPr>
          <a:xfrm>
            <a:off x="1975104" y="552754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LOW</a:t>
            </a:r>
            <a:endParaRPr lang="en-US" sz="880" dirty="0"/>
          </a:p>
        </p:txBody>
      </p:sp>
      <p:sp>
        <p:nvSpPr>
          <p:cNvPr id="141" name="Shape 139"/>
          <p:cNvSpPr/>
          <p:nvPr/>
        </p:nvSpPr>
        <p:spPr>
          <a:xfrm>
            <a:off x="2999232" y="5458968"/>
            <a:ext cx="2240280" cy="365760"/>
          </a:xfrm>
          <a:prstGeom prst="rect">
            <a:avLst/>
          </a:prstGeom>
          <a:solidFill>
            <a:srgbClr val="F2F5F7"/>
          </a:solidFill>
          <a:ln w="5715">
            <a:solidFill>
              <a:srgbClr val="DDE4E8"/>
            </a:solidFill>
            <a:prstDash val="solid"/>
          </a:ln>
        </p:spPr>
      </p:sp>
      <p:sp>
        <p:nvSpPr>
          <p:cNvPr id="142" name="Text 140"/>
          <p:cNvSpPr/>
          <p:nvPr/>
        </p:nvSpPr>
        <p:spPr>
          <a:xfrm>
            <a:off x="3026664" y="55275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146.11 / 216.76</a:t>
            </a:r>
            <a:endParaRPr lang="en-US" sz="860" dirty="0"/>
          </a:p>
        </p:txBody>
      </p:sp>
      <p:sp>
        <p:nvSpPr>
          <p:cNvPr id="143" name="Shape 141"/>
          <p:cNvSpPr/>
          <p:nvPr/>
        </p:nvSpPr>
        <p:spPr>
          <a:xfrm>
            <a:off x="5239512" y="5458968"/>
            <a:ext cx="2240280" cy="365760"/>
          </a:xfrm>
          <a:prstGeom prst="rect">
            <a:avLst/>
          </a:prstGeom>
          <a:solidFill>
            <a:srgbClr val="F2F5F7"/>
          </a:solidFill>
          <a:ln w="5715">
            <a:solidFill>
              <a:srgbClr val="DDE4E8"/>
            </a:solidFill>
            <a:prstDash val="solid"/>
          </a:ln>
        </p:spPr>
      </p:sp>
      <p:sp>
        <p:nvSpPr>
          <p:cNvPr id="144" name="Text 142"/>
          <p:cNvSpPr/>
          <p:nvPr/>
        </p:nvSpPr>
        <p:spPr>
          <a:xfrm>
            <a:off x="5266944" y="55275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186.20 / 326.42</a:t>
            </a:r>
            <a:endParaRPr lang="en-US" sz="860" dirty="0"/>
          </a:p>
        </p:txBody>
      </p:sp>
      <p:sp>
        <p:nvSpPr>
          <p:cNvPr id="145" name="Shape 143"/>
          <p:cNvSpPr/>
          <p:nvPr/>
        </p:nvSpPr>
        <p:spPr>
          <a:xfrm>
            <a:off x="7479792" y="5458968"/>
            <a:ext cx="2240280" cy="365760"/>
          </a:xfrm>
          <a:prstGeom prst="rect">
            <a:avLst/>
          </a:prstGeom>
          <a:solidFill>
            <a:srgbClr val="EEF8F8"/>
          </a:solidFill>
          <a:ln w="5715">
            <a:solidFill>
              <a:srgbClr val="DDE4E8"/>
            </a:solidFill>
            <a:prstDash val="solid"/>
          </a:ln>
        </p:spPr>
      </p:sp>
      <p:sp>
        <p:nvSpPr>
          <p:cNvPr id="146" name="Text 144"/>
          <p:cNvSpPr/>
          <p:nvPr/>
        </p:nvSpPr>
        <p:spPr>
          <a:xfrm>
            <a:off x="7507224" y="552754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125.02 / 215.48</a:t>
            </a:r>
            <a:endParaRPr lang="en-US" sz="860" dirty="0"/>
          </a:p>
        </p:txBody>
      </p:sp>
      <p:sp>
        <p:nvSpPr>
          <p:cNvPr id="147" name="Shape 145"/>
          <p:cNvSpPr/>
          <p:nvPr/>
        </p:nvSpPr>
        <p:spPr>
          <a:xfrm>
            <a:off x="9720072" y="5458968"/>
            <a:ext cx="1005840" cy="365760"/>
          </a:xfrm>
          <a:prstGeom prst="rect">
            <a:avLst/>
          </a:prstGeom>
          <a:solidFill>
            <a:srgbClr val="F2F5F7"/>
          </a:solidFill>
          <a:ln w="5715">
            <a:solidFill>
              <a:srgbClr val="DDE4E8"/>
            </a:solidFill>
            <a:prstDash val="solid"/>
          </a:ln>
        </p:spPr>
      </p:sp>
      <p:sp>
        <p:nvSpPr>
          <p:cNvPr id="148" name="Text 146"/>
          <p:cNvSpPr/>
          <p:nvPr/>
        </p:nvSpPr>
        <p:spPr>
          <a:xfrm>
            <a:off x="9747504" y="552754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2,399</a:t>
            </a:r>
            <a:endParaRPr lang="en-US" sz="860" dirty="0"/>
          </a:p>
        </p:txBody>
      </p:sp>
      <p:sp>
        <p:nvSpPr>
          <p:cNvPr id="149" name="Shape 147"/>
          <p:cNvSpPr/>
          <p:nvPr/>
        </p:nvSpPr>
        <p:spPr>
          <a:xfrm>
            <a:off x="758952" y="5824728"/>
            <a:ext cx="1188720" cy="365760"/>
          </a:xfrm>
          <a:prstGeom prst="rect">
            <a:avLst/>
          </a:prstGeom>
          <a:solidFill>
            <a:srgbClr val="FBFCFD"/>
          </a:solidFill>
          <a:ln w="5715">
            <a:solidFill>
              <a:srgbClr val="DDE4E8"/>
            </a:solidFill>
            <a:prstDash val="solid"/>
          </a:ln>
        </p:spPr>
      </p:sp>
      <p:sp>
        <p:nvSpPr>
          <p:cNvPr id="150" name="Text 148"/>
          <p:cNvSpPr/>
          <p:nvPr/>
        </p:nvSpPr>
        <p:spPr>
          <a:xfrm>
            <a:off x="786384" y="5893308"/>
            <a:ext cx="113385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Stocks</a:t>
            </a:r>
            <a:endParaRPr lang="en-US" sz="880" dirty="0"/>
          </a:p>
        </p:txBody>
      </p:sp>
      <p:sp>
        <p:nvSpPr>
          <p:cNvPr id="151" name="Shape 149"/>
          <p:cNvSpPr/>
          <p:nvPr/>
        </p:nvSpPr>
        <p:spPr>
          <a:xfrm>
            <a:off x="1947672" y="5824728"/>
            <a:ext cx="1051560" cy="365760"/>
          </a:xfrm>
          <a:prstGeom prst="rect">
            <a:avLst/>
          </a:prstGeom>
          <a:solidFill>
            <a:srgbClr val="FBFCFD"/>
          </a:solidFill>
          <a:ln w="5715">
            <a:solidFill>
              <a:srgbClr val="DDE4E8"/>
            </a:solidFill>
            <a:prstDash val="solid"/>
          </a:ln>
        </p:spPr>
      </p:sp>
      <p:sp>
        <p:nvSpPr>
          <p:cNvPr id="152" name="Text 150"/>
          <p:cNvSpPr/>
          <p:nvPr/>
        </p:nvSpPr>
        <p:spPr>
          <a:xfrm>
            <a:off x="1975104" y="5893308"/>
            <a:ext cx="996696" cy="182880"/>
          </a:xfrm>
          <a:prstGeom prst="rect">
            <a:avLst/>
          </a:prstGeom>
          <a:noFill/>
          <a:ln/>
        </p:spPr>
        <p:txBody>
          <a:bodyPr wrap="square" lIns="0" tIns="0" rIns="0" bIns="0" rtlCol="0" anchor="ctr">
            <a:normAutofit/>
          </a:bodyPr>
          <a:lstStyle/>
          <a:p>
            <a:pPr algn="ctr" indent="0" marL="0">
              <a:buNone/>
            </a:pPr>
            <a:r>
              <a:rPr lang="en-US" sz="880" b="1" dirty="0">
                <a:solidFill>
                  <a:srgbClr val="20313F"/>
                </a:solidFill>
                <a:latin typeface="Arial" pitchFamily="34" charset="0"/>
                <a:ea typeface="Arial" pitchFamily="34" charset="-122"/>
                <a:cs typeface="Arial" pitchFamily="34" charset="-120"/>
              </a:rPr>
              <a:t>MEDIUM</a:t>
            </a:r>
            <a:endParaRPr lang="en-US" sz="880" dirty="0"/>
          </a:p>
        </p:txBody>
      </p:sp>
      <p:sp>
        <p:nvSpPr>
          <p:cNvPr id="153" name="Shape 151"/>
          <p:cNvSpPr/>
          <p:nvPr/>
        </p:nvSpPr>
        <p:spPr>
          <a:xfrm>
            <a:off x="2999232" y="5824728"/>
            <a:ext cx="2240280" cy="365760"/>
          </a:xfrm>
          <a:prstGeom prst="rect">
            <a:avLst/>
          </a:prstGeom>
          <a:solidFill>
            <a:srgbClr val="FBFCFD"/>
          </a:solidFill>
          <a:ln w="5715">
            <a:solidFill>
              <a:srgbClr val="DDE4E8"/>
            </a:solidFill>
            <a:prstDash val="solid"/>
          </a:ln>
        </p:spPr>
      </p:sp>
      <p:sp>
        <p:nvSpPr>
          <p:cNvPr id="154" name="Text 152"/>
          <p:cNvSpPr/>
          <p:nvPr/>
        </p:nvSpPr>
        <p:spPr>
          <a:xfrm>
            <a:off x="3026664" y="58933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112.36 / 179.33</a:t>
            </a:r>
            <a:endParaRPr lang="en-US" sz="860" dirty="0"/>
          </a:p>
        </p:txBody>
      </p:sp>
      <p:sp>
        <p:nvSpPr>
          <p:cNvPr id="155" name="Shape 153"/>
          <p:cNvSpPr/>
          <p:nvPr/>
        </p:nvSpPr>
        <p:spPr>
          <a:xfrm>
            <a:off x="5239512" y="5824728"/>
            <a:ext cx="2240280" cy="365760"/>
          </a:xfrm>
          <a:prstGeom prst="rect">
            <a:avLst/>
          </a:prstGeom>
          <a:solidFill>
            <a:srgbClr val="FBFCFD"/>
          </a:solidFill>
          <a:ln w="5715">
            <a:solidFill>
              <a:srgbClr val="DDE4E8"/>
            </a:solidFill>
            <a:prstDash val="solid"/>
          </a:ln>
        </p:spPr>
      </p:sp>
      <p:sp>
        <p:nvSpPr>
          <p:cNvPr id="156" name="Text 154"/>
          <p:cNvSpPr/>
          <p:nvPr/>
        </p:nvSpPr>
        <p:spPr>
          <a:xfrm>
            <a:off x="5266944" y="58933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130.59 / 289.22</a:t>
            </a:r>
            <a:endParaRPr lang="en-US" sz="860" dirty="0"/>
          </a:p>
        </p:txBody>
      </p:sp>
      <p:sp>
        <p:nvSpPr>
          <p:cNvPr id="157" name="Shape 155"/>
          <p:cNvSpPr/>
          <p:nvPr/>
        </p:nvSpPr>
        <p:spPr>
          <a:xfrm>
            <a:off x="7479792" y="5824728"/>
            <a:ext cx="2240280" cy="365760"/>
          </a:xfrm>
          <a:prstGeom prst="rect">
            <a:avLst/>
          </a:prstGeom>
          <a:solidFill>
            <a:srgbClr val="EEF8F8"/>
          </a:solidFill>
          <a:ln w="5715">
            <a:solidFill>
              <a:srgbClr val="DDE4E8"/>
            </a:solidFill>
            <a:prstDash val="solid"/>
          </a:ln>
        </p:spPr>
      </p:sp>
      <p:sp>
        <p:nvSpPr>
          <p:cNvPr id="158" name="Text 156"/>
          <p:cNvSpPr/>
          <p:nvPr/>
        </p:nvSpPr>
        <p:spPr>
          <a:xfrm>
            <a:off x="7507224" y="5893308"/>
            <a:ext cx="2185416" cy="182880"/>
          </a:xfrm>
          <a:prstGeom prst="rect">
            <a:avLst/>
          </a:prstGeom>
          <a:noFill/>
          <a:ln/>
        </p:spPr>
        <p:txBody>
          <a:bodyPr wrap="square" lIns="0" tIns="0" rIns="0" bIns="0" rtlCol="0" anchor="ctr">
            <a:normAutofit/>
          </a:bodyPr>
          <a:lstStyle/>
          <a:p>
            <a:pPr algn="ctr" indent="0" marL="0">
              <a:buNone/>
            </a:pPr>
            <a:r>
              <a:rPr lang="en-US" sz="860" dirty="0">
                <a:solidFill>
                  <a:srgbClr val="068A95"/>
                </a:solidFill>
                <a:latin typeface="Arial" pitchFamily="34" charset="0"/>
                <a:ea typeface="Arial" pitchFamily="34" charset="-122"/>
                <a:cs typeface="Arial" pitchFamily="34" charset="-120"/>
              </a:rPr>
              <a:t>85.13 / 190.59</a:t>
            </a:r>
            <a:endParaRPr lang="en-US" sz="860" dirty="0"/>
          </a:p>
        </p:txBody>
      </p:sp>
      <p:sp>
        <p:nvSpPr>
          <p:cNvPr id="159" name="Shape 157"/>
          <p:cNvSpPr/>
          <p:nvPr/>
        </p:nvSpPr>
        <p:spPr>
          <a:xfrm>
            <a:off x="9720072" y="5824728"/>
            <a:ext cx="1005840" cy="365760"/>
          </a:xfrm>
          <a:prstGeom prst="rect">
            <a:avLst/>
          </a:prstGeom>
          <a:solidFill>
            <a:srgbClr val="FBFCFD"/>
          </a:solidFill>
          <a:ln w="5715">
            <a:solidFill>
              <a:srgbClr val="DDE4E8"/>
            </a:solidFill>
            <a:prstDash val="solid"/>
          </a:ln>
        </p:spPr>
      </p:sp>
      <p:sp>
        <p:nvSpPr>
          <p:cNvPr id="160" name="Text 158"/>
          <p:cNvSpPr/>
          <p:nvPr/>
        </p:nvSpPr>
        <p:spPr>
          <a:xfrm>
            <a:off x="9747504" y="5893308"/>
            <a:ext cx="950976" cy="182880"/>
          </a:xfrm>
          <a:prstGeom prst="rect">
            <a:avLst/>
          </a:prstGeom>
          <a:noFill/>
          <a:ln/>
        </p:spPr>
        <p:txBody>
          <a:bodyPr wrap="square" lIns="0" tIns="0" rIns="0" bIns="0" rtlCol="0" anchor="ctr">
            <a:normAutofit/>
          </a:bodyPr>
          <a:lstStyle/>
          <a:p>
            <a:pPr algn="ctr" indent="0" marL="0">
              <a:buNone/>
            </a:pPr>
            <a:r>
              <a:rPr lang="en-US" sz="860" dirty="0">
                <a:solidFill>
                  <a:srgbClr val="20313F"/>
                </a:solidFill>
                <a:latin typeface="Arial" pitchFamily="34" charset="0"/>
                <a:ea typeface="Arial" pitchFamily="34" charset="-122"/>
                <a:cs typeface="Arial" pitchFamily="34" charset="-120"/>
              </a:rPr>
              <a:t>3,827</a:t>
            </a:r>
            <a:endParaRPr lang="en-US" sz="860" dirty="0"/>
          </a:p>
        </p:txBody>
      </p:sp>
      <p:sp>
        <p:nvSpPr>
          <p:cNvPr id="161" name="Text 159"/>
          <p:cNvSpPr/>
          <p:nvPr/>
        </p:nvSpPr>
        <p:spPr>
          <a:xfrm>
            <a:off x="786384" y="6236208"/>
            <a:ext cx="10424160" cy="164592"/>
          </a:xfrm>
          <a:prstGeom prst="rect">
            <a:avLst/>
          </a:prstGeom>
          <a:noFill/>
          <a:ln/>
        </p:spPr>
        <p:txBody>
          <a:bodyPr wrap="square" lIns="0" tIns="0" rIns="0" bIns="0" rtlCol="0" anchor="ctr">
            <a:normAutofit/>
          </a:bodyPr>
          <a:lstStyle/>
          <a:p>
            <a:pPr algn="ctr" indent="0" marL="0">
              <a:buNone/>
            </a:pPr>
            <a:r>
              <a:rPr lang="en-US" sz="820" dirty="0">
                <a:solidFill>
                  <a:srgbClr val="6F7E89"/>
                </a:solidFill>
                <a:latin typeface="Arial" pitchFamily="34" charset="0"/>
                <a:ea typeface="Arial" pitchFamily="34" charset="-122"/>
                <a:cs typeface="Arial" pitchFamily="34" charset="-120"/>
              </a:rPr>
              <a:t>Each method entry is MAE / RMSE. Q&amp;A reference table; descriptive rankings only.</a:t>
            </a:r>
            <a:endParaRPr lang="en-US" sz="82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A5</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Failure and raw-negative rates</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Different denominators answer different questions</a:t>
            </a:r>
            <a:endParaRPr lang="en-US" sz="1070" dirty="0"/>
          </a:p>
        </p:txBody>
      </p:sp>
      <p:sp>
        <p:nvSpPr>
          <p:cNvPr id="5" name="Text 3"/>
          <p:cNvSpPr/>
          <p:nvPr/>
        </p:nvSpPr>
        <p:spPr>
          <a:xfrm>
            <a:off x="640080" y="1481328"/>
            <a:ext cx="3291840" cy="164592"/>
          </a:xfrm>
          <a:prstGeom prst="rect">
            <a:avLst/>
          </a:prstGeom>
          <a:noFill/>
          <a:ln/>
        </p:spPr>
        <p:txBody>
          <a:bodyPr wrap="square" lIns="0" tIns="0" rIns="0" bIns="0" rtlCol="0" anchor="ctr">
            <a:normAutofit/>
          </a:bodyPr>
          <a:lstStyle/>
          <a:p>
            <a:pPr algn="l" indent="0" marL="0">
              <a:buNone/>
            </a:pPr>
            <a:r>
              <a:rPr lang="en-US" sz="750" b="1" dirty="0">
                <a:solidFill>
                  <a:srgbClr val="C8902F"/>
                </a:solidFill>
                <a:latin typeface="Arial" pitchFamily="34" charset="0"/>
                <a:ea typeface="Arial" pitchFamily="34" charset="-122"/>
                <a:cs typeface="Arial" pitchFamily="34" charset="-120"/>
              </a:rPr>
              <a:t>FAILURE RATE · ALL DESIGN-ELIGIBLE DAYS</a:t>
            </a:r>
            <a:endParaRPr lang="en-US" sz="750" dirty="0"/>
          </a:p>
        </p:txBody>
      </p:sp>
      <p:sp>
        <p:nvSpPr>
          <p:cNvPr id="6" name="Shape 4"/>
          <p:cNvSpPr/>
          <p:nvPr/>
        </p:nvSpPr>
        <p:spPr>
          <a:xfrm>
            <a:off x="658368" y="1783080"/>
            <a:ext cx="1097280" cy="384048"/>
          </a:xfrm>
          <a:prstGeom prst="rect">
            <a:avLst/>
          </a:prstGeom>
          <a:solidFill>
            <a:srgbClr val="0B2A45"/>
          </a:solidFill>
          <a:ln w="6350">
            <a:solidFill>
              <a:srgbClr val="FFFFFF"/>
            </a:solidFill>
            <a:prstDash val="solid"/>
          </a:ln>
        </p:spPr>
      </p:sp>
      <p:sp>
        <p:nvSpPr>
          <p:cNvPr id="7" name="Text 5"/>
          <p:cNvSpPr/>
          <p:nvPr/>
        </p:nvSpPr>
        <p:spPr>
          <a:xfrm>
            <a:off x="694944" y="1865376"/>
            <a:ext cx="102412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Method</a:t>
            </a:r>
            <a:endParaRPr lang="en-US" sz="880" dirty="0"/>
          </a:p>
        </p:txBody>
      </p:sp>
      <p:sp>
        <p:nvSpPr>
          <p:cNvPr id="8" name="Shape 6"/>
          <p:cNvSpPr/>
          <p:nvPr/>
        </p:nvSpPr>
        <p:spPr>
          <a:xfrm>
            <a:off x="1755648" y="1783080"/>
            <a:ext cx="1417320" cy="384048"/>
          </a:xfrm>
          <a:prstGeom prst="rect">
            <a:avLst/>
          </a:prstGeom>
          <a:solidFill>
            <a:srgbClr val="0B2A45"/>
          </a:solidFill>
          <a:ln w="6350">
            <a:solidFill>
              <a:srgbClr val="FFFFFF"/>
            </a:solidFill>
            <a:prstDash val="solid"/>
          </a:ln>
        </p:spPr>
      </p:sp>
      <p:sp>
        <p:nvSpPr>
          <p:cNvPr id="9" name="Text 7"/>
          <p:cNvSpPr/>
          <p:nvPr/>
        </p:nvSpPr>
        <p:spPr>
          <a:xfrm>
            <a:off x="1792224" y="1865376"/>
            <a:ext cx="134416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Undefined N</a:t>
            </a:r>
            <a:endParaRPr lang="en-US" sz="880" dirty="0"/>
          </a:p>
        </p:txBody>
      </p:sp>
      <p:sp>
        <p:nvSpPr>
          <p:cNvPr id="10" name="Shape 8"/>
          <p:cNvSpPr/>
          <p:nvPr/>
        </p:nvSpPr>
        <p:spPr>
          <a:xfrm>
            <a:off x="3172968" y="1783080"/>
            <a:ext cx="1417320" cy="384048"/>
          </a:xfrm>
          <a:prstGeom prst="rect">
            <a:avLst/>
          </a:prstGeom>
          <a:solidFill>
            <a:srgbClr val="0B2A45"/>
          </a:solidFill>
          <a:ln w="6350">
            <a:solidFill>
              <a:srgbClr val="FFFFFF"/>
            </a:solidFill>
            <a:prstDash val="solid"/>
          </a:ln>
        </p:spPr>
      </p:sp>
      <p:sp>
        <p:nvSpPr>
          <p:cNvPr id="11" name="Text 9"/>
          <p:cNvSpPr/>
          <p:nvPr/>
        </p:nvSpPr>
        <p:spPr>
          <a:xfrm>
            <a:off x="3209544" y="1865376"/>
            <a:ext cx="134416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Design N</a:t>
            </a:r>
            <a:endParaRPr lang="en-US" sz="880" dirty="0"/>
          </a:p>
        </p:txBody>
      </p:sp>
      <p:sp>
        <p:nvSpPr>
          <p:cNvPr id="12" name="Shape 10"/>
          <p:cNvSpPr/>
          <p:nvPr/>
        </p:nvSpPr>
        <p:spPr>
          <a:xfrm>
            <a:off x="4590288" y="1783080"/>
            <a:ext cx="1325880" cy="384048"/>
          </a:xfrm>
          <a:prstGeom prst="rect">
            <a:avLst/>
          </a:prstGeom>
          <a:solidFill>
            <a:srgbClr val="0B2A45"/>
          </a:solidFill>
          <a:ln w="6350">
            <a:solidFill>
              <a:srgbClr val="FFFFFF"/>
            </a:solidFill>
            <a:prstDash val="solid"/>
          </a:ln>
        </p:spPr>
      </p:sp>
      <p:sp>
        <p:nvSpPr>
          <p:cNvPr id="13" name="Text 11"/>
          <p:cNvSpPr/>
          <p:nvPr/>
        </p:nvSpPr>
        <p:spPr>
          <a:xfrm>
            <a:off x="4626864" y="1865376"/>
            <a:ext cx="125272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Failure rate</a:t>
            </a:r>
            <a:endParaRPr lang="en-US" sz="880" dirty="0"/>
          </a:p>
        </p:txBody>
      </p:sp>
      <p:sp>
        <p:nvSpPr>
          <p:cNvPr id="14" name="Shape 12"/>
          <p:cNvSpPr/>
          <p:nvPr/>
        </p:nvSpPr>
        <p:spPr>
          <a:xfrm>
            <a:off x="658368" y="2167128"/>
            <a:ext cx="1097280" cy="502920"/>
          </a:xfrm>
          <a:prstGeom prst="rect">
            <a:avLst/>
          </a:prstGeom>
          <a:solidFill>
            <a:srgbClr val="F3F6F7"/>
          </a:solidFill>
          <a:ln w="5715">
            <a:solidFill>
              <a:srgbClr val="DDE4E8"/>
            </a:solidFill>
            <a:prstDash val="solid"/>
          </a:ln>
        </p:spPr>
      </p:sp>
      <p:sp>
        <p:nvSpPr>
          <p:cNvPr id="15" name="Text 13"/>
          <p:cNvSpPr/>
          <p:nvPr/>
        </p:nvSpPr>
        <p:spPr>
          <a:xfrm>
            <a:off x="694944" y="2304288"/>
            <a:ext cx="1024128" cy="201168"/>
          </a:xfrm>
          <a:prstGeom prst="rect">
            <a:avLst/>
          </a:prstGeom>
          <a:noFill/>
          <a:ln/>
        </p:spPr>
        <p:txBody>
          <a:bodyPr wrap="square" lIns="0" tIns="0" rIns="0" bIns="0" rtlCol="0" anchor="ctr">
            <a:normAutofit/>
          </a:bodyPr>
          <a:lstStyle/>
          <a:p>
            <a:pPr algn="ctr" indent="0" marL="0">
              <a:buNone/>
            </a:pPr>
            <a:r>
              <a:rPr lang="en-US" sz="1000" b="1" dirty="0">
                <a:solidFill>
                  <a:srgbClr val="C8902F"/>
                </a:solidFill>
                <a:latin typeface="Arial" pitchFamily="34" charset="0"/>
                <a:ea typeface="Arial" pitchFamily="34" charset="-122"/>
                <a:cs typeface="Arial" pitchFamily="34" charset="-120"/>
              </a:rPr>
              <a:t>ROLL</a:t>
            </a:r>
            <a:endParaRPr lang="en-US" sz="1000" dirty="0"/>
          </a:p>
        </p:txBody>
      </p:sp>
      <p:sp>
        <p:nvSpPr>
          <p:cNvPr id="16" name="Shape 14"/>
          <p:cNvSpPr/>
          <p:nvPr/>
        </p:nvSpPr>
        <p:spPr>
          <a:xfrm>
            <a:off x="1755648" y="2167128"/>
            <a:ext cx="1417320" cy="502920"/>
          </a:xfrm>
          <a:prstGeom prst="rect">
            <a:avLst/>
          </a:prstGeom>
          <a:solidFill>
            <a:srgbClr val="F3F6F7"/>
          </a:solidFill>
          <a:ln w="5715">
            <a:solidFill>
              <a:srgbClr val="DDE4E8"/>
            </a:solidFill>
            <a:prstDash val="solid"/>
          </a:ln>
        </p:spPr>
      </p:sp>
      <p:sp>
        <p:nvSpPr>
          <p:cNvPr id="17" name="Text 15"/>
          <p:cNvSpPr/>
          <p:nvPr/>
        </p:nvSpPr>
        <p:spPr>
          <a:xfrm>
            <a:off x="1792224" y="230428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13,738</a:t>
            </a:r>
            <a:endParaRPr lang="en-US" sz="1000" dirty="0"/>
          </a:p>
        </p:txBody>
      </p:sp>
      <p:sp>
        <p:nvSpPr>
          <p:cNvPr id="18" name="Shape 16"/>
          <p:cNvSpPr/>
          <p:nvPr/>
        </p:nvSpPr>
        <p:spPr>
          <a:xfrm>
            <a:off x="3172968" y="2167128"/>
            <a:ext cx="1417320" cy="502920"/>
          </a:xfrm>
          <a:prstGeom prst="rect">
            <a:avLst/>
          </a:prstGeom>
          <a:solidFill>
            <a:srgbClr val="F3F6F7"/>
          </a:solidFill>
          <a:ln w="5715">
            <a:solidFill>
              <a:srgbClr val="DDE4E8"/>
            </a:solidFill>
            <a:prstDash val="solid"/>
          </a:ln>
        </p:spPr>
      </p:sp>
      <p:sp>
        <p:nvSpPr>
          <p:cNvPr id="19" name="Text 17"/>
          <p:cNvSpPr/>
          <p:nvPr/>
        </p:nvSpPr>
        <p:spPr>
          <a:xfrm>
            <a:off x="3209544" y="230428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38,232</a:t>
            </a:r>
            <a:endParaRPr lang="en-US" sz="1000" dirty="0"/>
          </a:p>
        </p:txBody>
      </p:sp>
      <p:sp>
        <p:nvSpPr>
          <p:cNvPr id="20" name="Shape 18"/>
          <p:cNvSpPr/>
          <p:nvPr/>
        </p:nvSpPr>
        <p:spPr>
          <a:xfrm>
            <a:off x="4590288" y="2167128"/>
            <a:ext cx="1325880" cy="502920"/>
          </a:xfrm>
          <a:prstGeom prst="rect">
            <a:avLst/>
          </a:prstGeom>
          <a:solidFill>
            <a:srgbClr val="F3F6F7"/>
          </a:solidFill>
          <a:ln w="5715">
            <a:solidFill>
              <a:srgbClr val="DDE4E8"/>
            </a:solidFill>
            <a:prstDash val="solid"/>
          </a:ln>
        </p:spPr>
      </p:sp>
      <p:sp>
        <p:nvSpPr>
          <p:cNvPr id="21" name="Text 19"/>
          <p:cNvSpPr/>
          <p:nvPr/>
        </p:nvSpPr>
        <p:spPr>
          <a:xfrm>
            <a:off x="4626864" y="2304288"/>
            <a:ext cx="125272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35.93%</a:t>
            </a:r>
            <a:endParaRPr lang="en-US" sz="1000" dirty="0"/>
          </a:p>
        </p:txBody>
      </p:sp>
      <p:sp>
        <p:nvSpPr>
          <p:cNvPr id="22" name="Shape 20"/>
          <p:cNvSpPr/>
          <p:nvPr/>
        </p:nvSpPr>
        <p:spPr>
          <a:xfrm>
            <a:off x="658368" y="2670048"/>
            <a:ext cx="1097280" cy="502920"/>
          </a:xfrm>
          <a:prstGeom prst="rect">
            <a:avLst/>
          </a:prstGeom>
          <a:solidFill>
            <a:srgbClr val="FBFCFD"/>
          </a:solidFill>
          <a:ln w="5715">
            <a:solidFill>
              <a:srgbClr val="DDE4E8"/>
            </a:solidFill>
            <a:prstDash val="solid"/>
          </a:ln>
        </p:spPr>
      </p:sp>
      <p:sp>
        <p:nvSpPr>
          <p:cNvPr id="23" name="Text 21"/>
          <p:cNvSpPr/>
          <p:nvPr/>
        </p:nvSpPr>
        <p:spPr>
          <a:xfrm>
            <a:off x="694944" y="2807208"/>
            <a:ext cx="1024128" cy="201168"/>
          </a:xfrm>
          <a:prstGeom prst="rect">
            <a:avLst/>
          </a:prstGeom>
          <a:noFill/>
          <a:ln/>
        </p:spPr>
        <p:txBody>
          <a:bodyPr wrap="square" lIns="0" tIns="0" rIns="0" bIns="0" rtlCol="0" anchor="ctr">
            <a:normAutofit/>
          </a:bodyPr>
          <a:lstStyle/>
          <a:p>
            <a:pPr algn="ctr" indent="0" marL="0">
              <a:buNone/>
            </a:pPr>
            <a:r>
              <a:rPr lang="en-US" sz="1000" b="1" dirty="0">
                <a:solidFill>
                  <a:srgbClr val="2F5D7C"/>
                </a:solidFill>
                <a:latin typeface="Arial" pitchFamily="34" charset="0"/>
                <a:ea typeface="Arial" pitchFamily="34" charset="-122"/>
                <a:cs typeface="Arial" pitchFamily="34" charset="-120"/>
              </a:rPr>
              <a:t>CS</a:t>
            </a:r>
            <a:endParaRPr lang="en-US" sz="1000" dirty="0"/>
          </a:p>
        </p:txBody>
      </p:sp>
      <p:sp>
        <p:nvSpPr>
          <p:cNvPr id="24" name="Shape 22"/>
          <p:cNvSpPr/>
          <p:nvPr/>
        </p:nvSpPr>
        <p:spPr>
          <a:xfrm>
            <a:off x="1755648" y="2670048"/>
            <a:ext cx="1417320" cy="502920"/>
          </a:xfrm>
          <a:prstGeom prst="rect">
            <a:avLst/>
          </a:prstGeom>
          <a:solidFill>
            <a:srgbClr val="FBFCFD"/>
          </a:solidFill>
          <a:ln w="5715">
            <a:solidFill>
              <a:srgbClr val="DDE4E8"/>
            </a:solidFill>
            <a:prstDash val="solid"/>
          </a:ln>
        </p:spPr>
      </p:sp>
      <p:sp>
        <p:nvSpPr>
          <p:cNvPr id="25" name="Text 23"/>
          <p:cNvSpPr/>
          <p:nvPr/>
        </p:nvSpPr>
        <p:spPr>
          <a:xfrm>
            <a:off x="1792224" y="280720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524</a:t>
            </a:r>
            <a:endParaRPr lang="en-US" sz="1000" dirty="0"/>
          </a:p>
        </p:txBody>
      </p:sp>
      <p:sp>
        <p:nvSpPr>
          <p:cNvPr id="26" name="Shape 24"/>
          <p:cNvSpPr/>
          <p:nvPr/>
        </p:nvSpPr>
        <p:spPr>
          <a:xfrm>
            <a:off x="3172968" y="2670048"/>
            <a:ext cx="1417320" cy="502920"/>
          </a:xfrm>
          <a:prstGeom prst="rect">
            <a:avLst/>
          </a:prstGeom>
          <a:solidFill>
            <a:srgbClr val="FBFCFD"/>
          </a:solidFill>
          <a:ln w="5715">
            <a:solidFill>
              <a:srgbClr val="DDE4E8"/>
            </a:solidFill>
            <a:prstDash val="solid"/>
          </a:ln>
        </p:spPr>
      </p:sp>
      <p:sp>
        <p:nvSpPr>
          <p:cNvPr id="27" name="Text 25"/>
          <p:cNvSpPr/>
          <p:nvPr/>
        </p:nvSpPr>
        <p:spPr>
          <a:xfrm>
            <a:off x="3209544" y="280720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38,232</a:t>
            </a:r>
            <a:endParaRPr lang="en-US" sz="1000" dirty="0"/>
          </a:p>
        </p:txBody>
      </p:sp>
      <p:sp>
        <p:nvSpPr>
          <p:cNvPr id="28" name="Shape 26"/>
          <p:cNvSpPr/>
          <p:nvPr/>
        </p:nvSpPr>
        <p:spPr>
          <a:xfrm>
            <a:off x="4590288" y="2670048"/>
            <a:ext cx="1325880" cy="502920"/>
          </a:xfrm>
          <a:prstGeom prst="rect">
            <a:avLst/>
          </a:prstGeom>
          <a:solidFill>
            <a:srgbClr val="FBFCFD"/>
          </a:solidFill>
          <a:ln w="5715">
            <a:solidFill>
              <a:srgbClr val="DDE4E8"/>
            </a:solidFill>
            <a:prstDash val="solid"/>
          </a:ln>
        </p:spPr>
      </p:sp>
      <p:sp>
        <p:nvSpPr>
          <p:cNvPr id="29" name="Text 27"/>
          <p:cNvSpPr/>
          <p:nvPr/>
        </p:nvSpPr>
        <p:spPr>
          <a:xfrm>
            <a:off x="4626864" y="2807208"/>
            <a:ext cx="125272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1.37%</a:t>
            </a:r>
            <a:endParaRPr lang="en-US" sz="1000" dirty="0"/>
          </a:p>
        </p:txBody>
      </p:sp>
      <p:sp>
        <p:nvSpPr>
          <p:cNvPr id="30" name="Shape 28"/>
          <p:cNvSpPr/>
          <p:nvPr/>
        </p:nvSpPr>
        <p:spPr>
          <a:xfrm>
            <a:off x="658368" y="3172968"/>
            <a:ext cx="1097280" cy="502920"/>
          </a:xfrm>
          <a:prstGeom prst="rect">
            <a:avLst/>
          </a:prstGeom>
          <a:solidFill>
            <a:srgbClr val="F3F6F7"/>
          </a:solidFill>
          <a:ln w="5715">
            <a:solidFill>
              <a:srgbClr val="DDE4E8"/>
            </a:solidFill>
            <a:prstDash val="solid"/>
          </a:ln>
        </p:spPr>
      </p:sp>
      <p:sp>
        <p:nvSpPr>
          <p:cNvPr id="31" name="Text 29"/>
          <p:cNvSpPr/>
          <p:nvPr/>
        </p:nvSpPr>
        <p:spPr>
          <a:xfrm>
            <a:off x="694944" y="3310128"/>
            <a:ext cx="1024128" cy="201168"/>
          </a:xfrm>
          <a:prstGeom prst="rect">
            <a:avLst/>
          </a:prstGeom>
          <a:noFill/>
          <a:ln/>
        </p:spPr>
        <p:txBody>
          <a:bodyPr wrap="square" lIns="0" tIns="0" rIns="0" bIns="0" rtlCol="0" anchor="ctr">
            <a:normAutofit/>
          </a:bodyPr>
          <a:lstStyle/>
          <a:p>
            <a:pPr algn="ctr" indent="0" marL="0">
              <a:buNone/>
            </a:pPr>
            <a:r>
              <a:rPr lang="en-US" sz="1000" b="1" dirty="0">
                <a:solidFill>
                  <a:srgbClr val="74828C"/>
                </a:solidFill>
                <a:latin typeface="Arial" pitchFamily="34" charset="0"/>
                <a:ea typeface="Arial" pitchFamily="34" charset="-122"/>
                <a:cs typeface="Arial" pitchFamily="34" charset="-120"/>
              </a:rPr>
              <a:t>AR</a:t>
            </a:r>
            <a:endParaRPr lang="en-US" sz="1000" dirty="0"/>
          </a:p>
        </p:txBody>
      </p:sp>
      <p:sp>
        <p:nvSpPr>
          <p:cNvPr id="32" name="Shape 30"/>
          <p:cNvSpPr/>
          <p:nvPr/>
        </p:nvSpPr>
        <p:spPr>
          <a:xfrm>
            <a:off x="1755648" y="3172968"/>
            <a:ext cx="1417320" cy="502920"/>
          </a:xfrm>
          <a:prstGeom prst="rect">
            <a:avLst/>
          </a:prstGeom>
          <a:solidFill>
            <a:srgbClr val="F3F6F7"/>
          </a:solidFill>
          <a:ln w="5715">
            <a:solidFill>
              <a:srgbClr val="DDE4E8"/>
            </a:solidFill>
            <a:prstDash val="solid"/>
          </a:ln>
        </p:spPr>
      </p:sp>
      <p:sp>
        <p:nvSpPr>
          <p:cNvPr id="33" name="Text 31"/>
          <p:cNvSpPr/>
          <p:nvPr/>
        </p:nvSpPr>
        <p:spPr>
          <a:xfrm>
            <a:off x="1792224" y="331012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96</a:t>
            </a:r>
            <a:endParaRPr lang="en-US" sz="1000" dirty="0"/>
          </a:p>
        </p:txBody>
      </p:sp>
      <p:sp>
        <p:nvSpPr>
          <p:cNvPr id="34" name="Shape 32"/>
          <p:cNvSpPr/>
          <p:nvPr/>
        </p:nvSpPr>
        <p:spPr>
          <a:xfrm>
            <a:off x="3172968" y="3172968"/>
            <a:ext cx="1417320" cy="502920"/>
          </a:xfrm>
          <a:prstGeom prst="rect">
            <a:avLst/>
          </a:prstGeom>
          <a:solidFill>
            <a:srgbClr val="F3F6F7"/>
          </a:solidFill>
          <a:ln w="5715">
            <a:solidFill>
              <a:srgbClr val="DDE4E8"/>
            </a:solidFill>
            <a:prstDash val="solid"/>
          </a:ln>
        </p:spPr>
      </p:sp>
      <p:sp>
        <p:nvSpPr>
          <p:cNvPr id="35" name="Text 33"/>
          <p:cNvSpPr/>
          <p:nvPr/>
        </p:nvSpPr>
        <p:spPr>
          <a:xfrm>
            <a:off x="3209544" y="331012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38,232</a:t>
            </a:r>
            <a:endParaRPr lang="en-US" sz="1000" dirty="0"/>
          </a:p>
        </p:txBody>
      </p:sp>
      <p:sp>
        <p:nvSpPr>
          <p:cNvPr id="36" name="Shape 34"/>
          <p:cNvSpPr/>
          <p:nvPr/>
        </p:nvSpPr>
        <p:spPr>
          <a:xfrm>
            <a:off x="4590288" y="3172968"/>
            <a:ext cx="1325880" cy="502920"/>
          </a:xfrm>
          <a:prstGeom prst="rect">
            <a:avLst/>
          </a:prstGeom>
          <a:solidFill>
            <a:srgbClr val="F3F6F7"/>
          </a:solidFill>
          <a:ln w="5715">
            <a:solidFill>
              <a:srgbClr val="DDE4E8"/>
            </a:solidFill>
            <a:prstDash val="solid"/>
          </a:ln>
        </p:spPr>
      </p:sp>
      <p:sp>
        <p:nvSpPr>
          <p:cNvPr id="37" name="Text 35"/>
          <p:cNvSpPr/>
          <p:nvPr/>
        </p:nvSpPr>
        <p:spPr>
          <a:xfrm>
            <a:off x="4626864" y="3310128"/>
            <a:ext cx="125272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0.25%</a:t>
            </a:r>
            <a:endParaRPr lang="en-US" sz="1000" dirty="0"/>
          </a:p>
        </p:txBody>
      </p:sp>
      <p:sp>
        <p:nvSpPr>
          <p:cNvPr id="38" name="Shape 36"/>
          <p:cNvSpPr/>
          <p:nvPr/>
        </p:nvSpPr>
        <p:spPr>
          <a:xfrm>
            <a:off x="658368" y="3675888"/>
            <a:ext cx="1097280" cy="502920"/>
          </a:xfrm>
          <a:prstGeom prst="rect">
            <a:avLst/>
          </a:prstGeom>
          <a:solidFill>
            <a:srgbClr val="FBFCFD"/>
          </a:solidFill>
          <a:ln w="5715">
            <a:solidFill>
              <a:srgbClr val="DDE4E8"/>
            </a:solidFill>
            <a:prstDash val="solid"/>
          </a:ln>
        </p:spPr>
      </p:sp>
      <p:sp>
        <p:nvSpPr>
          <p:cNvPr id="39" name="Text 37"/>
          <p:cNvSpPr/>
          <p:nvPr/>
        </p:nvSpPr>
        <p:spPr>
          <a:xfrm>
            <a:off x="694944" y="3813048"/>
            <a:ext cx="1024128" cy="201168"/>
          </a:xfrm>
          <a:prstGeom prst="rect">
            <a:avLst/>
          </a:prstGeom>
          <a:noFill/>
          <a:ln/>
        </p:spPr>
        <p:txBody>
          <a:bodyPr wrap="square" lIns="0" tIns="0" rIns="0" bIns="0" rtlCol="0" anchor="ctr">
            <a:normAutofit/>
          </a:bodyPr>
          <a:lstStyle/>
          <a:p>
            <a:pPr algn="ctr" indent="0" marL="0">
              <a:buNone/>
            </a:pPr>
            <a:r>
              <a:rPr lang="en-US" sz="1000" b="1" dirty="0">
                <a:solidFill>
                  <a:srgbClr val="068A95"/>
                </a:solidFill>
                <a:latin typeface="Arial" pitchFamily="34" charset="0"/>
                <a:ea typeface="Arial" pitchFamily="34" charset="-122"/>
                <a:cs typeface="Arial" pitchFamily="34" charset="-120"/>
              </a:rPr>
              <a:t>EDGE</a:t>
            </a:r>
            <a:endParaRPr lang="en-US" sz="1000" dirty="0"/>
          </a:p>
        </p:txBody>
      </p:sp>
      <p:sp>
        <p:nvSpPr>
          <p:cNvPr id="40" name="Shape 38"/>
          <p:cNvSpPr/>
          <p:nvPr/>
        </p:nvSpPr>
        <p:spPr>
          <a:xfrm>
            <a:off x="1755648" y="3675888"/>
            <a:ext cx="1417320" cy="502920"/>
          </a:xfrm>
          <a:prstGeom prst="rect">
            <a:avLst/>
          </a:prstGeom>
          <a:solidFill>
            <a:srgbClr val="FBFCFD"/>
          </a:solidFill>
          <a:ln w="5715">
            <a:solidFill>
              <a:srgbClr val="DDE4E8"/>
            </a:solidFill>
            <a:prstDash val="solid"/>
          </a:ln>
        </p:spPr>
      </p:sp>
      <p:sp>
        <p:nvSpPr>
          <p:cNvPr id="41" name="Text 39"/>
          <p:cNvSpPr/>
          <p:nvPr/>
        </p:nvSpPr>
        <p:spPr>
          <a:xfrm>
            <a:off x="1792224" y="381304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231</a:t>
            </a:r>
            <a:endParaRPr lang="en-US" sz="1000" dirty="0"/>
          </a:p>
        </p:txBody>
      </p:sp>
      <p:sp>
        <p:nvSpPr>
          <p:cNvPr id="42" name="Shape 40"/>
          <p:cNvSpPr/>
          <p:nvPr/>
        </p:nvSpPr>
        <p:spPr>
          <a:xfrm>
            <a:off x="3172968" y="3675888"/>
            <a:ext cx="1417320" cy="502920"/>
          </a:xfrm>
          <a:prstGeom prst="rect">
            <a:avLst/>
          </a:prstGeom>
          <a:solidFill>
            <a:srgbClr val="FBFCFD"/>
          </a:solidFill>
          <a:ln w="5715">
            <a:solidFill>
              <a:srgbClr val="DDE4E8"/>
            </a:solidFill>
            <a:prstDash val="solid"/>
          </a:ln>
        </p:spPr>
      </p:sp>
      <p:sp>
        <p:nvSpPr>
          <p:cNvPr id="43" name="Text 41"/>
          <p:cNvSpPr/>
          <p:nvPr/>
        </p:nvSpPr>
        <p:spPr>
          <a:xfrm>
            <a:off x="3209544" y="381304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38,232</a:t>
            </a:r>
            <a:endParaRPr lang="en-US" sz="1000" dirty="0"/>
          </a:p>
        </p:txBody>
      </p:sp>
      <p:sp>
        <p:nvSpPr>
          <p:cNvPr id="44" name="Shape 42"/>
          <p:cNvSpPr/>
          <p:nvPr/>
        </p:nvSpPr>
        <p:spPr>
          <a:xfrm>
            <a:off x="4590288" y="3675888"/>
            <a:ext cx="1325880" cy="502920"/>
          </a:xfrm>
          <a:prstGeom prst="rect">
            <a:avLst/>
          </a:prstGeom>
          <a:solidFill>
            <a:srgbClr val="FBFCFD"/>
          </a:solidFill>
          <a:ln w="5715">
            <a:solidFill>
              <a:srgbClr val="DDE4E8"/>
            </a:solidFill>
            <a:prstDash val="solid"/>
          </a:ln>
        </p:spPr>
      </p:sp>
      <p:sp>
        <p:nvSpPr>
          <p:cNvPr id="45" name="Text 43"/>
          <p:cNvSpPr/>
          <p:nvPr/>
        </p:nvSpPr>
        <p:spPr>
          <a:xfrm>
            <a:off x="4626864" y="3813048"/>
            <a:ext cx="125272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0.60%</a:t>
            </a:r>
            <a:endParaRPr lang="en-US" sz="1000" dirty="0"/>
          </a:p>
        </p:txBody>
      </p:sp>
      <p:sp>
        <p:nvSpPr>
          <p:cNvPr id="46" name="Text 44"/>
          <p:cNvSpPr/>
          <p:nvPr/>
        </p:nvSpPr>
        <p:spPr>
          <a:xfrm>
            <a:off x="6272784" y="1481328"/>
            <a:ext cx="36576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RAW-NEGATIVE RATE · FINITE RAW-COMPUTABLE DAYS</a:t>
            </a:r>
            <a:endParaRPr lang="en-US" sz="750" dirty="0"/>
          </a:p>
        </p:txBody>
      </p:sp>
      <p:sp>
        <p:nvSpPr>
          <p:cNvPr id="47" name="Shape 45"/>
          <p:cNvSpPr/>
          <p:nvPr/>
        </p:nvSpPr>
        <p:spPr>
          <a:xfrm>
            <a:off x="6291072" y="1783080"/>
            <a:ext cx="1051560" cy="384048"/>
          </a:xfrm>
          <a:prstGeom prst="rect">
            <a:avLst/>
          </a:prstGeom>
          <a:solidFill>
            <a:srgbClr val="0B2A45"/>
          </a:solidFill>
          <a:ln w="6350">
            <a:solidFill>
              <a:srgbClr val="FFFFFF"/>
            </a:solidFill>
            <a:prstDash val="solid"/>
          </a:ln>
        </p:spPr>
      </p:sp>
      <p:sp>
        <p:nvSpPr>
          <p:cNvPr id="48" name="Text 46"/>
          <p:cNvSpPr/>
          <p:nvPr/>
        </p:nvSpPr>
        <p:spPr>
          <a:xfrm>
            <a:off x="6327648" y="1865376"/>
            <a:ext cx="97840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Method</a:t>
            </a:r>
            <a:endParaRPr lang="en-US" sz="880" dirty="0"/>
          </a:p>
        </p:txBody>
      </p:sp>
      <p:sp>
        <p:nvSpPr>
          <p:cNvPr id="49" name="Shape 47"/>
          <p:cNvSpPr/>
          <p:nvPr/>
        </p:nvSpPr>
        <p:spPr>
          <a:xfrm>
            <a:off x="7342632" y="1783080"/>
            <a:ext cx="1417320" cy="384048"/>
          </a:xfrm>
          <a:prstGeom prst="rect">
            <a:avLst/>
          </a:prstGeom>
          <a:solidFill>
            <a:srgbClr val="0B2A45"/>
          </a:solidFill>
          <a:ln w="6350">
            <a:solidFill>
              <a:srgbClr val="FFFFFF"/>
            </a:solidFill>
            <a:prstDash val="solid"/>
          </a:ln>
        </p:spPr>
      </p:sp>
      <p:sp>
        <p:nvSpPr>
          <p:cNvPr id="50" name="Text 48"/>
          <p:cNvSpPr/>
          <p:nvPr/>
        </p:nvSpPr>
        <p:spPr>
          <a:xfrm>
            <a:off x="7379208" y="1865376"/>
            <a:ext cx="134416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Negative N</a:t>
            </a:r>
            <a:endParaRPr lang="en-US" sz="880" dirty="0"/>
          </a:p>
        </p:txBody>
      </p:sp>
      <p:sp>
        <p:nvSpPr>
          <p:cNvPr id="51" name="Shape 49"/>
          <p:cNvSpPr/>
          <p:nvPr/>
        </p:nvSpPr>
        <p:spPr>
          <a:xfrm>
            <a:off x="8759952" y="1783080"/>
            <a:ext cx="1874520" cy="384048"/>
          </a:xfrm>
          <a:prstGeom prst="rect">
            <a:avLst/>
          </a:prstGeom>
          <a:solidFill>
            <a:srgbClr val="0B2A45"/>
          </a:solidFill>
          <a:ln w="6350">
            <a:solidFill>
              <a:srgbClr val="FFFFFF"/>
            </a:solidFill>
            <a:prstDash val="solid"/>
          </a:ln>
        </p:spPr>
      </p:sp>
      <p:sp>
        <p:nvSpPr>
          <p:cNvPr id="52" name="Text 50"/>
          <p:cNvSpPr/>
          <p:nvPr/>
        </p:nvSpPr>
        <p:spPr>
          <a:xfrm>
            <a:off x="8796528" y="1865376"/>
            <a:ext cx="180136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Raw-computable N</a:t>
            </a:r>
            <a:endParaRPr lang="en-US" sz="880" dirty="0"/>
          </a:p>
        </p:txBody>
      </p:sp>
      <p:sp>
        <p:nvSpPr>
          <p:cNvPr id="53" name="Shape 51"/>
          <p:cNvSpPr/>
          <p:nvPr/>
        </p:nvSpPr>
        <p:spPr>
          <a:xfrm>
            <a:off x="10634472" y="1783080"/>
            <a:ext cx="1188720" cy="384048"/>
          </a:xfrm>
          <a:prstGeom prst="rect">
            <a:avLst/>
          </a:prstGeom>
          <a:solidFill>
            <a:srgbClr val="0B2A45"/>
          </a:solidFill>
          <a:ln w="6350">
            <a:solidFill>
              <a:srgbClr val="FFFFFF"/>
            </a:solidFill>
            <a:prstDash val="solid"/>
          </a:ln>
        </p:spPr>
      </p:sp>
      <p:sp>
        <p:nvSpPr>
          <p:cNvPr id="54" name="Text 52"/>
          <p:cNvSpPr/>
          <p:nvPr/>
        </p:nvSpPr>
        <p:spPr>
          <a:xfrm>
            <a:off x="10671048" y="1865376"/>
            <a:ext cx="1115568" cy="18288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Rate</a:t>
            </a:r>
            <a:endParaRPr lang="en-US" sz="880" dirty="0"/>
          </a:p>
        </p:txBody>
      </p:sp>
      <p:sp>
        <p:nvSpPr>
          <p:cNvPr id="55" name="Shape 53"/>
          <p:cNvSpPr/>
          <p:nvPr/>
        </p:nvSpPr>
        <p:spPr>
          <a:xfrm>
            <a:off x="6291072" y="2167128"/>
            <a:ext cx="1051560" cy="502920"/>
          </a:xfrm>
          <a:prstGeom prst="rect">
            <a:avLst/>
          </a:prstGeom>
          <a:solidFill>
            <a:srgbClr val="F3F6F7"/>
          </a:solidFill>
          <a:ln w="5715">
            <a:solidFill>
              <a:srgbClr val="DDE4E8"/>
            </a:solidFill>
            <a:prstDash val="solid"/>
          </a:ln>
        </p:spPr>
      </p:sp>
      <p:sp>
        <p:nvSpPr>
          <p:cNvPr id="56" name="Text 54"/>
          <p:cNvSpPr/>
          <p:nvPr/>
        </p:nvSpPr>
        <p:spPr>
          <a:xfrm>
            <a:off x="6327648" y="2304288"/>
            <a:ext cx="978408" cy="201168"/>
          </a:xfrm>
          <a:prstGeom prst="rect">
            <a:avLst/>
          </a:prstGeom>
          <a:noFill/>
          <a:ln/>
        </p:spPr>
        <p:txBody>
          <a:bodyPr wrap="square" lIns="0" tIns="0" rIns="0" bIns="0" rtlCol="0" anchor="ctr">
            <a:normAutofit/>
          </a:bodyPr>
          <a:lstStyle/>
          <a:p>
            <a:pPr algn="ctr" indent="0" marL="0">
              <a:buNone/>
            </a:pPr>
            <a:r>
              <a:rPr lang="en-US" sz="1000" b="1" dirty="0">
                <a:solidFill>
                  <a:srgbClr val="2F5D7C"/>
                </a:solidFill>
                <a:latin typeface="Arial" pitchFamily="34" charset="0"/>
                <a:ea typeface="Arial" pitchFamily="34" charset="-122"/>
                <a:cs typeface="Arial" pitchFamily="34" charset="-120"/>
              </a:rPr>
              <a:t>CS</a:t>
            </a:r>
            <a:endParaRPr lang="en-US" sz="1000" dirty="0"/>
          </a:p>
        </p:txBody>
      </p:sp>
      <p:sp>
        <p:nvSpPr>
          <p:cNvPr id="57" name="Shape 55"/>
          <p:cNvSpPr/>
          <p:nvPr/>
        </p:nvSpPr>
        <p:spPr>
          <a:xfrm>
            <a:off x="7342632" y="2167128"/>
            <a:ext cx="1417320" cy="502920"/>
          </a:xfrm>
          <a:prstGeom prst="rect">
            <a:avLst/>
          </a:prstGeom>
          <a:solidFill>
            <a:srgbClr val="F3F6F7"/>
          </a:solidFill>
          <a:ln w="5715">
            <a:solidFill>
              <a:srgbClr val="DDE4E8"/>
            </a:solidFill>
            <a:prstDash val="solid"/>
          </a:ln>
        </p:spPr>
      </p:sp>
      <p:sp>
        <p:nvSpPr>
          <p:cNvPr id="58" name="Text 56"/>
          <p:cNvSpPr/>
          <p:nvPr/>
        </p:nvSpPr>
        <p:spPr>
          <a:xfrm>
            <a:off x="7379208" y="230428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14,942</a:t>
            </a:r>
            <a:endParaRPr lang="en-US" sz="1000" dirty="0"/>
          </a:p>
        </p:txBody>
      </p:sp>
      <p:sp>
        <p:nvSpPr>
          <p:cNvPr id="59" name="Shape 57"/>
          <p:cNvSpPr/>
          <p:nvPr/>
        </p:nvSpPr>
        <p:spPr>
          <a:xfrm>
            <a:off x="8759952" y="2167128"/>
            <a:ext cx="1874520" cy="502920"/>
          </a:xfrm>
          <a:prstGeom prst="rect">
            <a:avLst/>
          </a:prstGeom>
          <a:solidFill>
            <a:srgbClr val="F3F6F7"/>
          </a:solidFill>
          <a:ln w="5715">
            <a:solidFill>
              <a:srgbClr val="DDE4E8"/>
            </a:solidFill>
            <a:prstDash val="solid"/>
          </a:ln>
        </p:spPr>
      </p:sp>
      <p:sp>
        <p:nvSpPr>
          <p:cNvPr id="60" name="Text 58"/>
          <p:cNvSpPr/>
          <p:nvPr/>
        </p:nvSpPr>
        <p:spPr>
          <a:xfrm>
            <a:off x="8796528" y="2304288"/>
            <a:ext cx="18013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37,708</a:t>
            </a:r>
            <a:endParaRPr lang="en-US" sz="1000" dirty="0"/>
          </a:p>
        </p:txBody>
      </p:sp>
      <p:sp>
        <p:nvSpPr>
          <p:cNvPr id="61" name="Shape 59"/>
          <p:cNvSpPr/>
          <p:nvPr/>
        </p:nvSpPr>
        <p:spPr>
          <a:xfrm>
            <a:off x="10634472" y="2167128"/>
            <a:ext cx="1188720" cy="502920"/>
          </a:xfrm>
          <a:prstGeom prst="rect">
            <a:avLst/>
          </a:prstGeom>
          <a:solidFill>
            <a:srgbClr val="F3F6F7"/>
          </a:solidFill>
          <a:ln w="5715">
            <a:solidFill>
              <a:srgbClr val="DDE4E8"/>
            </a:solidFill>
            <a:prstDash val="solid"/>
          </a:ln>
        </p:spPr>
      </p:sp>
      <p:sp>
        <p:nvSpPr>
          <p:cNvPr id="62" name="Text 60"/>
          <p:cNvSpPr/>
          <p:nvPr/>
        </p:nvSpPr>
        <p:spPr>
          <a:xfrm>
            <a:off x="10671048" y="2304288"/>
            <a:ext cx="11155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39.63%</a:t>
            </a:r>
            <a:endParaRPr lang="en-US" sz="1000" dirty="0"/>
          </a:p>
        </p:txBody>
      </p:sp>
      <p:sp>
        <p:nvSpPr>
          <p:cNvPr id="63" name="Shape 61"/>
          <p:cNvSpPr/>
          <p:nvPr/>
        </p:nvSpPr>
        <p:spPr>
          <a:xfrm>
            <a:off x="6291072" y="2670048"/>
            <a:ext cx="1051560" cy="502920"/>
          </a:xfrm>
          <a:prstGeom prst="rect">
            <a:avLst/>
          </a:prstGeom>
          <a:solidFill>
            <a:srgbClr val="FBFCFD"/>
          </a:solidFill>
          <a:ln w="5715">
            <a:solidFill>
              <a:srgbClr val="DDE4E8"/>
            </a:solidFill>
            <a:prstDash val="solid"/>
          </a:ln>
        </p:spPr>
      </p:sp>
      <p:sp>
        <p:nvSpPr>
          <p:cNvPr id="64" name="Text 62"/>
          <p:cNvSpPr/>
          <p:nvPr/>
        </p:nvSpPr>
        <p:spPr>
          <a:xfrm>
            <a:off x="6327648" y="2807208"/>
            <a:ext cx="978408" cy="201168"/>
          </a:xfrm>
          <a:prstGeom prst="rect">
            <a:avLst/>
          </a:prstGeom>
          <a:noFill/>
          <a:ln/>
        </p:spPr>
        <p:txBody>
          <a:bodyPr wrap="square" lIns="0" tIns="0" rIns="0" bIns="0" rtlCol="0" anchor="ctr">
            <a:normAutofit/>
          </a:bodyPr>
          <a:lstStyle/>
          <a:p>
            <a:pPr algn="ctr" indent="0" marL="0">
              <a:buNone/>
            </a:pPr>
            <a:r>
              <a:rPr lang="en-US" sz="1000" b="1" dirty="0">
                <a:solidFill>
                  <a:srgbClr val="74828C"/>
                </a:solidFill>
                <a:latin typeface="Arial" pitchFamily="34" charset="0"/>
                <a:ea typeface="Arial" pitchFamily="34" charset="-122"/>
                <a:cs typeface="Arial" pitchFamily="34" charset="-120"/>
              </a:rPr>
              <a:t>AR</a:t>
            </a:r>
            <a:endParaRPr lang="en-US" sz="1000" dirty="0"/>
          </a:p>
        </p:txBody>
      </p:sp>
      <p:sp>
        <p:nvSpPr>
          <p:cNvPr id="65" name="Shape 63"/>
          <p:cNvSpPr/>
          <p:nvPr/>
        </p:nvSpPr>
        <p:spPr>
          <a:xfrm>
            <a:off x="7342632" y="2670048"/>
            <a:ext cx="1417320" cy="502920"/>
          </a:xfrm>
          <a:prstGeom prst="rect">
            <a:avLst/>
          </a:prstGeom>
          <a:solidFill>
            <a:srgbClr val="FBFCFD"/>
          </a:solidFill>
          <a:ln w="5715">
            <a:solidFill>
              <a:srgbClr val="DDE4E8"/>
            </a:solidFill>
            <a:prstDash val="solid"/>
          </a:ln>
        </p:spPr>
      </p:sp>
      <p:sp>
        <p:nvSpPr>
          <p:cNvPr id="66" name="Text 64"/>
          <p:cNvSpPr/>
          <p:nvPr/>
        </p:nvSpPr>
        <p:spPr>
          <a:xfrm>
            <a:off x="7379208" y="280720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18,401</a:t>
            </a:r>
            <a:endParaRPr lang="en-US" sz="1000" dirty="0"/>
          </a:p>
        </p:txBody>
      </p:sp>
      <p:sp>
        <p:nvSpPr>
          <p:cNvPr id="67" name="Shape 65"/>
          <p:cNvSpPr/>
          <p:nvPr/>
        </p:nvSpPr>
        <p:spPr>
          <a:xfrm>
            <a:off x="8759952" y="2670048"/>
            <a:ext cx="1874520" cy="502920"/>
          </a:xfrm>
          <a:prstGeom prst="rect">
            <a:avLst/>
          </a:prstGeom>
          <a:solidFill>
            <a:srgbClr val="FBFCFD"/>
          </a:solidFill>
          <a:ln w="5715">
            <a:solidFill>
              <a:srgbClr val="DDE4E8"/>
            </a:solidFill>
            <a:prstDash val="solid"/>
          </a:ln>
        </p:spPr>
      </p:sp>
      <p:sp>
        <p:nvSpPr>
          <p:cNvPr id="68" name="Text 66"/>
          <p:cNvSpPr/>
          <p:nvPr/>
        </p:nvSpPr>
        <p:spPr>
          <a:xfrm>
            <a:off x="8796528" y="2807208"/>
            <a:ext cx="18013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38,136</a:t>
            </a:r>
            <a:endParaRPr lang="en-US" sz="1000" dirty="0"/>
          </a:p>
        </p:txBody>
      </p:sp>
      <p:sp>
        <p:nvSpPr>
          <p:cNvPr id="69" name="Shape 67"/>
          <p:cNvSpPr/>
          <p:nvPr/>
        </p:nvSpPr>
        <p:spPr>
          <a:xfrm>
            <a:off x="10634472" y="2670048"/>
            <a:ext cx="1188720" cy="502920"/>
          </a:xfrm>
          <a:prstGeom prst="rect">
            <a:avLst/>
          </a:prstGeom>
          <a:solidFill>
            <a:srgbClr val="FBFCFD"/>
          </a:solidFill>
          <a:ln w="5715">
            <a:solidFill>
              <a:srgbClr val="DDE4E8"/>
            </a:solidFill>
            <a:prstDash val="solid"/>
          </a:ln>
        </p:spPr>
      </p:sp>
      <p:sp>
        <p:nvSpPr>
          <p:cNvPr id="70" name="Text 68"/>
          <p:cNvSpPr/>
          <p:nvPr/>
        </p:nvSpPr>
        <p:spPr>
          <a:xfrm>
            <a:off x="10671048" y="2807208"/>
            <a:ext cx="11155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48.25%</a:t>
            </a:r>
            <a:endParaRPr lang="en-US" sz="1000" dirty="0"/>
          </a:p>
        </p:txBody>
      </p:sp>
      <p:sp>
        <p:nvSpPr>
          <p:cNvPr id="71" name="Shape 69"/>
          <p:cNvSpPr/>
          <p:nvPr/>
        </p:nvSpPr>
        <p:spPr>
          <a:xfrm>
            <a:off x="6291072" y="3172968"/>
            <a:ext cx="1051560" cy="502920"/>
          </a:xfrm>
          <a:prstGeom prst="rect">
            <a:avLst/>
          </a:prstGeom>
          <a:solidFill>
            <a:srgbClr val="F3F6F7"/>
          </a:solidFill>
          <a:ln w="5715">
            <a:solidFill>
              <a:srgbClr val="DDE4E8"/>
            </a:solidFill>
            <a:prstDash val="solid"/>
          </a:ln>
        </p:spPr>
      </p:sp>
      <p:sp>
        <p:nvSpPr>
          <p:cNvPr id="72" name="Text 70"/>
          <p:cNvSpPr/>
          <p:nvPr/>
        </p:nvSpPr>
        <p:spPr>
          <a:xfrm>
            <a:off x="6327648" y="3310128"/>
            <a:ext cx="978408" cy="201168"/>
          </a:xfrm>
          <a:prstGeom prst="rect">
            <a:avLst/>
          </a:prstGeom>
          <a:noFill/>
          <a:ln/>
        </p:spPr>
        <p:txBody>
          <a:bodyPr wrap="square" lIns="0" tIns="0" rIns="0" bIns="0" rtlCol="0" anchor="ctr">
            <a:normAutofit/>
          </a:bodyPr>
          <a:lstStyle/>
          <a:p>
            <a:pPr algn="ctr" indent="0" marL="0">
              <a:buNone/>
            </a:pPr>
            <a:r>
              <a:rPr lang="en-US" sz="1000" b="1" dirty="0">
                <a:solidFill>
                  <a:srgbClr val="068A95"/>
                </a:solidFill>
                <a:latin typeface="Arial" pitchFamily="34" charset="0"/>
                <a:ea typeface="Arial" pitchFamily="34" charset="-122"/>
                <a:cs typeface="Arial" pitchFamily="34" charset="-120"/>
              </a:rPr>
              <a:t>EDGE</a:t>
            </a:r>
            <a:endParaRPr lang="en-US" sz="1000" dirty="0"/>
          </a:p>
        </p:txBody>
      </p:sp>
      <p:sp>
        <p:nvSpPr>
          <p:cNvPr id="73" name="Shape 71"/>
          <p:cNvSpPr/>
          <p:nvPr/>
        </p:nvSpPr>
        <p:spPr>
          <a:xfrm>
            <a:off x="7342632" y="3172968"/>
            <a:ext cx="1417320" cy="502920"/>
          </a:xfrm>
          <a:prstGeom prst="rect">
            <a:avLst/>
          </a:prstGeom>
          <a:solidFill>
            <a:srgbClr val="F3F6F7"/>
          </a:solidFill>
          <a:ln w="5715">
            <a:solidFill>
              <a:srgbClr val="DDE4E8"/>
            </a:solidFill>
            <a:prstDash val="solid"/>
          </a:ln>
        </p:spPr>
      </p:sp>
      <p:sp>
        <p:nvSpPr>
          <p:cNvPr id="74" name="Text 72"/>
          <p:cNvSpPr/>
          <p:nvPr/>
        </p:nvSpPr>
        <p:spPr>
          <a:xfrm>
            <a:off x="7379208" y="3310128"/>
            <a:ext cx="13441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14,962</a:t>
            </a:r>
            <a:endParaRPr lang="en-US" sz="1000" dirty="0"/>
          </a:p>
        </p:txBody>
      </p:sp>
      <p:sp>
        <p:nvSpPr>
          <p:cNvPr id="75" name="Shape 73"/>
          <p:cNvSpPr/>
          <p:nvPr/>
        </p:nvSpPr>
        <p:spPr>
          <a:xfrm>
            <a:off x="8759952" y="3172968"/>
            <a:ext cx="1874520" cy="502920"/>
          </a:xfrm>
          <a:prstGeom prst="rect">
            <a:avLst/>
          </a:prstGeom>
          <a:solidFill>
            <a:srgbClr val="F3F6F7"/>
          </a:solidFill>
          <a:ln w="5715">
            <a:solidFill>
              <a:srgbClr val="DDE4E8"/>
            </a:solidFill>
            <a:prstDash val="solid"/>
          </a:ln>
        </p:spPr>
      </p:sp>
      <p:sp>
        <p:nvSpPr>
          <p:cNvPr id="76" name="Text 74"/>
          <p:cNvSpPr/>
          <p:nvPr/>
        </p:nvSpPr>
        <p:spPr>
          <a:xfrm>
            <a:off x="8796528" y="3310128"/>
            <a:ext cx="18013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38,001</a:t>
            </a:r>
            <a:endParaRPr lang="en-US" sz="1000" dirty="0"/>
          </a:p>
        </p:txBody>
      </p:sp>
      <p:sp>
        <p:nvSpPr>
          <p:cNvPr id="77" name="Shape 75"/>
          <p:cNvSpPr/>
          <p:nvPr/>
        </p:nvSpPr>
        <p:spPr>
          <a:xfrm>
            <a:off x="10634472" y="3172968"/>
            <a:ext cx="1188720" cy="502920"/>
          </a:xfrm>
          <a:prstGeom prst="rect">
            <a:avLst/>
          </a:prstGeom>
          <a:solidFill>
            <a:srgbClr val="F3F6F7"/>
          </a:solidFill>
          <a:ln w="5715">
            <a:solidFill>
              <a:srgbClr val="DDE4E8"/>
            </a:solidFill>
            <a:prstDash val="solid"/>
          </a:ln>
        </p:spPr>
      </p:sp>
      <p:sp>
        <p:nvSpPr>
          <p:cNvPr id="78" name="Text 76"/>
          <p:cNvSpPr/>
          <p:nvPr/>
        </p:nvSpPr>
        <p:spPr>
          <a:xfrm>
            <a:off x="10671048" y="3310128"/>
            <a:ext cx="1115568" cy="201168"/>
          </a:xfrm>
          <a:prstGeom prst="rect">
            <a:avLst/>
          </a:prstGeom>
          <a:noFill/>
          <a:ln/>
        </p:spPr>
        <p:txBody>
          <a:bodyPr wrap="square" lIns="0" tIns="0" rIns="0" bIns="0" rtlCol="0" anchor="ctr">
            <a:normAutofit/>
          </a:bodyPr>
          <a:lstStyle/>
          <a:p>
            <a:pPr algn="ctr" indent="0" marL="0">
              <a:buNone/>
            </a:pPr>
            <a:r>
              <a:rPr lang="en-US" sz="1000" dirty="0">
                <a:solidFill>
                  <a:srgbClr val="20313F"/>
                </a:solidFill>
                <a:latin typeface="Arial" pitchFamily="34" charset="0"/>
                <a:ea typeface="Arial" pitchFamily="34" charset="-122"/>
                <a:cs typeface="Arial" pitchFamily="34" charset="-120"/>
              </a:rPr>
              <a:t>39.37%</a:t>
            </a:r>
            <a:endParaRPr lang="en-US" sz="1000" dirty="0"/>
          </a:p>
        </p:txBody>
      </p:sp>
      <p:sp>
        <p:nvSpPr>
          <p:cNvPr id="79" name="Shape 77"/>
          <p:cNvSpPr/>
          <p:nvPr/>
        </p:nvSpPr>
        <p:spPr>
          <a:xfrm>
            <a:off x="1097280" y="4919472"/>
            <a:ext cx="9930384" cy="841248"/>
          </a:xfrm>
          <a:prstGeom prst="roundRect">
            <a:avLst>
              <a:gd name="adj" fmla="val 6522"/>
            </a:avLst>
          </a:prstGeom>
          <a:solidFill>
            <a:srgbClr val="F5F7F8"/>
          </a:solidFill>
          <a:ln w="12700">
            <a:solidFill>
              <a:srgbClr val="D9E0E5"/>
            </a:solidFill>
            <a:prstDash val="solid"/>
          </a:ln>
        </p:spPr>
      </p:sp>
      <p:sp>
        <p:nvSpPr>
          <p:cNvPr id="80" name="Text 78"/>
          <p:cNvSpPr/>
          <p:nvPr/>
        </p:nvSpPr>
        <p:spPr>
          <a:xfrm>
            <a:off x="1362456" y="5138928"/>
            <a:ext cx="9400032" cy="384048"/>
          </a:xfrm>
          <a:prstGeom prst="rect">
            <a:avLst/>
          </a:prstGeom>
          <a:noFill/>
          <a:ln/>
        </p:spPr>
        <p:txBody>
          <a:bodyPr wrap="square" lIns="0" tIns="0" rIns="0" bIns="0" rtlCol="0" anchor="ctr">
            <a:normAutofit/>
          </a:bodyPr>
          <a:lstStyle/>
          <a:p>
            <a:pPr algn="ctr" indent="0" marL="0">
              <a:buNone/>
            </a:pPr>
            <a:r>
              <a:rPr lang="en-US" sz="1180" b="1" dirty="0">
                <a:solidFill>
                  <a:srgbClr val="0B2A45"/>
                </a:solidFill>
                <a:latin typeface="Arial" pitchFamily="34" charset="0"/>
                <a:ea typeface="Arial" pitchFamily="34" charset="-122"/>
                <a:cs typeface="Arial" pitchFamily="34" charset="-120"/>
              </a:rPr>
              <a:t>A negative finite raw estimate is not a failure. EDGE has the lowest raw-negative rate overall, but CS is lower in futures and crypto.</a:t>
            </a:r>
            <a:endParaRPr lang="en-US" sz="1180" dirty="0"/>
          </a:p>
        </p:txBody>
      </p:sp>
      <p:sp>
        <p:nvSpPr>
          <p:cNvPr id="81" name="Text 79"/>
          <p:cNvSpPr/>
          <p:nvPr/>
        </p:nvSpPr>
        <p:spPr>
          <a:xfrm>
            <a:off x="914400" y="6053328"/>
            <a:ext cx="10332720" cy="164592"/>
          </a:xfrm>
          <a:prstGeom prst="rect">
            <a:avLst/>
          </a:prstGeom>
          <a:noFill/>
          <a:ln/>
        </p:spPr>
        <p:txBody>
          <a:bodyPr wrap="square" lIns="0" tIns="0" rIns="0" bIns="0" rtlCol="0" anchor="ctr">
            <a:normAutofit/>
          </a:bodyPr>
          <a:lstStyle/>
          <a:p>
            <a:pPr algn="ctr" indent="0" marL="0">
              <a:buNone/>
            </a:pPr>
            <a:r>
              <a:rPr lang="en-US" sz="840" dirty="0">
                <a:solidFill>
                  <a:srgbClr val="6F7E89"/>
                </a:solidFill>
                <a:latin typeface="Arial" pitchFamily="34" charset="0"/>
                <a:ea typeface="Arial" pitchFamily="34" charset="-122"/>
                <a:cs typeface="Arial" pitchFamily="34" charset="-120"/>
              </a:rPr>
              <a:t>Never replace these denominators with common-defined N.</a:t>
            </a:r>
            <a:endParaRPr lang="en-US" sz="84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A6</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Roll quality sensitivities</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Higher pair-coverage thresholds reduce sample size but do not change the overall leader</a:t>
            </a:r>
            <a:endParaRPr lang="en-US" sz="1070" dirty="0"/>
          </a:p>
        </p:txBody>
      </p:sp>
      <p:sp>
        <p:nvSpPr>
          <p:cNvPr id="5" name="Shape 3"/>
          <p:cNvSpPr/>
          <p:nvPr/>
        </p:nvSpPr>
        <p:spPr>
          <a:xfrm>
            <a:off x="713232" y="1609344"/>
            <a:ext cx="1874520" cy="438912"/>
          </a:xfrm>
          <a:prstGeom prst="rect">
            <a:avLst/>
          </a:prstGeom>
          <a:solidFill>
            <a:srgbClr val="0B2A45"/>
          </a:solidFill>
          <a:ln w="7620">
            <a:solidFill>
              <a:srgbClr val="FFFFFF"/>
            </a:solidFill>
            <a:prstDash val="solid"/>
          </a:ln>
        </p:spPr>
      </p:sp>
      <p:sp>
        <p:nvSpPr>
          <p:cNvPr id="6" name="Text 4"/>
          <p:cNvSpPr/>
          <p:nvPr/>
        </p:nvSpPr>
        <p:spPr>
          <a:xfrm>
            <a:off x="749808" y="1700784"/>
            <a:ext cx="1801368"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Sensitivity</a:t>
            </a:r>
            <a:endParaRPr lang="en-US" sz="900" dirty="0"/>
          </a:p>
        </p:txBody>
      </p:sp>
      <p:sp>
        <p:nvSpPr>
          <p:cNvPr id="7" name="Shape 5"/>
          <p:cNvSpPr/>
          <p:nvPr/>
        </p:nvSpPr>
        <p:spPr>
          <a:xfrm>
            <a:off x="2587752" y="1609344"/>
            <a:ext cx="1645920" cy="438912"/>
          </a:xfrm>
          <a:prstGeom prst="rect">
            <a:avLst/>
          </a:prstGeom>
          <a:solidFill>
            <a:srgbClr val="0B2A45"/>
          </a:solidFill>
          <a:ln w="7620">
            <a:solidFill>
              <a:srgbClr val="FFFFFF"/>
            </a:solidFill>
            <a:prstDash val="solid"/>
          </a:ln>
        </p:spPr>
      </p:sp>
      <p:sp>
        <p:nvSpPr>
          <p:cNvPr id="8" name="Text 6"/>
          <p:cNvSpPr/>
          <p:nvPr/>
        </p:nvSpPr>
        <p:spPr>
          <a:xfrm>
            <a:off x="2624328" y="1700784"/>
            <a:ext cx="1572768"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Coverage floor</a:t>
            </a:r>
            <a:endParaRPr lang="en-US" sz="900" dirty="0"/>
          </a:p>
        </p:txBody>
      </p:sp>
      <p:sp>
        <p:nvSpPr>
          <p:cNvPr id="9" name="Shape 7"/>
          <p:cNvSpPr/>
          <p:nvPr/>
        </p:nvSpPr>
        <p:spPr>
          <a:xfrm>
            <a:off x="4233672" y="1609344"/>
            <a:ext cx="1600200" cy="438912"/>
          </a:xfrm>
          <a:prstGeom prst="rect">
            <a:avLst/>
          </a:prstGeom>
          <a:solidFill>
            <a:srgbClr val="0B2A45"/>
          </a:solidFill>
          <a:ln w="7620">
            <a:solidFill>
              <a:srgbClr val="FFFFFF"/>
            </a:solidFill>
            <a:prstDash val="solid"/>
          </a:ln>
        </p:spPr>
      </p:sp>
      <p:sp>
        <p:nvSpPr>
          <p:cNvPr id="10" name="Text 8"/>
          <p:cNvSpPr/>
          <p:nvPr/>
        </p:nvSpPr>
        <p:spPr>
          <a:xfrm>
            <a:off x="4270248" y="1700784"/>
            <a:ext cx="1527048"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Common N</a:t>
            </a:r>
            <a:endParaRPr lang="en-US" sz="900" dirty="0"/>
          </a:p>
        </p:txBody>
      </p:sp>
      <p:sp>
        <p:nvSpPr>
          <p:cNvPr id="11" name="Shape 9"/>
          <p:cNvSpPr/>
          <p:nvPr/>
        </p:nvSpPr>
        <p:spPr>
          <a:xfrm>
            <a:off x="5833872" y="1609344"/>
            <a:ext cx="1554480" cy="438912"/>
          </a:xfrm>
          <a:prstGeom prst="rect">
            <a:avLst/>
          </a:prstGeom>
          <a:solidFill>
            <a:srgbClr val="0B2A45"/>
          </a:solidFill>
          <a:ln w="7620">
            <a:solidFill>
              <a:srgbClr val="FFFFFF"/>
            </a:solidFill>
            <a:prstDash val="solid"/>
          </a:ln>
        </p:spPr>
      </p:sp>
      <p:sp>
        <p:nvSpPr>
          <p:cNvPr id="12" name="Text 10"/>
          <p:cNvSpPr/>
          <p:nvPr/>
        </p:nvSpPr>
        <p:spPr>
          <a:xfrm>
            <a:off x="5870448" y="1700784"/>
            <a:ext cx="1481328"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EDGE MAE</a:t>
            </a:r>
            <a:endParaRPr lang="en-US" sz="900" dirty="0"/>
          </a:p>
        </p:txBody>
      </p:sp>
      <p:sp>
        <p:nvSpPr>
          <p:cNvPr id="13" name="Shape 11"/>
          <p:cNvSpPr/>
          <p:nvPr/>
        </p:nvSpPr>
        <p:spPr>
          <a:xfrm>
            <a:off x="7388352" y="1609344"/>
            <a:ext cx="1645920" cy="438912"/>
          </a:xfrm>
          <a:prstGeom prst="rect">
            <a:avLst/>
          </a:prstGeom>
          <a:solidFill>
            <a:srgbClr val="0B2A45"/>
          </a:solidFill>
          <a:ln w="7620">
            <a:solidFill>
              <a:srgbClr val="FFFFFF"/>
            </a:solidFill>
            <a:prstDash val="solid"/>
          </a:ln>
        </p:spPr>
      </p:sp>
      <p:sp>
        <p:nvSpPr>
          <p:cNvPr id="14" name="Text 12"/>
          <p:cNvSpPr/>
          <p:nvPr/>
        </p:nvSpPr>
        <p:spPr>
          <a:xfrm>
            <a:off x="7424928" y="1700784"/>
            <a:ext cx="1572768"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EDGE RMSE</a:t>
            </a:r>
            <a:endParaRPr lang="en-US" sz="900" dirty="0"/>
          </a:p>
        </p:txBody>
      </p:sp>
      <p:sp>
        <p:nvSpPr>
          <p:cNvPr id="15" name="Shape 13"/>
          <p:cNvSpPr/>
          <p:nvPr/>
        </p:nvSpPr>
        <p:spPr>
          <a:xfrm>
            <a:off x="9034272" y="1609344"/>
            <a:ext cx="1417320" cy="438912"/>
          </a:xfrm>
          <a:prstGeom prst="rect">
            <a:avLst/>
          </a:prstGeom>
          <a:solidFill>
            <a:srgbClr val="0B2A45"/>
          </a:solidFill>
          <a:ln w="7620">
            <a:solidFill>
              <a:srgbClr val="FFFFFF"/>
            </a:solidFill>
            <a:prstDash val="solid"/>
          </a:ln>
        </p:spPr>
      </p:sp>
      <p:sp>
        <p:nvSpPr>
          <p:cNvPr id="16" name="Text 14"/>
          <p:cNvSpPr/>
          <p:nvPr/>
        </p:nvSpPr>
        <p:spPr>
          <a:xfrm>
            <a:off x="9070848" y="1700784"/>
            <a:ext cx="1344168" cy="20116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LOW ETF N</a:t>
            </a:r>
            <a:endParaRPr lang="en-US" sz="900" dirty="0"/>
          </a:p>
        </p:txBody>
      </p:sp>
      <p:sp>
        <p:nvSpPr>
          <p:cNvPr id="17" name="Shape 15"/>
          <p:cNvSpPr/>
          <p:nvPr/>
        </p:nvSpPr>
        <p:spPr>
          <a:xfrm>
            <a:off x="713232" y="2048256"/>
            <a:ext cx="1874520" cy="749808"/>
          </a:xfrm>
          <a:prstGeom prst="rect">
            <a:avLst/>
          </a:prstGeom>
          <a:solidFill>
            <a:srgbClr val="F2F5F7"/>
          </a:solidFill>
          <a:ln w="6350">
            <a:solidFill>
              <a:srgbClr val="DDE4E8"/>
            </a:solidFill>
            <a:prstDash val="solid"/>
          </a:ln>
        </p:spPr>
      </p:sp>
      <p:sp>
        <p:nvSpPr>
          <p:cNvPr id="18" name="Text 16"/>
          <p:cNvSpPr/>
          <p:nvPr/>
        </p:nvSpPr>
        <p:spPr>
          <a:xfrm>
            <a:off x="749808" y="2267712"/>
            <a:ext cx="1801368" cy="237744"/>
          </a:xfrm>
          <a:prstGeom prst="rect">
            <a:avLst/>
          </a:prstGeom>
          <a:noFill/>
          <a:ln/>
        </p:spPr>
        <p:txBody>
          <a:bodyPr wrap="square" lIns="0" tIns="0" rIns="0" bIns="0" rtlCol="0" anchor="ctr">
            <a:normAutofit/>
          </a:bodyPr>
          <a:lstStyle/>
          <a:p>
            <a:pPr algn="ctr" indent="0" marL="0">
              <a:buNone/>
            </a:pPr>
            <a:r>
              <a:rPr lang="en-US" sz="1100" b="1" dirty="0">
                <a:solidFill>
                  <a:srgbClr val="20313F"/>
                </a:solidFill>
                <a:latin typeface="Arial" pitchFamily="34" charset="0"/>
                <a:ea typeface="Arial" pitchFamily="34" charset="-122"/>
                <a:cs typeface="Arial" pitchFamily="34" charset="-120"/>
              </a:rPr>
              <a:t>Roll R25</a:t>
            </a:r>
            <a:endParaRPr lang="en-US" sz="1100" dirty="0"/>
          </a:p>
        </p:txBody>
      </p:sp>
      <p:sp>
        <p:nvSpPr>
          <p:cNvPr id="19" name="Shape 17"/>
          <p:cNvSpPr/>
          <p:nvPr/>
        </p:nvSpPr>
        <p:spPr>
          <a:xfrm>
            <a:off x="2587752" y="2048256"/>
            <a:ext cx="1645920" cy="749808"/>
          </a:xfrm>
          <a:prstGeom prst="rect">
            <a:avLst/>
          </a:prstGeom>
          <a:solidFill>
            <a:srgbClr val="F2F5F7"/>
          </a:solidFill>
          <a:ln w="6350">
            <a:solidFill>
              <a:srgbClr val="DDE4E8"/>
            </a:solidFill>
            <a:prstDash val="solid"/>
          </a:ln>
        </p:spPr>
      </p:sp>
      <p:sp>
        <p:nvSpPr>
          <p:cNvPr id="20" name="Text 18"/>
          <p:cNvSpPr/>
          <p:nvPr/>
        </p:nvSpPr>
        <p:spPr>
          <a:xfrm>
            <a:off x="2624328" y="2267712"/>
            <a:ext cx="1572768" cy="237744"/>
          </a:xfrm>
          <a:prstGeom prst="rect">
            <a:avLst/>
          </a:prstGeom>
          <a:noFill/>
          <a:ln/>
        </p:spPr>
        <p:txBody>
          <a:bodyPr wrap="square" lIns="0" tIns="0" rIns="0" bIns="0" rtlCol="0" anchor="ctr">
            <a:normAutofit/>
          </a:bodyPr>
          <a:lstStyle/>
          <a:p>
            <a:pPr algn="ctr" indent="0" marL="0">
              <a:buNone/>
            </a:pPr>
            <a:r>
              <a:rPr lang="en-US" sz="1100" dirty="0">
                <a:solidFill>
                  <a:srgbClr val="20313F"/>
                </a:solidFill>
                <a:latin typeface="Arial" pitchFamily="34" charset="0"/>
                <a:ea typeface="Arial" pitchFamily="34" charset="-122"/>
                <a:cs typeface="Arial" pitchFamily="34" charset="-120"/>
              </a:rPr>
              <a:t>25%</a:t>
            </a:r>
            <a:endParaRPr lang="en-US" sz="1100" dirty="0"/>
          </a:p>
        </p:txBody>
      </p:sp>
      <p:sp>
        <p:nvSpPr>
          <p:cNvPr id="21" name="Shape 19"/>
          <p:cNvSpPr/>
          <p:nvPr/>
        </p:nvSpPr>
        <p:spPr>
          <a:xfrm>
            <a:off x="4233672" y="2048256"/>
            <a:ext cx="1600200" cy="749808"/>
          </a:xfrm>
          <a:prstGeom prst="rect">
            <a:avLst/>
          </a:prstGeom>
          <a:solidFill>
            <a:srgbClr val="F2F5F7"/>
          </a:solidFill>
          <a:ln w="6350">
            <a:solidFill>
              <a:srgbClr val="DDE4E8"/>
            </a:solidFill>
            <a:prstDash val="solid"/>
          </a:ln>
        </p:spPr>
      </p:sp>
      <p:sp>
        <p:nvSpPr>
          <p:cNvPr id="22" name="Text 20"/>
          <p:cNvSpPr/>
          <p:nvPr/>
        </p:nvSpPr>
        <p:spPr>
          <a:xfrm>
            <a:off x="4270248" y="2267712"/>
            <a:ext cx="1527048" cy="237744"/>
          </a:xfrm>
          <a:prstGeom prst="rect">
            <a:avLst/>
          </a:prstGeom>
          <a:noFill/>
          <a:ln/>
        </p:spPr>
        <p:txBody>
          <a:bodyPr wrap="square" lIns="0" tIns="0" rIns="0" bIns="0" rtlCol="0" anchor="ctr">
            <a:normAutofit/>
          </a:bodyPr>
          <a:lstStyle/>
          <a:p>
            <a:pPr algn="ctr" indent="0" marL="0">
              <a:buNone/>
            </a:pPr>
            <a:r>
              <a:rPr lang="en-US" sz="1100" dirty="0">
                <a:solidFill>
                  <a:srgbClr val="20313F"/>
                </a:solidFill>
                <a:latin typeface="Arial" pitchFamily="34" charset="0"/>
                <a:ea typeface="Arial" pitchFamily="34" charset="-122"/>
                <a:cs typeface="Arial" pitchFamily="34" charset="-120"/>
              </a:rPr>
              <a:t>16,150</a:t>
            </a:r>
            <a:endParaRPr lang="en-US" sz="1100" dirty="0"/>
          </a:p>
        </p:txBody>
      </p:sp>
      <p:sp>
        <p:nvSpPr>
          <p:cNvPr id="23" name="Shape 21"/>
          <p:cNvSpPr/>
          <p:nvPr/>
        </p:nvSpPr>
        <p:spPr>
          <a:xfrm>
            <a:off x="5833872" y="2048256"/>
            <a:ext cx="1554480" cy="749808"/>
          </a:xfrm>
          <a:prstGeom prst="rect">
            <a:avLst/>
          </a:prstGeom>
          <a:solidFill>
            <a:srgbClr val="F2F5F7"/>
          </a:solidFill>
          <a:ln w="6350">
            <a:solidFill>
              <a:srgbClr val="DDE4E8"/>
            </a:solidFill>
            <a:prstDash val="solid"/>
          </a:ln>
        </p:spPr>
      </p:sp>
      <p:sp>
        <p:nvSpPr>
          <p:cNvPr id="24" name="Text 22"/>
          <p:cNvSpPr/>
          <p:nvPr/>
        </p:nvSpPr>
        <p:spPr>
          <a:xfrm>
            <a:off x="5870448" y="2267712"/>
            <a:ext cx="1481328" cy="237744"/>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48.95</a:t>
            </a:r>
            <a:endParaRPr lang="en-US" sz="1100" dirty="0"/>
          </a:p>
        </p:txBody>
      </p:sp>
      <p:sp>
        <p:nvSpPr>
          <p:cNvPr id="25" name="Shape 23"/>
          <p:cNvSpPr/>
          <p:nvPr/>
        </p:nvSpPr>
        <p:spPr>
          <a:xfrm>
            <a:off x="7388352" y="2048256"/>
            <a:ext cx="1645920" cy="749808"/>
          </a:xfrm>
          <a:prstGeom prst="rect">
            <a:avLst/>
          </a:prstGeom>
          <a:solidFill>
            <a:srgbClr val="F2F5F7"/>
          </a:solidFill>
          <a:ln w="6350">
            <a:solidFill>
              <a:srgbClr val="DDE4E8"/>
            </a:solidFill>
            <a:prstDash val="solid"/>
          </a:ln>
        </p:spPr>
      </p:sp>
      <p:sp>
        <p:nvSpPr>
          <p:cNvPr id="26" name="Text 24"/>
          <p:cNvSpPr/>
          <p:nvPr/>
        </p:nvSpPr>
        <p:spPr>
          <a:xfrm>
            <a:off x="7424928" y="2267712"/>
            <a:ext cx="1572768" cy="237744"/>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121.11</a:t>
            </a:r>
            <a:endParaRPr lang="en-US" sz="1100" dirty="0"/>
          </a:p>
        </p:txBody>
      </p:sp>
      <p:sp>
        <p:nvSpPr>
          <p:cNvPr id="27" name="Shape 25"/>
          <p:cNvSpPr/>
          <p:nvPr/>
        </p:nvSpPr>
        <p:spPr>
          <a:xfrm>
            <a:off x="9034272" y="2048256"/>
            <a:ext cx="1417320" cy="749808"/>
          </a:xfrm>
          <a:prstGeom prst="rect">
            <a:avLst/>
          </a:prstGeom>
          <a:solidFill>
            <a:srgbClr val="F2F5F7"/>
          </a:solidFill>
          <a:ln w="6350">
            <a:solidFill>
              <a:srgbClr val="DDE4E8"/>
            </a:solidFill>
            <a:prstDash val="solid"/>
          </a:ln>
        </p:spPr>
      </p:sp>
      <p:sp>
        <p:nvSpPr>
          <p:cNvPr id="28" name="Text 26"/>
          <p:cNvSpPr/>
          <p:nvPr/>
        </p:nvSpPr>
        <p:spPr>
          <a:xfrm>
            <a:off x="9070848" y="2267712"/>
            <a:ext cx="1344168" cy="237744"/>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6</a:t>
            </a:r>
            <a:endParaRPr lang="en-US" sz="1100" dirty="0"/>
          </a:p>
        </p:txBody>
      </p:sp>
      <p:sp>
        <p:nvSpPr>
          <p:cNvPr id="29" name="Shape 27"/>
          <p:cNvSpPr/>
          <p:nvPr/>
        </p:nvSpPr>
        <p:spPr>
          <a:xfrm>
            <a:off x="713232" y="2798064"/>
            <a:ext cx="1874520" cy="749808"/>
          </a:xfrm>
          <a:prstGeom prst="rect">
            <a:avLst/>
          </a:prstGeom>
          <a:solidFill>
            <a:srgbClr val="FBFCFD"/>
          </a:solidFill>
          <a:ln w="6350">
            <a:solidFill>
              <a:srgbClr val="DDE4E8"/>
            </a:solidFill>
            <a:prstDash val="solid"/>
          </a:ln>
        </p:spPr>
      </p:sp>
      <p:sp>
        <p:nvSpPr>
          <p:cNvPr id="30" name="Text 28"/>
          <p:cNvSpPr/>
          <p:nvPr/>
        </p:nvSpPr>
        <p:spPr>
          <a:xfrm>
            <a:off x="749808" y="3017520"/>
            <a:ext cx="1801368" cy="237744"/>
          </a:xfrm>
          <a:prstGeom prst="rect">
            <a:avLst/>
          </a:prstGeom>
          <a:noFill/>
          <a:ln/>
        </p:spPr>
        <p:txBody>
          <a:bodyPr wrap="square" lIns="0" tIns="0" rIns="0" bIns="0" rtlCol="0" anchor="ctr">
            <a:normAutofit/>
          </a:bodyPr>
          <a:lstStyle/>
          <a:p>
            <a:pPr algn="ctr" indent="0" marL="0">
              <a:buNone/>
            </a:pPr>
            <a:r>
              <a:rPr lang="en-US" sz="1100" b="1" dirty="0">
                <a:solidFill>
                  <a:srgbClr val="20313F"/>
                </a:solidFill>
                <a:latin typeface="Arial" pitchFamily="34" charset="0"/>
                <a:ea typeface="Arial" pitchFamily="34" charset="-122"/>
                <a:cs typeface="Arial" pitchFamily="34" charset="-120"/>
              </a:rPr>
              <a:t>Roll R50</a:t>
            </a:r>
            <a:endParaRPr lang="en-US" sz="1100" dirty="0"/>
          </a:p>
        </p:txBody>
      </p:sp>
      <p:sp>
        <p:nvSpPr>
          <p:cNvPr id="31" name="Shape 29"/>
          <p:cNvSpPr/>
          <p:nvPr/>
        </p:nvSpPr>
        <p:spPr>
          <a:xfrm>
            <a:off x="2587752" y="2798064"/>
            <a:ext cx="1645920" cy="749808"/>
          </a:xfrm>
          <a:prstGeom prst="rect">
            <a:avLst/>
          </a:prstGeom>
          <a:solidFill>
            <a:srgbClr val="FBFCFD"/>
          </a:solidFill>
          <a:ln w="6350">
            <a:solidFill>
              <a:srgbClr val="DDE4E8"/>
            </a:solidFill>
            <a:prstDash val="solid"/>
          </a:ln>
        </p:spPr>
      </p:sp>
      <p:sp>
        <p:nvSpPr>
          <p:cNvPr id="32" name="Text 30"/>
          <p:cNvSpPr/>
          <p:nvPr/>
        </p:nvSpPr>
        <p:spPr>
          <a:xfrm>
            <a:off x="2624328" y="3017520"/>
            <a:ext cx="1572768" cy="237744"/>
          </a:xfrm>
          <a:prstGeom prst="rect">
            <a:avLst/>
          </a:prstGeom>
          <a:noFill/>
          <a:ln/>
        </p:spPr>
        <p:txBody>
          <a:bodyPr wrap="square" lIns="0" tIns="0" rIns="0" bIns="0" rtlCol="0" anchor="ctr">
            <a:normAutofit/>
          </a:bodyPr>
          <a:lstStyle/>
          <a:p>
            <a:pPr algn="ctr" indent="0" marL="0">
              <a:buNone/>
            </a:pPr>
            <a:r>
              <a:rPr lang="en-US" sz="1100" dirty="0">
                <a:solidFill>
                  <a:srgbClr val="20313F"/>
                </a:solidFill>
                <a:latin typeface="Arial" pitchFamily="34" charset="0"/>
                <a:ea typeface="Arial" pitchFamily="34" charset="-122"/>
                <a:cs typeface="Arial" pitchFamily="34" charset="-120"/>
              </a:rPr>
              <a:t>50%</a:t>
            </a:r>
            <a:endParaRPr lang="en-US" sz="1100" dirty="0"/>
          </a:p>
        </p:txBody>
      </p:sp>
      <p:sp>
        <p:nvSpPr>
          <p:cNvPr id="33" name="Shape 31"/>
          <p:cNvSpPr/>
          <p:nvPr/>
        </p:nvSpPr>
        <p:spPr>
          <a:xfrm>
            <a:off x="4233672" y="2798064"/>
            <a:ext cx="1600200" cy="749808"/>
          </a:xfrm>
          <a:prstGeom prst="rect">
            <a:avLst/>
          </a:prstGeom>
          <a:solidFill>
            <a:srgbClr val="FBFCFD"/>
          </a:solidFill>
          <a:ln w="6350">
            <a:solidFill>
              <a:srgbClr val="DDE4E8"/>
            </a:solidFill>
            <a:prstDash val="solid"/>
          </a:ln>
        </p:spPr>
      </p:sp>
      <p:sp>
        <p:nvSpPr>
          <p:cNvPr id="34" name="Text 32"/>
          <p:cNvSpPr/>
          <p:nvPr/>
        </p:nvSpPr>
        <p:spPr>
          <a:xfrm>
            <a:off x="4270248" y="3017520"/>
            <a:ext cx="1527048" cy="237744"/>
          </a:xfrm>
          <a:prstGeom prst="rect">
            <a:avLst/>
          </a:prstGeom>
          <a:noFill/>
          <a:ln/>
        </p:spPr>
        <p:txBody>
          <a:bodyPr wrap="square" lIns="0" tIns="0" rIns="0" bIns="0" rtlCol="0" anchor="ctr">
            <a:normAutofit/>
          </a:bodyPr>
          <a:lstStyle/>
          <a:p>
            <a:pPr algn="ctr" indent="0" marL="0">
              <a:buNone/>
            </a:pPr>
            <a:r>
              <a:rPr lang="en-US" sz="1100" dirty="0">
                <a:solidFill>
                  <a:srgbClr val="20313F"/>
                </a:solidFill>
                <a:latin typeface="Arial" pitchFamily="34" charset="0"/>
                <a:ea typeface="Arial" pitchFamily="34" charset="-122"/>
                <a:cs typeface="Arial" pitchFamily="34" charset="-120"/>
              </a:rPr>
              <a:t>12,908</a:t>
            </a:r>
            <a:endParaRPr lang="en-US" sz="1100" dirty="0"/>
          </a:p>
        </p:txBody>
      </p:sp>
      <p:sp>
        <p:nvSpPr>
          <p:cNvPr id="35" name="Shape 33"/>
          <p:cNvSpPr/>
          <p:nvPr/>
        </p:nvSpPr>
        <p:spPr>
          <a:xfrm>
            <a:off x="5833872" y="2798064"/>
            <a:ext cx="1554480" cy="749808"/>
          </a:xfrm>
          <a:prstGeom prst="rect">
            <a:avLst/>
          </a:prstGeom>
          <a:solidFill>
            <a:srgbClr val="FBFCFD"/>
          </a:solidFill>
          <a:ln w="6350">
            <a:solidFill>
              <a:srgbClr val="DDE4E8"/>
            </a:solidFill>
            <a:prstDash val="solid"/>
          </a:ln>
        </p:spPr>
      </p:sp>
      <p:sp>
        <p:nvSpPr>
          <p:cNvPr id="36" name="Text 34"/>
          <p:cNvSpPr/>
          <p:nvPr/>
        </p:nvSpPr>
        <p:spPr>
          <a:xfrm>
            <a:off x="5870448" y="3017520"/>
            <a:ext cx="1481328" cy="237744"/>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47.71</a:t>
            </a:r>
            <a:endParaRPr lang="en-US" sz="1100" dirty="0"/>
          </a:p>
        </p:txBody>
      </p:sp>
      <p:sp>
        <p:nvSpPr>
          <p:cNvPr id="37" name="Shape 35"/>
          <p:cNvSpPr/>
          <p:nvPr/>
        </p:nvSpPr>
        <p:spPr>
          <a:xfrm>
            <a:off x="7388352" y="2798064"/>
            <a:ext cx="1645920" cy="749808"/>
          </a:xfrm>
          <a:prstGeom prst="rect">
            <a:avLst/>
          </a:prstGeom>
          <a:solidFill>
            <a:srgbClr val="FBFCFD"/>
          </a:solidFill>
          <a:ln w="6350">
            <a:solidFill>
              <a:srgbClr val="DDE4E8"/>
            </a:solidFill>
            <a:prstDash val="solid"/>
          </a:ln>
        </p:spPr>
      </p:sp>
      <p:sp>
        <p:nvSpPr>
          <p:cNvPr id="38" name="Text 36"/>
          <p:cNvSpPr/>
          <p:nvPr/>
        </p:nvSpPr>
        <p:spPr>
          <a:xfrm>
            <a:off x="7424928" y="3017520"/>
            <a:ext cx="1572768" cy="237744"/>
          </a:xfrm>
          <a:prstGeom prst="rect">
            <a:avLst/>
          </a:prstGeom>
          <a:noFill/>
          <a:ln/>
        </p:spPr>
        <p:txBody>
          <a:bodyPr wrap="square" lIns="0" tIns="0" rIns="0" bIns="0" rtlCol="0" anchor="ctr">
            <a:normAutofit/>
          </a:bodyPr>
          <a:lstStyle/>
          <a:p>
            <a:pPr algn="ctr" indent="0" marL="0">
              <a:buNone/>
            </a:pPr>
            <a:r>
              <a:rPr lang="en-US" sz="1100" b="1" dirty="0">
                <a:solidFill>
                  <a:srgbClr val="068A95"/>
                </a:solidFill>
                <a:latin typeface="Arial" pitchFamily="34" charset="0"/>
                <a:ea typeface="Arial" pitchFamily="34" charset="-122"/>
                <a:cs typeface="Arial" pitchFamily="34" charset="-120"/>
              </a:rPr>
              <a:t>121.95</a:t>
            </a:r>
            <a:endParaRPr lang="en-US" sz="1100" dirty="0"/>
          </a:p>
        </p:txBody>
      </p:sp>
      <p:sp>
        <p:nvSpPr>
          <p:cNvPr id="39" name="Shape 37"/>
          <p:cNvSpPr/>
          <p:nvPr/>
        </p:nvSpPr>
        <p:spPr>
          <a:xfrm>
            <a:off x="9034272" y="2798064"/>
            <a:ext cx="1417320" cy="749808"/>
          </a:xfrm>
          <a:prstGeom prst="rect">
            <a:avLst/>
          </a:prstGeom>
          <a:solidFill>
            <a:srgbClr val="FBFCFD"/>
          </a:solidFill>
          <a:ln w="6350">
            <a:solidFill>
              <a:srgbClr val="DDE4E8"/>
            </a:solidFill>
            <a:prstDash val="solid"/>
          </a:ln>
        </p:spPr>
      </p:sp>
      <p:sp>
        <p:nvSpPr>
          <p:cNvPr id="40" name="Text 38"/>
          <p:cNvSpPr/>
          <p:nvPr/>
        </p:nvSpPr>
        <p:spPr>
          <a:xfrm>
            <a:off x="9070848" y="3017520"/>
            <a:ext cx="1344168" cy="237744"/>
          </a:xfrm>
          <a:prstGeom prst="rect">
            <a:avLst/>
          </a:prstGeom>
          <a:noFill/>
          <a:ln/>
        </p:spPr>
        <p:txBody>
          <a:bodyPr wrap="square" lIns="0" tIns="0" rIns="0" bIns="0" rtlCol="0" anchor="ctr">
            <a:normAutofit/>
          </a:bodyPr>
          <a:lstStyle/>
          <a:p>
            <a:pPr algn="ctr" indent="0" marL="0">
              <a:buNone/>
            </a:pPr>
            <a:r>
              <a:rPr lang="en-US" sz="1100" b="1" dirty="0">
                <a:solidFill>
                  <a:srgbClr val="C8902F"/>
                </a:solidFill>
                <a:latin typeface="Arial" pitchFamily="34" charset="0"/>
                <a:ea typeface="Arial" pitchFamily="34" charset="-122"/>
                <a:cs typeface="Arial" pitchFamily="34" charset="-120"/>
              </a:rPr>
              <a:t>0</a:t>
            </a:r>
            <a:endParaRPr lang="en-US" sz="1100" dirty="0"/>
          </a:p>
        </p:txBody>
      </p:sp>
      <p:sp>
        <p:nvSpPr>
          <p:cNvPr id="41" name="Shape 39"/>
          <p:cNvSpPr/>
          <p:nvPr/>
        </p:nvSpPr>
        <p:spPr>
          <a:xfrm>
            <a:off x="804672" y="3767328"/>
            <a:ext cx="10515600" cy="1078992"/>
          </a:xfrm>
          <a:prstGeom prst="roundRect">
            <a:avLst>
              <a:gd name="adj" fmla="val 5085"/>
            </a:avLst>
          </a:prstGeom>
          <a:solidFill>
            <a:srgbClr val="E2F2F3"/>
          </a:solidFill>
          <a:ln w="12700">
            <a:solidFill>
              <a:srgbClr val="E2F2F3"/>
            </a:solidFill>
            <a:prstDash val="solid"/>
          </a:ln>
        </p:spPr>
      </p:sp>
      <p:sp>
        <p:nvSpPr>
          <p:cNvPr id="42" name="Text 40"/>
          <p:cNvSpPr/>
          <p:nvPr/>
        </p:nvSpPr>
        <p:spPr>
          <a:xfrm>
            <a:off x="1042416" y="4005072"/>
            <a:ext cx="10040112" cy="256032"/>
          </a:xfrm>
          <a:prstGeom prst="rect">
            <a:avLst/>
          </a:prstGeom>
          <a:noFill/>
          <a:ln/>
        </p:spPr>
        <p:txBody>
          <a:bodyPr wrap="square" lIns="0" tIns="0" rIns="0" bIns="0" rtlCol="0" anchor="ctr">
            <a:normAutofit/>
          </a:bodyPr>
          <a:lstStyle/>
          <a:p>
            <a:pPr algn="ctr" indent="0" marL="0">
              <a:buNone/>
            </a:pPr>
            <a:r>
              <a:rPr lang="en-US" sz="1500" b="1" dirty="0">
                <a:solidFill>
                  <a:srgbClr val="0B2A45"/>
                </a:solidFill>
                <a:latin typeface="Arial" pitchFamily="34" charset="0"/>
                <a:ea typeface="Arial" pitchFamily="34" charset="-122"/>
                <a:cs typeface="Arial" pitchFamily="34" charset="-120"/>
              </a:rPr>
              <a:t>Overall EDGE and class-level leader patterns persist under both filters.</a:t>
            </a:r>
            <a:endParaRPr lang="en-US" sz="1500" dirty="0"/>
          </a:p>
        </p:txBody>
      </p:sp>
      <p:sp>
        <p:nvSpPr>
          <p:cNvPr id="43" name="Text 41"/>
          <p:cNvSpPr/>
          <p:nvPr/>
        </p:nvSpPr>
        <p:spPr>
          <a:xfrm>
            <a:off x="1170432" y="4407408"/>
            <a:ext cx="9784080" cy="256032"/>
          </a:xfrm>
          <a:prstGeom prst="rect">
            <a:avLst/>
          </a:prstGeom>
          <a:noFill/>
          <a:ln/>
        </p:spPr>
        <p:txBody>
          <a:bodyPr wrap="square" lIns="0" tIns="0" rIns="0" bIns="0" rtlCol="0" anchor="ctr">
            <a:normAutofit/>
          </a:bodyPr>
          <a:lstStyle/>
          <a:p>
            <a:pPr algn="ctr" indent="0" marL="0">
              <a:buNone/>
            </a:pPr>
            <a:r>
              <a:rPr lang="en-US" sz="1090" dirty="0">
                <a:solidFill>
                  <a:srgbClr val="20313F"/>
                </a:solidFill>
                <a:latin typeface="Arial" pitchFamily="34" charset="0"/>
                <a:ea typeface="Arial" pitchFamily="34" charset="-122"/>
                <a:cs typeface="Arial" pitchFamily="34" charset="-120"/>
              </a:rPr>
              <a:t>But LOW ETFs collapse to N=6 at R25 and N=0 at R50 — a reminder that “cleaner benchmark” filters can destroy local comparability.</a:t>
            </a:r>
            <a:endParaRPr lang="en-US" sz="1090" dirty="0"/>
          </a:p>
        </p:txBody>
      </p:sp>
      <p:sp>
        <p:nvSpPr>
          <p:cNvPr id="44" name="Text 42"/>
          <p:cNvSpPr/>
          <p:nvPr/>
        </p:nvSpPr>
        <p:spPr>
          <a:xfrm>
            <a:off x="768096" y="5632704"/>
            <a:ext cx="10607040" cy="182880"/>
          </a:xfrm>
          <a:prstGeom prst="rect">
            <a:avLst/>
          </a:prstGeom>
          <a:noFill/>
          <a:ln/>
        </p:spPr>
        <p:txBody>
          <a:bodyPr wrap="square" lIns="0" tIns="0" rIns="0" bIns="0" rtlCol="0" anchor="ctr">
            <a:normAutofit/>
          </a:bodyPr>
          <a:lstStyle/>
          <a:p>
            <a:pPr algn="ctr" indent="0" marL="0">
              <a:buNone/>
            </a:pPr>
            <a:r>
              <a:rPr lang="en-US" sz="850" dirty="0">
                <a:solidFill>
                  <a:srgbClr val="6F7E89"/>
                </a:solidFill>
                <a:latin typeface="Arial" pitchFamily="34" charset="0"/>
                <a:ea typeface="Arial" pitchFamily="34" charset="-122"/>
                <a:cs typeface="Arial" pitchFamily="34" charset="-120"/>
              </a:rPr>
              <a:t>Sensitivity only; pair-coverage thresholds are not the primary inclusion rule.</a:t>
            </a:r>
            <a:endParaRPr lang="en-US" sz="85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A7</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Cross-fitted model details and lag placebo</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Secondary association analysis with exact information-interval purging</a:t>
            </a:r>
            <a:endParaRPr lang="en-US" sz="1070" dirty="0"/>
          </a:p>
        </p:txBody>
      </p:sp>
      <p:sp>
        <p:nvSpPr>
          <p:cNvPr id="5" name="Shape 3"/>
          <p:cNvSpPr/>
          <p:nvPr/>
        </p:nvSpPr>
        <p:spPr>
          <a:xfrm>
            <a:off x="566928" y="1554480"/>
            <a:ext cx="1920240" cy="859536"/>
          </a:xfrm>
          <a:prstGeom prst="roundRect">
            <a:avLst>
              <a:gd name="adj" fmla="val 6383"/>
            </a:avLst>
          </a:prstGeom>
          <a:solidFill>
            <a:srgbClr val="FFFFFF"/>
          </a:solidFill>
          <a:ln w="12700">
            <a:solidFill>
              <a:srgbClr val="D9E0E5"/>
            </a:solidFill>
            <a:prstDash val="solid"/>
          </a:ln>
        </p:spPr>
      </p:sp>
      <p:sp>
        <p:nvSpPr>
          <p:cNvPr id="6" name="Text 4"/>
          <p:cNvSpPr/>
          <p:nvPr/>
        </p:nvSpPr>
        <p:spPr>
          <a:xfrm>
            <a:off x="658368" y="1755648"/>
            <a:ext cx="1737360" cy="402336"/>
          </a:xfrm>
          <a:prstGeom prst="rect">
            <a:avLst/>
          </a:prstGeom>
          <a:noFill/>
          <a:ln/>
        </p:spPr>
        <p:txBody>
          <a:bodyPr wrap="square" lIns="0" tIns="0" rIns="0" bIns="0" rtlCol="0" anchor="ctr">
            <a:normAutofit/>
          </a:bodyPr>
          <a:lstStyle/>
          <a:p>
            <a:pPr algn="ctr" indent="0" marL="0">
              <a:buNone/>
            </a:pPr>
            <a:r>
              <a:rPr lang="en-US" sz="1050" b="1" dirty="0">
                <a:solidFill>
                  <a:srgbClr val="0B2A45"/>
                </a:solidFill>
                <a:latin typeface="Arial" pitchFamily="34" charset="0"/>
                <a:ea typeface="Arial" pitchFamily="34" charset="-122"/>
                <a:cs typeface="Arial" pitchFamily="34" charset="-120"/>
              </a:rPr>
              <a:t>5 chronological</a:t>
            </a:r>
            <a:endParaRPr lang="en-US" sz="1050" dirty="0"/>
          </a:p>
          <a:p>
            <a:pPr algn="ctr" indent="0" marL="0">
              <a:buNone/>
            </a:pPr>
            <a:r>
              <a:rPr lang="en-US" sz="1050" b="1" dirty="0">
                <a:solidFill>
                  <a:srgbClr val="0B2A45"/>
                </a:solidFill>
                <a:latin typeface="Arial" pitchFamily="34" charset="0"/>
                <a:ea typeface="Arial" pitchFamily="34" charset="-122"/>
                <a:cs typeface="Arial" pitchFamily="34" charset="-120"/>
              </a:rPr>
              <a:t>test folds</a:t>
            </a:r>
            <a:endParaRPr lang="en-US" sz="1050" dirty="0"/>
          </a:p>
        </p:txBody>
      </p:sp>
      <p:sp>
        <p:nvSpPr>
          <p:cNvPr id="7" name="Shape 5"/>
          <p:cNvSpPr/>
          <p:nvPr/>
        </p:nvSpPr>
        <p:spPr>
          <a:xfrm>
            <a:off x="2505456" y="1984248"/>
            <a:ext cx="283464" cy="0"/>
          </a:xfrm>
          <a:prstGeom prst="line">
            <a:avLst/>
          </a:prstGeom>
          <a:noFill/>
          <a:ln w="20320">
            <a:solidFill>
              <a:srgbClr val="D9E0E5"/>
            </a:solidFill>
            <a:prstDash val="solid"/>
          </a:ln>
        </p:spPr>
      </p:sp>
      <p:sp>
        <p:nvSpPr>
          <p:cNvPr id="8" name="Shape 6"/>
          <p:cNvSpPr/>
          <p:nvPr/>
        </p:nvSpPr>
        <p:spPr>
          <a:xfrm>
            <a:off x="2670048" y="1883664"/>
            <a:ext cx="146304" cy="201168"/>
          </a:xfrm>
          <a:prstGeom prst="chevron">
            <a:avLst/>
          </a:prstGeom>
          <a:solidFill>
            <a:srgbClr val="D9E0E5"/>
          </a:solidFill>
          <a:ln w="12700">
            <a:solidFill>
              <a:srgbClr val="D9E0E5"/>
            </a:solidFill>
            <a:prstDash val="solid"/>
          </a:ln>
        </p:spPr>
      </p:sp>
      <p:sp>
        <p:nvSpPr>
          <p:cNvPr id="9" name="Shape 7"/>
          <p:cNvSpPr/>
          <p:nvPr/>
        </p:nvSpPr>
        <p:spPr>
          <a:xfrm>
            <a:off x="2834640" y="1554480"/>
            <a:ext cx="1920240" cy="859536"/>
          </a:xfrm>
          <a:prstGeom prst="roundRect">
            <a:avLst>
              <a:gd name="adj" fmla="val 6383"/>
            </a:avLst>
          </a:prstGeom>
          <a:solidFill>
            <a:srgbClr val="FFFFFF"/>
          </a:solidFill>
          <a:ln w="12700">
            <a:solidFill>
              <a:srgbClr val="D9E0E5"/>
            </a:solidFill>
            <a:prstDash val="solid"/>
          </a:ln>
        </p:spPr>
      </p:sp>
      <p:sp>
        <p:nvSpPr>
          <p:cNvPr id="10" name="Text 8"/>
          <p:cNvSpPr/>
          <p:nvPr/>
        </p:nvSpPr>
        <p:spPr>
          <a:xfrm>
            <a:off x="2926080" y="1755648"/>
            <a:ext cx="1737360" cy="402336"/>
          </a:xfrm>
          <a:prstGeom prst="rect">
            <a:avLst/>
          </a:prstGeom>
          <a:noFill/>
          <a:ln/>
        </p:spPr>
        <p:txBody>
          <a:bodyPr wrap="square" lIns="0" tIns="0" rIns="0" bIns="0" rtlCol="0" anchor="ctr">
            <a:normAutofit/>
          </a:bodyPr>
          <a:lstStyle/>
          <a:p>
            <a:pPr algn="ctr" indent="0" marL="0">
              <a:buNone/>
            </a:pPr>
            <a:r>
              <a:rPr lang="en-US" sz="1050" b="1" dirty="0">
                <a:solidFill>
                  <a:srgbClr val="0B2A45"/>
                </a:solidFill>
                <a:latin typeface="Arial" pitchFamily="34" charset="0"/>
                <a:ea typeface="Arial" pitchFamily="34" charset="-122"/>
                <a:cs typeface="Arial" pitchFamily="34" charset="-120"/>
              </a:rPr>
              <a:t>Purge overlapping</a:t>
            </a:r>
            <a:endParaRPr lang="en-US" sz="1050" dirty="0"/>
          </a:p>
          <a:p>
            <a:pPr algn="ctr" indent="0" marL="0">
              <a:buNone/>
            </a:pPr>
            <a:r>
              <a:rPr lang="en-US" sz="1050" b="1" dirty="0">
                <a:solidFill>
                  <a:srgbClr val="0B2A45"/>
                </a:solidFill>
                <a:latin typeface="Arial" pitchFamily="34" charset="0"/>
                <a:ea typeface="Arial" pitchFamily="34" charset="-122"/>
                <a:cs typeface="Arial" pitchFamily="34" charset="-120"/>
              </a:rPr>
              <a:t>information windows</a:t>
            </a:r>
            <a:endParaRPr lang="en-US" sz="1050" dirty="0"/>
          </a:p>
        </p:txBody>
      </p:sp>
      <p:sp>
        <p:nvSpPr>
          <p:cNvPr id="11" name="Shape 9"/>
          <p:cNvSpPr/>
          <p:nvPr/>
        </p:nvSpPr>
        <p:spPr>
          <a:xfrm>
            <a:off x="4773168" y="1984248"/>
            <a:ext cx="283464" cy="0"/>
          </a:xfrm>
          <a:prstGeom prst="line">
            <a:avLst/>
          </a:prstGeom>
          <a:noFill/>
          <a:ln w="20320">
            <a:solidFill>
              <a:srgbClr val="D9E0E5"/>
            </a:solidFill>
            <a:prstDash val="solid"/>
          </a:ln>
        </p:spPr>
      </p:sp>
      <p:sp>
        <p:nvSpPr>
          <p:cNvPr id="12" name="Shape 10"/>
          <p:cNvSpPr/>
          <p:nvPr/>
        </p:nvSpPr>
        <p:spPr>
          <a:xfrm>
            <a:off x="4937760" y="1883664"/>
            <a:ext cx="146304" cy="201168"/>
          </a:xfrm>
          <a:prstGeom prst="chevron">
            <a:avLst/>
          </a:prstGeom>
          <a:solidFill>
            <a:srgbClr val="D9E0E5"/>
          </a:solidFill>
          <a:ln w="12700">
            <a:solidFill>
              <a:srgbClr val="D9E0E5"/>
            </a:solidFill>
            <a:prstDash val="solid"/>
          </a:ln>
        </p:spPr>
      </p:sp>
      <p:sp>
        <p:nvSpPr>
          <p:cNvPr id="13" name="Shape 11"/>
          <p:cNvSpPr/>
          <p:nvPr/>
        </p:nvSpPr>
        <p:spPr>
          <a:xfrm>
            <a:off x="5102352" y="1554480"/>
            <a:ext cx="1920240" cy="859536"/>
          </a:xfrm>
          <a:prstGeom prst="roundRect">
            <a:avLst>
              <a:gd name="adj" fmla="val 6383"/>
            </a:avLst>
          </a:prstGeom>
          <a:solidFill>
            <a:srgbClr val="FFFFFF"/>
          </a:solidFill>
          <a:ln w="12700">
            <a:solidFill>
              <a:srgbClr val="D9E0E5"/>
            </a:solidFill>
            <a:prstDash val="solid"/>
          </a:ln>
        </p:spPr>
      </p:sp>
      <p:sp>
        <p:nvSpPr>
          <p:cNvPr id="14" name="Text 12"/>
          <p:cNvSpPr/>
          <p:nvPr/>
        </p:nvSpPr>
        <p:spPr>
          <a:xfrm>
            <a:off x="5193792" y="1755648"/>
            <a:ext cx="1737360" cy="402336"/>
          </a:xfrm>
          <a:prstGeom prst="rect">
            <a:avLst/>
          </a:prstGeom>
          <a:noFill/>
          <a:ln/>
        </p:spPr>
        <p:txBody>
          <a:bodyPr wrap="square" lIns="0" tIns="0" rIns="0" bIns="0" rtlCol="0" anchor="ctr">
            <a:normAutofit/>
          </a:bodyPr>
          <a:lstStyle/>
          <a:p>
            <a:pPr algn="ctr" indent="0" marL="0">
              <a:buNone/>
            </a:pPr>
            <a:r>
              <a:rPr lang="en-US" sz="1050" b="1" dirty="0">
                <a:solidFill>
                  <a:srgbClr val="0B2A45"/>
                </a:solidFill>
                <a:latin typeface="Arial" pitchFamily="34" charset="0"/>
                <a:ea typeface="Arial" pitchFamily="34" charset="-122"/>
                <a:cs typeface="Arial" pitchFamily="34" charset="-120"/>
              </a:rPr>
              <a:t>1% embargo</a:t>
            </a:r>
            <a:endParaRPr lang="en-US" sz="1050" dirty="0"/>
          </a:p>
          <a:p>
            <a:pPr algn="ctr" indent="0" marL="0">
              <a:buNone/>
            </a:pPr>
            <a:r>
              <a:rPr lang="en-US" sz="1050" b="1" dirty="0">
                <a:solidFill>
                  <a:srgbClr val="0B2A45"/>
                </a:solidFill>
                <a:latin typeface="Arial" pitchFamily="34" charset="0"/>
                <a:ea typeface="Arial" pitchFamily="34" charset="-122"/>
                <a:cs typeface="Arial" pitchFamily="34" charset="-120"/>
              </a:rPr>
              <a:t>= 21 dates</a:t>
            </a:r>
            <a:endParaRPr lang="en-US" sz="1050" dirty="0"/>
          </a:p>
        </p:txBody>
      </p:sp>
      <p:sp>
        <p:nvSpPr>
          <p:cNvPr id="15" name="Shape 13"/>
          <p:cNvSpPr/>
          <p:nvPr/>
        </p:nvSpPr>
        <p:spPr>
          <a:xfrm>
            <a:off x="7040880" y="1984248"/>
            <a:ext cx="283464" cy="0"/>
          </a:xfrm>
          <a:prstGeom prst="line">
            <a:avLst/>
          </a:prstGeom>
          <a:noFill/>
          <a:ln w="20320">
            <a:solidFill>
              <a:srgbClr val="D9E0E5"/>
            </a:solidFill>
            <a:prstDash val="solid"/>
          </a:ln>
        </p:spPr>
      </p:sp>
      <p:sp>
        <p:nvSpPr>
          <p:cNvPr id="16" name="Shape 14"/>
          <p:cNvSpPr/>
          <p:nvPr/>
        </p:nvSpPr>
        <p:spPr>
          <a:xfrm>
            <a:off x="7205472" y="1883664"/>
            <a:ext cx="146304" cy="201168"/>
          </a:xfrm>
          <a:prstGeom prst="chevron">
            <a:avLst/>
          </a:prstGeom>
          <a:solidFill>
            <a:srgbClr val="D9E0E5"/>
          </a:solidFill>
          <a:ln w="12700">
            <a:solidFill>
              <a:srgbClr val="D9E0E5"/>
            </a:solidFill>
            <a:prstDash val="solid"/>
          </a:ln>
        </p:spPr>
      </p:sp>
      <p:sp>
        <p:nvSpPr>
          <p:cNvPr id="17" name="Shape 15"/>
          <p:cNvSpPr/>
          <p:nvPr/>
        </p:nvSpPr>
        <p:spPr>
          <a:xfrm>
            <a:off x="7370064" y="1554480"/>
            <a:ext cx="1920240" cy="859536"/>
          </a:xfrm>
          <a:prstGeom prst="roundRect">
            <a:avLst>
              <a:gd name="adj" fmla="val 6383"/>
            </a:avLst>
          </a:prstGeom>
          <a:solidFill>
            <a:srgbClr val="FFFFFF"/>
          </a:solidFill>
          <a:ln w="12700">
            <a:solidFill>
              <a:srgbClr val="D9E0E5"/>
            </a:solidFill>
            <a:prstDash val="solid"/>
          </a:ln>
        </p:spPr>
      </p:sp>
      <p:sp>
        <p:nvSpPr>
          <p:cNvPr id="18" name="Text 16"/>
          <p:cNvSpPr/>
          <p:nvPr/>
        </p:nvSpPr>
        <p:spPr>
          <a:xfrm>
            <a:off x="7461504" y="1755648"/>
            <a:ext cx="1737360" cy="402336"/>
          </a:xfrm>
          <a:prstGeom prst="rect">
            <a:avLst/>
          </a:prstGeom>
          <a:noFill/>
          <a:ln/>
        </p:spPr>
        <p:txBody>
          <a:bodyPr wrap="square" lIns="0" tIns="0" rIns="0" bIns="0" rtlCol="0" anchor="ctr">
            <a:normAutofit/>
          </a:bodyPr>
          <a:lstStyle/>
          <a:p>
            <a:pPr algn="ctr" indent="0" marL="0">
              <a:buNone/>
            </a:pPr>
            <a:r>
              <a:rPr lang="en-US" sz="1050" b="1" dirty="0">
                <a:solidFill>
                  <a:srgbClr val="0B2A45"/>
                </a:solidFill>
                <a:latin typeface="Arial" pitchFamily="34" charset="0"/>
                <a:ea typeface="Arial" pitchFamily="34" charset="-122"/>
                <a:cs typeface="Arial" pitchFamily="34" charset="-120"/>
              </a:rPr>
              <a:t>Train-only</a:t>
            </a:r>
            <a:endParaRPr lang="en-US" sz="1050" dirty="0"/>
          </a:p>
          <a:p>
            <a:pPr algn="ctr" indent="0" marL="0">
              <a:buNone/>
            </a:pPr>
            <a:r>
              <a:rPr lang="en-US" sz="1050" b="1" dirty="0">
                <a:solidFill>
                  <a:srgbClr val="0B2A45"/>
                </a:solidFill>
                <a:latin typeface="Arial" pitchFamily="34" charset="0"/>
                <a:ea typeface="Arial" pitchFamily="34" charset="-122"/>
                <a:cs typeface="Arial" pitchFamily="34" charset="-120"/>
              </a:rPr>
              <a:t>preprocessing</a:t>
            </a:r>
            <a:endParaRPr lang="en-US" sz="1050" dirty="0"/>
          </a:p>
        </p:txBody>
      </p:sp>
      <p:sp>
        <p:nvSpPr>
          <p:cNvPr id="19" name="Shape 17"/>
          <p:cNvSpPr/>
          <p:nvPr/>
        </p:nvSpPr>
        <p:spPr>
          <a:xfrm>
            <a:off x="9308592" y="1984248"/>
            <a:ext cx="283464" cy="0"/>
          </a:xfrm>
          <a:prstGeom prst="line">
            <a:avLst/>
          </a:prstGeom>
          <a:noFill/>
          <a:ln w="20320">
            <a:solidFill>
              <a:srgbClr val="D9E0E5"/>
            </a:solidFill>
            <a:prstDash val="solid"/>
          </a:ln>
        </p:spPr>
      </p:sp>
      <p:sp>
        <p:nvSpPr>
          <p:cNvPr id="20" name="Shape 18"/>
          <p:cNvSpPr/>
          <p:nvPr/>
        </p:nvSpPr>
        <p:spPr>
          <a:xfrm>
            <a:off x="9473184" y="1883664"/>
            <a:ext cx="146304" cy="201168"/>
          </a:xfrm>
          <a:prstGeom prst="chevron">
            <a:avLst/>
          </a:prstGeom>
          <a:solidFill>
            <a:srgbClr val="D9E0E5"/>
          </a:solidFill>
          <a:ln w="12700">
            <a:solidFill>
              <a:srgbClr val="D9E0E5"/>
            </a:solidFill>
            <a:prstDash val="solid"/>
          </a:ln>
        </p:spPr>
      </p:sp>
      <p:sp>
        <p:nvSpPr>
          <p:cNvPr id="21" name="Shape 19"/>
          <p:cNvSpPr/>
          <p:nvPr/>
        </p:nvSpPr>
        <p:spPr>
          <a:xfrm>
            <a:off x="9637776" y="1554480"/>
            <a:ext cx="1920240" cy="859536"/>
          </a:xfrm>
          <a:prstGeom prst="roundRect">
            <a:avLst>
              <a:gd name="adj" fmla="val 6383"/>
            </a:avLst>
          </a:prstGeom>
          <a:solidFill>
            <a:srgbClr val="E2F2F3"/>
          </a:solidFill>
          <a:ln w="12700">
            <a:solidFill>
              <a:srgbClr val="B8DDE0"/>
            </a:solidFill>
            <a:prstDash val="solid"/>
          </a:ln>
        </p:spPr>
      </p:sp>
      <p:sp>
        <p:nvSpPr>
          <p:cNvPr id="22" name="Text 20"/>
          <p:cNvSpPr/>
          <p:nvPr/>
        </p:nvSpPr>
        <p:spPr>
          <a:xfrm>
            <a:off x="9729216" y="1755648"/>
            <a:ext cx="1737360" cy="402336"/>
          </a:xfrm>
          <a:prstGeom prst="rect">
            <a:avLst/>
          </a:prstGeom>
          <a:noFill/>
          <a:ln/>
        </p:spPr>
        <p:txBody>
          <a:bodyPr wrap="square" lIns="0" tIns="0" rIns="0" bIns="0" rtlCol="0" anchor="ctr">
            <a:normAutofit/>
          </a:bodyPr>
          <a:lstStyle/>
          <a:p>
            <a:pPr algn="ctr" indent="0" marL="0">
              <a:buNone/>
            </a:pPr>
            <a:r>
              <a:rPr lang="en-US" sz="1050" b="1" dirty="0">
                <a:solidFill>
                  <a:srgbClr val="068A95"/>
                </a:solidFill>
                <a:latin typeface="Arial" pitchFamily="34" charset="0"/>
                <a:ea typeface="Arial" pitchFamily="34" charset="-122"/>
                <a:cs typeface="Arial" pitchFamily="34" charset="-120"/>
              </a:rPr>
              <a:t>Fixed HGBR</a:t>
            </a:r>
            <a:endParaRPr lang="en-US" sz="1050" dirty="0"/>
          </a:p>
          <a:p>
            <a:pPr algn="ctr" indent="0" marL="0">
              <a:buNone/>
            </a:pPr>
            <a:r>
              <a:rPr lang="en-US" sz="1050" b="1" dirty="0">
                <a:solidFill>
                  <a:srgbClr val="068A95"/>
                </a:solidFill>
                <a:latin typeface="Arial" pitchFamily="34" charset="0"/>
                <a:ea typeface="Arial" pitchFamily="34" charset="-122"/>
                <a:cs typeface="Arial" pitchFamily="34" charset="-120"/>
              </a:rPr>
              <a:t>no tuning</a:t>
            </a:r>
            <a:endParaRPr lang="en-US" sz="1050" dirty="0"/>
          </a:p>
        </p:txBody>
      </p:sp>
      <p:sp>
        <p:nvSpPr>
          <p:cNvPr id="23" name="Text 21"/>
          <p:cNvSpPr/>
          <p:nvPr/>
        </p:nvSpPr>
        <p:spPr>
          <a:xfrm>
            <a:off x="640080" y="3017520"/>
            <a:ext cx="2926080" cy="164592"/>
          </a:xfrm>
          <a:prstGeom prst="rect">
            <a:avLst/>
          </a:prstGeom>
          <a:noFill/>
          <a:ln/>
        </p:spPr>
        <p:txBody>
          <a:bodyPr wrap="square" lIns="0" tIns="0" rIns="0" bIns="0" rtlCol="0" anchor="ctr">
            <a:normAutofit/>
          </a:bodyPr>
          <a:lstStyle/>
          <a:p>
            <a:pPr algn="l" indent="0" marL="0">
              <a:buNone/>
            </a:pPr>
            <a:r>
              <a:rPr lang="en-US" sz="750" b="1" dirty="0">
                <a:solidFill>
                  <a:srgbClr val="C8902F"/>
                </a:solidFill>
                <a:latin typeface="Arial" pitchFamily="34" charset="0"/>
                <a:ea typeface="Arial" pitchFamily="34" charset="-122"/>
                <a:cs typeface="Arial" pitchFamily="34" charset="-120"/>
              </a:rPr>
              <a:t>LAG1 PLACEBO · RMSE CHANGE VS ALIGNED</a:t>
            </a:r>
            <a:endParaRPr lang="en-US" sz="750" dirty="0"/>
          </a:p>
        </p:txBody>
      </p:sp>
      <p:sp>
        <p:nvSpPr>
          <p:cNvPr id="24" name="Text 22"/>
          <p:cNvSpPr/>
          <p:nvPr/>
        </p:nvSpPr>
        <p:spPr>
          <a:xfrm>
            <a:off x="749808" y="3429000"/>
            <a:ext cx="685800" cy="219456"/>
          </a:xfrm>
          <a:prstGeom prst="rect">
            <a:avLst/>
          </a:prstGeom>
          <a:noFill/>
          <a:ln/>
        </p:spPr>
        <p:txBody>
          <a:bodyPr wrap="square" lIns="0" tIns="0" rIns="0" bIns="0" rtlCol="0" anchor="ctr">
            <a:normAutofit/>
          </a:bodyPr>
          <a:lstStyle/>
          <a:p>
            <a:pPr algn="l" indent="0" marL="0">
              <a:buNone/>
            </a:pPr>
            <a:r>
              <a:rPr lang="en-US" sz="1050" b="1" dirty="0">
                <a:solidFill>
                  <a:srgbClr val="2F5D7C"/>
                </a:solidFill>
                <a:latin typeface="Arial" pitchFamily="34" charset="0"/>
                <a:ea typeface="Arial" pitchFamily="34" charset="-122"/>
                <a:cs typeface="Arial" pitchFamily="34" charset="-120"/>
              </a:rPr>
              <a:t>CS</a:t>
            </a:r>
            <a:endParaRPr lang="en-US" sz="1050" dirty="0"/>
          </a:p>
        </p:txBody>
      </p:sp>
      <p:sp>
        <p:nvSpPr>
          <p:cNvPr id="25" name="Text 23"/>
          <p:cNvSpPr/>
          <p:nvPr/>
        </p:nvSpPr>
        <p:spPr>
          <a:xfrm>
            <a:off x="1554480" y="3429000"/>
            <a:ext cx="1188720" cy="219456"/>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Absolute</a:t>
            </a:r>
            <a:endParaRPr lang="en-US" sz="980" dirty="0"/>
          </a:p>
        </p:txBody>
      </p:sp>
      <p:sp>
        <p:nvSpPr>
          <p:cNvPr id="26" name="Text 24"/>
          <p:cNvSpPr/>
          <p:nvPr/>
        </p:nvSpPr>
        <p:spPr>
          <a:xfrm>
            <a:off x="2898648" y="3429000"/>
            <a:ext cx="960120" cy="219456"/>
          </a:xfrm>
          <a:prstGeom prst="rect">
            <a:avLst/>
          </a:prstGeom>
          <a:noFill/>
          <a:ln/>
        </p:spPr>
        <p:txBody>
          <a:bodyPr wrap="square" lIns="0" tIns="0" rIns="0" bIns="0" rtlCol="0" anchor="ctr">
            <a:normAutofit/>
          </a:bodyPr>
          <a:lstStyle/>
          <a:p>
            <a:pPr algn="r" indent="0" marL="0">
              <a:buNone/>
            </a:pPr>
            <a:r>
              <a:rPr lang="en-US" sz="1100" b="1" dirty="0">
                <a:solidFill>
                  <a:srgbClr val="068A95"/>
                </a:solidFill>
                <a:latin typeface="Arial" pitchFamily="34" charset="0"/>
                <a:ea typeface="Arial" pitchFamily="34" charset="-122"/>
                <a:cs typeface="Arial" pitchFamily="34" charset="-120"/>
              </a:rPr>
              <a:t>−0.38%</a:t>
            </a:r>
            <a:endParaRPr lang="en-US" sz="1100" dirty="0"/>
          </a:p>
        </p:txBody>
      </p:sp>
      <p:sp>
        <p:nvSpPr>
          <p:cNvPr id="27" name="Text 25"/>
          <p:cNvSpPr/>
          <p:nvPr/>
        </p:nvSpPr>
        <p:spPr>
          <a:xfrm>
            <a:off x="749808" y="4023360"/>
            <a:ext cx="685800" cy="219456"/>
          </a:xfrm>
          <a:prstGeom prst="rect">
            <a:avLst/>
          </a:prstGeom>
          <a:noFill/>
          <a:ln/>
        </p:spPr>
        <p:txBody>
          <a:bodyPr wrap="square" lIns="0" tIns="0" rIns="0" bIns="0" rtlCol="0" anchor="ctr">
            <a:normAutofit/>
          </a:bodyPr>
          <a:lstStyle/>
          <a:p>
            <a:pPr algn="l" indent="0" marL="0">
              <a:buNone/>
            </a:pPr>
            <a:r>
              <a:rPr lang="en-US" sz="1050" b="1" dirty="0">
                <a:solidFill>
                  <a:srgbClr val="2F5D7C"/>
                </a:solidFill>
                <a:latin typeface="Arial" pitchFamily="34" charset="0"/>
                <a:ea typeface="Arial" pitchFamily="34" charset="-122"/>
                <a:cs typeface="Arial" pitchFamily="34" charset="-120"/>
              </a:rPr>
              <a:t>CS</a:t>
            </a:r>
            <a:endParaRPr lang="en-US" sz="1050" dirty="0"/>
          </a:p>
        </p:txBody>
      </p:sp>
      <p:sp>
        <p:nvSpPr>
          <p:cNvPr id="28" name="Text 26"/>
          <p:cNvSpPr/>
          <p:nvPr/>
        </p:nvSpPr>
        <p:spPr>
          <a:xfrm>
            <a:off x="1554480" y="4023360"/>
            <a:ext cx="1188720" cy="219456"/>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Signed</a:t>
            </a:r>
            <a:endParaRPr lang="en-US" sz="980" dirty="0"/>
          </a:p>
        </p:txBody>
      </p:sp>
      <p:sp>
        <p:nvSpPr>
          <p:cNvPr id="29" name="Text 27"/>
          <p:cNvSpPr/>
          <p:nvPr/>
        </p:nvSpPr>
        <p:spPr>
          <a:xfrm>
            <a:off x="2898648" y="4023360"/>
            <a:ext cx="960120" cy="219456"/>
          </a:xfrm>
          <a:prstGeom prst="rect">
            <a:avLst/>
          </a:prstGeom>
          <a:noFill/>
          <a:ln/>
        </p:spPr>
        <p:txBody>
          <a:bodyPr wrap="square" lIns="0" tIns="0" rIns="0" bIns="0" rtlCol="0" anchor="ctr">
            <a:normAutofit/>
          </a:bodyPr>
          <a:lstStyle/>
          <a:p>
            <a:pPr algn="r" indent="0" marL="0">
              <a:buNone/>
            </a:pPr>
            <a:r>
              <a:rPr lang="en-US" sz="1100" b="1" dirty="0">
                <a:solidFill>
                  <a:srgbClr val="068A95"/>
                </a:solidFill>
                <a:latin typeface="Arial" pitchFamily="34" charset="0"/>
                <a:ea typeface="Arial" pitchFamily="34" charset="-122"/>
                <a:cs typeface="Arial" pitchFamily="34" charset="-120"/>
              </a:rPr>
              <a:t>−1.59%</a:t>
            </a:r>
            <a:endParaRPr lang="en-US" sz="1100" dirty="0"/>
          </a:p>
        </p:txBody>
      </p:sp>
      <p:sp>
        <p:nvSpPr>
          <p:cNvPr id="30" name="Text 28"/>
          <p:cNvSpPr/>
          <p:nvPr/>
        </p:nvSpPr>
        <p:spPr>
          <a:xfrm>
            <a:off x="749808" y="4617720"/>
            <a:ext cx="685800" cy="219456"/>
          </a:xfrm>
          <a:prstGeom prst="rect">
            <a:avLst/>
          </a:prstGeom>
          <a:noFill/>
          <a:ln/>
        </p:spPr>
        <p:txBody>
          <a:bodyPr wrap="square" lIns="0" tIns="0" rIns="0" bIns="0" rtlCol="0" anchor="ctr">
            <a:normAutofit/>
          </a:bodyPr>
          <a:lstStyle/>
          <a:p>
            <a:pPr algn="l" indent="0" marL="0">
              <a:buNone/>
            </a:pPr>
            <a:r>
              <a:rPr lang="en-US" sz="1050" b="1" dirty="0">
                <a:solidFill>
                  <a:srgbClr val="74828C"/>
                </a:solidFill>
                <a:latin typeface="Arial" pitchFamily="34" charset="0"/>
                <a:ea typeface="Arial" pitchFamily="34" charset="-122"/>
                <a:cs typeface="Arial" pitchFamily="34" charset="-120"/>
              </a:rPr>
              <a:t>AR</a:t>
            </a:r>
            <a:endParaRPr lang="en-US" sz="1050" dirty="0"/>
          </a:p>
        </p:txBody>
      </p:sp>
      <p:sp>
        <p:nvSpPr>
          <p:cNvPr id="31" name="Text 29"/>
          <p:cNvSpPr/>
          <p:nvPr/>
        </p:nvSpPr>
        <p:spPr>
          <a:xfrm>
            <a:off x="1554480" y="4617720"/>
            <a:ext cx="1188720" cy="219456"/>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Absolute</a:t>
            </a:r>
            <a:endParaRPr lang="en-US" sz="980" dirty="0"/>
          </a:p>
        </p:txBody>
      </p:sp>
      <p:sp>
        <p:nvSpPr>
          <p:cNvPr id="32" name="Text 30"/>
          <p:cNvSpPr/>
          <p:nvPr/>
        </p:nvSpPr>
        <p:spPr>
          <a:xfrm>
            <a:off x="2898648" y="4617720"/>
            <a:ext cx="960120" cy="219456"/>
          </a:xfrm>
          <a:prstGeom prst="rect">
            <a:avLst/>
          </a:prstGeom>
          <a:noFill/>
          <a:ln/>
        </p:spPr>
        <p:txBody>
          <a:bodyPr wrap="square" lIns="0" tIns="0" rIns="0" bIns="0" rtlCol="0" anchor="ctr">
            <a:normAutofit/>
          </a:bodyPr>
          <a:lstStyle/>
          <a:p>
            <a:pPr algn="r" indent="0" marL="0">
              <a:buNone/>
            </a:pPr>
            <a:r>
              <a:rPr lang="en-US" sz="1100" b="1" dirty="0">
                <a:solidFill>
                  <a:srgbClr val="C8902F"/>
                </a:solidFill>
                <a:latin typeface="Arial" pitchFamily="34" charset="0"/>
                <a:ea typeface="Arial" pitchFamily="34" charset="-122"/>
                <a:cs typeface="Arial" pitchFamily="34" charset="-120"/>
              </a:rPr>
              <a:t>+3.68%</a:t>
            </a:r>
            <a:endParaRPr lang="en-US" sz="1100" dirty="0"/>
          </a:p>
        </p:txBody>
      </p:sp>
      <p:sp>
        <p:nvSpPr>
          <p:cNvPr id="33" name="Text 31"/>
          <p:cNvSpPr/>
          <p:nvPr/>
        </p:nvSpPr>
        <p:spPr>
          <a:xfrm>
            <a:off x="5961888" y="3429000"/>
            <a:ext cx="685800" cy="219456"/>
          </a:xfrm>
          <a:prstGeom prst="rect">
            <a:avLst/>
          </a:prstGeom>
          <a:noFill/>
          <a:ln/>
        </p:spPr>
        <p:txBody>
          <a:bodyPr wrap="square" lIns="0" tIns="0" rIns="0" bIns="0" rtlCol="0" anchor="ctr">
            <a:normAutofit/>
          </a:bodyPr>
          <a:lstStyle/>
          <a:p>
            <a:pPr algn="l" indent="0" marL="0">
              <a:buNone/>
            </a:pPr>
            <a:r>
              <a:rPr lang="en-US" sz="1050" b="1" dirty="0">
                <a:solidFill>
                  <a:srgbClr val="74828C"/>
                </a:solidFill>
                <a:latin typeface="Arial" pitchFamily="34" charset="0"/>
                <a:ea typeface="Arial" pitchFamily="34" charset="-122"/>
                <a:cs typeface="Arial" pitchFamily="34" charset="-120"/>
              </a:rPr>
              <a:t>AR</a:t>
            </a:r>
            <a:endParaRPr lang="en-US" sz="1050" dirty="0"/>
          </a:p>
        </p:txBody>
      </p:sp>
      <p:sp>
        <p:nvSpPr>
          <p:cNvPr id="34" name="Text 32"/>
          <p:cNvSpPr/>
          <p:nvPr/>
        </p:nvSpPr>
        <p:spPr>
          <a:xfrm>
            <a:off x="6766560" y="3429000"/>
            <a:ext cx="1188720" cy="219456"/>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Signed</a:t>
            </a:r>
            <a:endParaRPr lang="en-US" sz="980" dirty="0"/>
          </a:p>
        </p:txBody>
      </p:sp>
      <p:sp>
        <p:nvSpPr>
          <p:cNvPr id="35" name="Text 33"/>
          <p:cNvSpPr/>
          <p:nvPr/>
        </p:nvSpPr>
        <p:spPr>
          <a:xfrm>
            <a:off x="8110728" y="3429000"/>
            <a:ext cx="960120" cy="219456"/>
          </a:xfrm>
          <a:prstGeom prst="rect">
            <a:avLst/>
          </a:prstGeom>
          <a:noFill/>
          <a:ln/>
        </p:spPr>
        <p:txBody>
          <a:bodyPr wrap="square" lIns="0" tIns="0" rIns="0" bIns="0" rtlCol="0" anchor="ctr">
            <a:normAutofit/>
          </a:bodyPr>
          <a:lstStyle/>
          <a:p>
            <a:pPr algn="r" indent="0" marL="0">
              <a:buNone/>
            </a:pPr>
            <a:r>
              <a:rPr lang="en-US" sz="1100" b="1" dirty="0">
                <a:solidFill>
                  <a:srgbClr val="C8902F"/>
                </a:solidFill>
                <a:latin typeface="Arial" pitchFamily="34" charset="0"/>
                <a:ea typeface="Arial" pitchFamily="34" charset="-122"/>
                <a:cs typeface="Arial" pitchFamily="34" charset="-120"/>
              </a:rPr>
              <a:t>+2.38%</a:t>
            </a:r>
            <a:endParaRPr lang="en-US" sz="1100" dirty="0"/>
          </a:p>
        </p:txBody>
      </p:sp>
      <p:sp>
        <p:nvSpPr>
          <p:cNvPr id="36" name="Text 34"/>
          <p:cNvSpPr/>
          <p:nvPr/>
        </p:nvSpPr>
        <p:spPr>
          <a:xfrm>
            <a:off x="5961888" y="4023360"/>
            <a:ext cx="685800" cy="219456"/>
          </a:xfrm>
          <a:prstGeom prst="rect">
            <a:avLst/>
          </a:prstGeom>
          <a:noFill/>
          <a:ln/>
        </p:spPr>
        <p:txBody>
          <a:bodyPr wrap="square" lIns="0" tIns="0" rIns="0" bIns="0" rtlCol="0" anchor="ctr">
            <a:normAutofit/>
          </a:bodyPr>
          <a:lstStyle/>
          <a:p>
            <a:pPr algn="l" indent="0" marL="0">
              <a:buNone/>
            </a:pPr>
            <a:r>
              <a:rPr lang="en-US" sz="1050" b="1" dirty="0">
                <a:solidFill>
                  <a:srgbClr val="068A95"/>
                </a:solidFill>
                <a:latin typeface="Arial" pitchFamily="34" charset="0"/>
                <a:ea typeface="Arial" pitchFamily="34" charset="-122"/>
                <a:cs typeface="Arial" pitchFamily="34" charset="-120"/>
              </a:rPr>
              <a:t>EDGE</a:t>
            </a:r>
            <a:endParaRPr lang="en-US" sz="1050" dirty="0"/>
          </a:p>
        </p:txBody>
      </p:sp>
      <p:sp>
        <p:nvSpPr>
          <p:cNvPr id="37" name="Text 35"/>
          <p:cNvSpPr/>
          <p:nvPr/>
        </p:nvSpPr>
        <p:spPr>
          <a:xfrm>
            <a:off x="6766560" y="4023360"/>
            <a:ext cx="1188720" cy="219456"/>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Absolute</a:t>
            </a:r>
            <a:endParaRPr lang="en-US" sz="980" dirty="0"/>
          </a:p>
        </p:txBody>
      </p:sp>
      <p:sp>
        <p:nvSpPr>
          <p:cNvPr id="38" name="Text 36"/>
          <p:cNvSpPr/>
          <p:nvPr/>
        </p:nvSpPr>
        <p:spPr>
          <a:xfrm>
            <a:off x="8110728" y="4023360"/>
            <a:ext cx="960120" cy="219456"/>
          </a:xfrm>
          <a:prstGeom prst="rect">
            <a:avLst/>
          </a:prstGeom>
          <a:noFill/>
          <a:ln/>
        </p:spPr>
        <p:txBody>
          <a:bodyPr wrap="square" lIns="0" tIns="0" rIns="0" bIns="0" rtlCol="0" anchor="ctr">
            <a:normAutofit/>
          </a:bodyPr>
          <a:lstStyle/>
          <a:p>
            <a:pPr algn="r" indent="0" marL="0">
              <a:buNone/>
            </a:pPr>
            <a:r>
              <a:rPr lang="en-US" sz="1100" b="1" dirty="0">
                <a:solidFill>
                  <a:srgbClr val="C8902F"/>
                </a:solidFill>
                <a:latin typeface="Arial" pitchFamily="34" charset="0"/>
                <a:ea typeface="Arial" pitchFamily="34" charset="-122"/>
                <a:cs typeface="Arial" pitchFamily="34" charset="-120"/>
              </a:rPr>
              <a:t>+5.30%</a:t>
            </a:r>
            <a:endParaRPr lang="en-US" sz="1100" dirty="0"/>
          </a:p>
        </p:txBody>
      </p:sp>
      <p:sp>
        <p:nvSpPr>
          <p:cNvPr id="39" name="Text 37"/>
          <p:cNvSpPr/>
          <p:nvPr/>
        </p:nvSpPr>
        <p:spPr>
          <a:xfrm>
            <a:off x="5961888" y="4617720"/>
            <a:ext cx="685800" cy="219456"/>
          </a:xfrm>
          <a:prstGeom prst="rect">
            <a:avLst/>
          </a:prstGeom>
          <a:noFill/>
          <a:ln/>
        </p:spPr>
        <p:txBody>
          <a:bodyPr wrap="square" lIns="0" tIns="0" rIns="0" bIns="0" rtlCol="0" anchor="ctr">
            <a:normAutofit/>
          </a:bodyPr>
          <a:lstStyle/>
          <a:p>
            <a:pPr algn="l" indent="0" marL="0">
              <a:buNone/>
            </a:pPr>
            <a:r>
              <a:rPr lang="en-US" sz="1050" b="1" dirty="0">
                <a:solidFill>
                  <a:srgbClr val="068A95"/>
                </a:solidFill>
                <a:latin typeface="Arial" pitchFamily="34" charset="0"/>
                <a:ea typeface="Arial" pitchFamily="34" charset="-122"/>
                <a:cs typeface="Arial" pitchFamily="34" charset="-120"/>
              </a:rPr>
              <a:t>EDGE</a:t>
            </a:r>
            <a:endParaRPr lang="en-US" sz="1050" dirty="0"/>
          </a:p>
        </p:txBody>
      </p:sp>
      <p:sp>
        <p:nvSpPr>
          <p:cNvPr id="40" name="Text 38"/>
          <p:cNvSpPr/>
          <p:nvPr/>
        </p:nvSpPr>
        <p:spPr>
          <a:xfrm>
            <a:off x="6766560" y="4617720"/>
            <a:ext cx="1188720" cy="219456"/>
          </a:xfrm>
          <a:prstGeom prst="rect">
            <a:avLst/>
          </a:prstGeom>
          <a:noFill/>
          <a:ln/>
        </p:spPr>
        <p:txBody>
          <a:bodyPr wrap="square" lIns="0" tIns="0" rIns="0" bIns="0" rtlCol="0" anchor="ctr">
            <a:normAutofit/>
          </a:bodyPr>
          <a:lstStyle/>
          <a:p>
            <a:pPr algn="l" indent="0" marL="0">
              <a:buNone/>
            </a:pPr>
            <a:r>
              <a:rPr lang="en-US" sz="980" dirty="0">
                <a:solidFill>
                  <a:srgbClr val="20313F"/>
                </a:solidFill>
                <a:latin typeface="Arial" pitchFamily="34" charset="0"/>
                <a:ea typeface="Arial" pitchFamily="34" charset="-122"/>
                <a:cs typeface="Arial" pitchFamily="34" charset="-120"/>
              </a:rPr>
              <a:t>Signed</a:t>
            </a:r>
            <a:endParaRPr lang="en-US" sz="980" dirty="0"/>
          </a:p>
        </p:txBody>
      </p:sp>
      <p:sp>
        <p:nvSpPr>
          <p:cNvPr id="41" name="Text 39"/>
          <p:cNvSpPr/>
          <p:nvPr/>
        </p:nvSpPr>
        <p:spPr>
          <a:xfrm>
            <a:off x="8110728" y="4617720"/>
            <a:ext cx="960120" cy="219456"/>
          </a:xfrm>
          <a:prstGeom prst="rect">
            <a:avLst/>
          </a:prstGeom>
          <a:noFill/>
          <a:ln/>
        </p:spPr>
        <p:txBody>
          <a:bodyPr wrap="square" lIns="0" tIns="0" rIns="0" bIns="0" rtlCol="0" anchor="ctr">
            <a:normAutofit/>
          </a:bodyPr>
          <a:lstStyle/>
          <a:p>
            <a:pPr algn="r" indent="0" marL="0">
              <a:buNone/>
            </a:pPr>
            <a:r>
              <a:rPr lang="en-US" sz="1100" b="1" dirty="0">
                <a:solidFill>
                  <a:srgbClr val="C8902F"/>
                </a:solidFill>
                <a:latin typeface="Arial" pitchFamily="34" charset="0"/>
                <a:ea typeface="Arial" pitchFamily="34" charset="-122"/>
                <a:cs typeface="Arial" pitchFamily="34" charset="-120"/>
              </a:rPr>
              <a:t>+2.68%</a:t>
            </a:r>
            <a:endParaRPr lang="en-US" sz="1100" dirty="0"/>
          </a:p>
        </p:txBody>
      </p:sp>
      <p:sp>
        <p:nvSpPr>
          <p:cNvPr id="42" name="Shape 40"/>
          <p:cNvSpPr/>
          <p:nvPr/>
        </p:nvSpPr>
        <p:spPr>
          <a:xfrm>
            <a:off x="932688" y="5413248"/>
            <a:ext cx="10287000" cy="603504"/>
          </a:xfrm>
          <a:prstGeom prst="roundRect">
            <a:avLst>
              <a:gd name="adj" fmla="val 9091"/>
            </a:avLst>
          </a:prstGeom>
          <a:solidFill>
            <a:srgbClr val="F5F7F8"/>
          </a:solidFill>
          <a:ln w="12700">
            <a:solidFill>
              <a:srgbClr val="D9E0E5"/>
            </a:solidFill>
            <a:prstDash val="solid"/>
          </a:ln>
        </p:spPr>
      </p:sp>
      <p:sp>
        <p:nvSpPr>
          <p:cNvPr id="43" name="Text 41"/>
          <p:cNvSpPr/>
          <p:nvPr/>
        </p:nvSpPr>
        <p:spPr>
          <a:xfrm>
            <a:off x="1143000" y="5577840"/>
            <a:ext cx="9875520" cy="256032"/>
          </a:xfrm>
          <a:prstGeom prst="rect">
            <a:avLst/>
          </a:prstGeom>
          <a:noFill/>
          <a:ln/>
        </p:spPr>
        <p:txBody>
          <a:bodyPr wrap="square" lIns="0" tIns="0" rIns="0" bIns="0" rtlCol="0" anchor="ctr">
            <a:normAutofit/>
          </a:bodyPr>
          <a:lstStyle/>
          <a:p>
            <a:pPr algn="ctr" indent="0" marL="0">
              <a:buNone/>
            </a:pPr>
            <a:r>
              <a:rPr lang="en-US" sz="1220" b="1" dirty="0">
                <a:solidFill>
                  <a:srgbClr val="0B2A45"/>
                </a:solidFill>
                <a:latin typeface="Arial" pitchFamily="34" charset="0"/>
                <a:ea typeface="Arial" pitchFamily="34" charset="-122"/>
                <a:cs typeface="Arial" pitchFamily="34" charset="-120"/>
              </a:rPr>
              <a:t>Lagged features retain substantial predictability: temporal persistence limits a strong exact-same-day interpretation.</a:t>
            </a:r>
            <a:endParaRPr lang="en-US" sz="122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393192" y="219456"/>
            <a:ext cx="6583680" cy="201168"/>
          </a:xfrm>
          <a:prstGeom prst="rect">
            <a:avLst/>
          </a:prstGeom>
          <a:noFill/>
          <a:ln/>
        </p:spPr>
        <p:txBody>
          <a:bodyPr wrap="square" lIns="0" tIns="0" rIns="0" bIns="0" rtlCol="0" anchor="ctr"/>
          <a:lstStyle/>
          <a:p>
            <a:pPr indent="0" marL="0">
              <a:buNone/>
            </a:pPr>
            <a:r>
              <a:rPr lang="en-US" sz="830" b="1" spc="70" kern="0" dirty="0">
                <a:solidFill>
                  <a:srgbClr val="068A95"/>
                </a:solidFill>
                <a:latin typeface="Arial" pitchFamily="34" charset="0"/>
                <a:ea typeface="Arial" pitchFamily="34" charset="-122"/>
                <a:cs typeface="Arial" pitchFamily="34" charset="-120"/>
              </a:rPr>
              <a:t>APPENDIX · A8</a:t>
            </a:r>
            <a:endParaRPr lang="en-US" sz="830" dirty="0"/>
          </a:p>
        </p:txBody>
      </p:sp>
      <p:sp>
        <p:nvSpPr>
          <p:cNvPr id="3" name="Text 1"/>
          <p:cNvSpPr/>
          <p:nvPr/>
        </p:nvSpPr>
        <p:spPr>
          <a:xfrm>
            <a:off x="393192" y="438912"/>
            <a:ext cx="11018520" cy="475488"/>
          </a:xfrm>
          <a:prstGeom prst="rect">
            <a:avLst/>
          </a:prstGeom>
          <a:noFill/>
          <a:ln/>
        </p:spPr>
        <p:txBody>
          <a:bodyPr wrap="square" lIns="0" tIns="0" rIns="0" bIns="0" rtlCol="0" anchor="ctr">
            <a:normAutofit/>
          </a:bodyPr>
          <a:lstStyle/>
          <a:p>
            <a:pPr indent="0" marL="0">
              <a:buNone/>
            </a:pPr>
            <a:r>
              <a:rPr lang="en-US" sz="2550" b="1" dirty="0">
                <a:solidFill>
                  <a:srgbClr val="0B2A45"/>
                </a:solidFill>
                <a:latin typeface="Arial" pitchFamily="34" charset="0"/>
                <a:ea typeface="Arial" pitchFamily="34" charset="-122"/>
                <a:cs typeface="Arial" pitchFamily="34" charset="-120"/>
              </a:rPr>
              <a:t>Source and calendar limitations</a:t>
            </a:r>
            <a:endParaRPr lang="en-US" sz="2550" dirty="0"/>
          </a:p>
        </p:txBody>
      </p:sp>
      <p:sp>
        <p:nvSpPr>
          <p:cNvPr id="4" name="Text 2"/>
          <p:cNvSpPr/>
          <p:nvPr/>
        </p:nvSpPr>
        <p:spPr>
          <a:xfrm>
            <a:off x="402336" y="950976"/>
            <a:ext cx="10835640" cy="292608"/>
          </a:xfrm>
          <a:prstGeom prst="rect">
            <a:avLst/>
          </a:prstGeom>
          <a:noFill/>
          <a:ln/>
        </p:spPr>
        <p:txBody>
          <a:bodyPr wrap="square" lIns="0" tIns="0" rIns="0" bIns="0" rtlCol="0" anchor="ctr">
            <a:normAutofit/>
          </a:bodyPr>
          <a:lstStyle/>
          <a:p>
            <a:pPr indent="0" marL="0">
              <a:buNone/>
            </a:pPr>
            <a:r>
              <a:rPr lang="en-US" sz="1070" dirty="0">
                <a:solidFill>
                  <a:srgbClr val="6F7E89"/>
                </a:solidFill>
                <a:latin typeface="Arial" pitchFamily="34" charset="0"/>
                <a:ea typeface="Arial" pitchFamily="34" charset="-122"/>
                <a:cs typeface="Arial" pitchFamily="34" charset="-120"/>
              </a:rPr>
              <a:t>The evidence is intentionally bounded by what the data can support</a:t>
            </a:r>
            <a:endParaRPr lang="en-US" sz="1070" dirty="0"/>
          </a:p>
        </p:txBody>
      </p:sp>
      <p:sp>
        <p:nvSpPr>
          <p:cNvPr id="5" name="Text 3"/>
          <p:cNvSpPr/>
          <p:nvPr/>
        </p:nvSpPr>
        <p:spPr>
          <a:xfrm>
            <a:off x="640080" y="1417320"/>
            <a:ext cx="1828800" cy="164592"/>
          </a:xfrm>
          <a:prstGeom prst="rect">
            <a:avLst/>
          </a:prstGeom>
          <a:noFill/>
          <a:ln/>
        </p:spPr>
        <p:txBody>
          <a:bodyPr wrap="square" lIns="0" tIns="0" rIns="0" bIns="0" rtlCol="0" anchor="ctr">
            <a:normAutofit/>
          </a:bodyPr>
          <a:lstStyle/>
          <a:p>
            <a:pPr algn="l" indent="0" marL="0">
              <a:buNone/>
            </a:pPr>
            <a:r>
              <a:rPr lang="en-US" sz="750" b="1" dirty="0">
                <a:solidFill>
                  <a:srgbClr val="068A95"/>
                </a:solidFill>
                <a:latin typeface="Arial" pitchFamily="34" charset="0"/>
                <a:ea typeface="Arial" pitchFamily="34" charset="-122"/>
                <a:cs typeface="Arial" pitchFamily="34" charset="-120"/>
              </a:rPr>
              <a:t>PRIMARY CALENDARS</a:t>
            </a:r>
            <a:endParaRPr lang="en-US" sz="750" dirty="0"/>
          </a:p>
        </p:txBody>
      </p:sp>
      <p:sp>
        <p:nvSpPr>
          <p:cNvPr id="6" name="Shape 4"/>
          <p:cNvSpPr/>
          <p:nvPr/>
        </p:nvSpPr>
        <p:spPr>
          <a:xfrm>
            <a:off x="658368" y="1737360"/>
            <a:ext cx="4370832" cy="438912"/>
          </a:xfrm>
          <a:prstGeom prst="roundRect">
            <a:avLst>
              <a:gd name="adj" fmla="val 12500"/>
            </a:avLst>
          </a:prstGeom>
          <a:solidFill>
            <a:srgbClr val="F1F5F7"/>
          </a:solidFill>
          <a:ln w="12700">
            <a:solidFill>
              <a:srgbClr val="DDE4E8"/>
            </a:solidFill>
            <a:prstDash val="solid"/>
          </a:ln>
        </p:spPr>
      </p:sp>
      <p:sp>
        <p:nvSpPr>
          <p:cNvPr id="7" name="Text 5"/>
          <p:cNvSpPr/>
          <p:nvPr/>
        </p:nvSpPr>
        <p:spPr>
          <a:xfrm>
            <a:off x="804672" y="1837944"/>
            <a:ext cx="960120" cy="182880"/>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Stocks</a:t>
            </a:r>
            <a:endParaRPr lang="en-US" sz="1020" dirty="0"/>
          </a:p>
        </p:txBody>
      </p:sp>
      <p:sp>
        <p:nvSpPr>
          <p:cNvPr id="8" name="Text 6"/>
          <p:cNvSpPr/>
          <p:nvPr/>
        </p:nvSpPr>
        <p:spPr>
          <a:xfrm>
            <a:off x="1901952" y="1837944"/>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2019-08-01</a:t>
            </a:r>
            <a:endParaRPr lang="en-US" sz="980" dirty="0"/>
          </a:p>
        </p:txBody>
      </p:sp>
      <p:sp>
        <p:nvSpPr>
          <p:cNvPr id="9" name="Text 7"/>
          <p:cNvSpPr/>
          <p:nvPr/>
        </p:nvSpPr>
        <p:spPr>
          <a:xfrm>
            <a:off x="3419856" y="1837944"/>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2025-12-31</a:t>
            </a:r>
            <a:endParaRPr lang="en-US" sz="980" dirty="0"/>
          </a:p>
        </p:txBody>
      </p:sp>
      <p:sp>
        <p:nvSpPr>
          <p:cNvPr id="10" name="Shape 8"/>
          <p:cNvSpPr/>
          <p:nvPr/>
        </p:nvSpPr>
        <p:spPr>
          <a:xfrm>
            <a:off x="658368" y="2267712"/>
            <a:ext cx="4370832" cy="438912"/>
          </a:xfrm>
          <a:prstGeom prst="roundRect">
            <a:avLst>
              <a:gd name="adj" fmla="val 12500"/>
            </a:avLst>
          </a:prstGeom>
          <a:solidFill>
            <a:srgbClr val="FBFCFD"/>
          </a:solidFill>
          <a:ln w="12700">
            <a:solidFill>
              <a:srgbClr val="DDE4E8"/>
            </a:solidFill>
            <a:prstDash val="solid"/>
          </a:ln>
        </p:spPr>
      </p:sp>
      <p:sp>
        <p:nvSpPr>
          <p:cNvPr id="11" name="Text 9"/>
          <p:cNvSpPr/>
          <p:nvPr/>
        </p:nvSpPr>
        <p:spPr>
          <a:xfrm>
            <a:off x="804672" y="2368296"/>
            <a:ext cx="960120" cy="182880"/>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ETFs</a:t>
            </a:r>
            <a:endParaRPr lang="en-US" sz="1020" dirty="0"/>
          </a:p>
        </p:txBody>
      </p:sp>
      <p:sp>
        <p:nvSpPr>
          <p:cNvPr id="12" name="Text 10"/>
          <p:cNvSpPr/>
          <p:nvPr/>
        </p:nvSpPr>
        <p:spPr>
          <a:xfrm>
            <a:off x="1901952" y="2368296"/>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2020-09-15</a:t>
            </a:r>
            <a:endParaRPr lang="en-US" sz="980" dirty="0"/>
          </a:p>
        </p:txBody>
      </p:sp>
      <p:sp>
        <p:nvSpPr>
          <p:cNvPr id="13" name="Text 11"/>
          <p:cNvSpPr/>
          <p:nvPr/>
        </p:nvSpPr>
        <p:spPr>
          <a:xfrm>
            <a:off x="3419856" y="2368296"/>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2025-12-31</a:t>
            </a:r>
            <a:endParaRPr lang="en-US" sz="980" dirty="0"/>
          </a:p>
        </p:txBody>
      </p:sp>
      <p:sp>
        <p:nvSpPr>
          <p:cNvPr id="14" name="Shape 12"/>
          <p:cNvSpPr/>
          <p:nvPr/>
        </p:nvSpPr>
        <p:spPr>
          <a:xfrm>
            <a:off x="658368" y="2798064"/>
            <a:ext cx="4370832" cy="438912"/>
          </a:xfrm>
          <a:prstGeom prst="roundRect">
            <a:avLst>
              <a:gd name="adj" fmla="val 12500"/>
            </a:avLst>
          </a:prstGeom>
          <a:solidFill>
            <a:srgbClr val="F1F5F7"/>
          </a:solidFill>
          <a:ln w="12700">
            <a:solidFill>
              <a:srgbClr val="DDE4E8"/>
            </a:solidFill>
            <a:prstDash val="solid"/>
          </a:ln>
        </p:spPr>
      </p:sp>
      <p:sp>
        <p:nvSpPr>
          <p:cNvPr id="15" name="Text 13"/>
          <p:cNvSpPr/>
          <p:nvPr/>
        </p:nvSpPr>
        <p:spPr>
          <a:xfrm>
            <a:off x="804672" y="2898648"/>
            <a:ext cx="960120" cy="182880"/>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Futures</a:t>
            </a:r>
            <a:endParaRPr lang="en-US" sz="1020" dirty="0"/>
          </a:p>
        </p:txBody>
      </p:sp>
      <p:sp>
        <p:nvSpPr>
          <p:cNvPr id="16" name="Text 14"/>
          <p:cNvSpPr/>
          <p:nvPr/>
        </p:nvSpPr>
        <p:spPr>
          <a:xfrm>
            <a:off x="1901952" y="2898648"/>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2024-01-02</a:t>
            </a:r>
            <a:endParaRPr lang="en-US" sz="980" dirty="0"/>
          </a:p>
        </p:txBody>
      </p:sp>
      <p:sp>
        <p:nvSpPr>
          <p:cNvPr id="17" name="Text 15"/>
          <p:cNvSpPr/>
          <p:nvPr/>
        </p:nvSpPr>
        <p:spPr>
          <a:xfrm>
            <a:off x="3419856" y="2898648"/>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2024-12-31</a:t>
            </a:r>
            <a:endParaRPr lang="en-US" sz="980" dirty="0"/>
          </a:p>
        </p:txBody>
      </p:sp>
      <p:sp>
        <p:nvSpPr>
          <p:cNvPr id="18" name="Shape 16"/>
          <p:cNvSpPr/>
          <p:nvPr/>
        </p:nvSpPr>
        <p:spPr>
          <a:xfrm>
            <a:off x="658368" y="3328416"/>
            <a:ext cx="4370832" cy="438912"/>
          </a:xfrm>
          <a:prstGeom prst="roundRect">
            <a:avLst>
              <a:gd name="adj" fmla="val 12500"/>
            </a:avLst>
          </a:prstGeom>
          <a:solidFill>
            <a:srgbClr val="FBFCFD"/>
          </a:solidFill>
          <a:ln w="12700">
            <a:solidFill>
              <a:srgbClr val="DDE4E8"/>
            </a:solidFill>
            <a:prstDash val="solid"/>
          </a:ln>
        </p:spPr>
      </p:sp>
      <p:sp>
        <p:nvSpPr>
          <p:cNvPr id="19" name="Text 17"/>
          <p:cNvSpPr/>
          <p:nvPr/>
        </p:nvSpPr>
        <p:spPr>
          <a:xfrm>
            <a:off x="804672" y="3429000"/>
            <a:ext cx="960120" cy="182880"/>
          </a:xfrm>
          <a:prstGeom prst="rect">
            <a:avLst/>
          </a:prstGeom>
          <a:noFill/>
          <a:ln/>
        </p:spPr>
        <p:txBody>
          <a:bodyPr wrap="square" lIns="0" tIns="0" rIns="0" bIns="0" rtlCol="0" anchor="ctr">
            <a:normAutofit/>
          </a:bodyPr>
          <a:lstStyle/>
          <a:p>
            <a:pPr algn="l" indent="0" marL="0">
              <a:buNone/>
            </a:pPr>
            <a:r>
              <a:rPr lang="en-US" sz="1020" b="1" dirty="0">
                <a:solidFill>
                  <a:srgbClr val="0B2A45"/>
                </a:solidFill>
                <a:latin typeface="Arial" pitchFamily="34" charset="0"/>
                <a:ea typeface="Arial" pitchFamily="34" charset="-122"/>
                <a:cs typeface="Arial" pitchFamily="34" charset="-120"/>
              </a:rPr>
              <a:t>Crypto</a:t>
            </a:r>
            <a:endParaRPr lang="en-US" sz="1020" dirty="0"/>
          </a:p>
        </p:txBody>
      </p:sp>
      <p:sp>
        <p:nvSpPr>
          <p:cNvPr id="20" name="Text 18"/>
          <p:cNvSpPr/>
          <p:nvPr/>
        </p:nvSpPr>
        <p:spPr>
          <a:xfrm>
            <a:off x="1901952" y="3429000"/>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2022-02-01</a:t>
            </a:r>
            <a:endParaRPr lang="en-US" sz="980" dirty="0"/>
          </a:p>
        </p:txBody>
      </p:sp>
      <p:sp>
        <p:nvSpPr>
          <p:cNvPr id="21" name="Text 19"/>
          <p:cNvSpPr/>
          <p:nvPr/>
        </p:nvSpPr>
        <p:spPr>
          <a:xfrm>
            <a:off x="3419856" y="3429000"/>
            <a:ext cx="1371600" cy="182880"/>
          </a:xfrm>
          <a:prstGeom prst="rect">
            <a:avLst/>
          </a:prstGeom>
          <a:noFill/>
          <a:ln/>
        </p:spPr>
        <p:txBody>
          <a:bodyPr wrap="square" lIns="0" tIns="0" rIns="0" bIns="0" rtlCol="0" anchor="ctr">
            <a:normAutofit/>
          </a:bodyPr>
          <a:lstStyle/>
          <a:p>
            <a:pPr algn="ctr" indent="0" marL="0">
              <a:buNone/>
            </a:pPr>
            <a:r>
              <a:rPr lang="en-US" sz="980" dirty="0">
                <a:solidFill>
                  <a:srgbClr val="20313F"/>
                </a:solidFill>
                <a:latin typeface="Arial" pitchFamily="34" charset="0"/>
                <a:ea typeface="Arial" pitchFamily="34" charset="-122"/>
                <a:cs typeface="Arial" pitchFamily="34" charset="-120"/>
              </a:rPr>
              <a:t>2025-12-31</a:t>
            </a:r>
            <a:endParaRPr lang="en-US" sz="980" dirty="0"/>
          </a:p>
        </p:txBody>
      </p:sp>
      <p:sp>
        <p:nvSpPr>
          <p:cNvPr id="22" name="Shape 20"/>
          <p:cNvSpPr/>
          <p:nvPr/>
        </p:nvSpPr>
        <p:spPr>
          <a:xfrm>
            <a:off x="5413248" y="1417320"/>
            <a:ext cx="0" cy="4270248"/>
          </a:xfrm>
          <a:prstGeom prst="line">
            <a:avLst/>
          </a:prstGeom>
          <a:noFill/>
          <a:ln w="12700">
            <a:solidFill>
              <a:srgbClr val="D9E0E5"/>
            </a:solidFill>
            <a:prstDash val="solid"/>
          </a:ln>
        </p:spPr>
      </p:sp>
      <p:sp>
        <p:nvSpPr>
          <p:cNvPr id="23" name="Text 21"/>
          <p:cNvSpPr/>
          <p:nvPr/>
        </p:nvSpPr>
        <p:spPr>
          <a:xfrm>
            <a:off x="5797296" y="1417320"/>
            <a:ext cx="2560320" cy="164592"/>
          </a:xfrm>
          <a:prstGeom prst="rect">
            <a:avLst/>
          </a:prstGeom>
          <a:noFill/>
          <a:ln/>
        </p:spPr>
        <p:txBody>
          <a:bodyPr wrap="square" lIns="0" tIns="0" rIns="0" bIns="0" rtlCol="0" anchor="ctr">
            <a:normAutofit/>
          </a:bodyPr>
          <a:lstStyle/>
          <a:p>
            <a:pPr algn="l" indent="0" marL="0">
              <a:buNone/>
            </a:pPr>
            <a:r>
              <a:rPr lang="en-US" sz="750" b="1" dirty="0">
                <a:solidFill>
                  <a:srgbClr val="C8902F"/>
                </a:solidFill>
                <a:latin typeface="Arial" pitchFamily="34" charset="0"/>
                <a:ea typeface="Arial" pitchFamily="34" charset="-122"/>
                <a:cs typeface="Arial" pitchFamily="34" charset="-120"/>
              </a:rPr>
              <a:t>SOURCE / INTERPRETATION LIMITS</a:t>
            </a:r>
            <a:endParaRPr lang="en-US" sz="750" dirty="0"/>
          </a:p>
        </p:txBody>
      </p:sp>
      <p:sp>
        <p:nvSpPr>
          <p:cNvPr id="24" name="Text 22"/>
          <p:cNvSpPr/>
          <p:nvPr/>
        </p:nvSpPr>
        <p:spPr>
          <a:xfrm>
            <a:off x="5769864" y="1719072"/>
            <a:ext cx="5303520" cy="4050792"/>
          </a:xfrm>
          <a:prstGeom prst="rect">
            <a:avLst/>
          </a:prstGeom>
          <a:noFill/>
          <a:ln/>
        </p:spPr>
        <p:txBody>
          <a:bodyPr wrap="square" lIns="254" tIns="254" rIns="254" bIns="254" rtlCol="0" anchor="ctr">
            <a:normAutofit/>
          </a:bodyPr>
          <a:lstStyle/>
          <a:p>
            <a:pPr marL="152400" indent="-152400">
              <a:buSzPct val="100000"/>
              <a:buChar char="•"/>
            </a:pPr>
            <a:r>
              <a:rPr lang="en-US" sz="930" dirty="0">
                <a:solidFill>
                  <a:srgbClr val="20313F"/>
                </a:solidFill>
                <a:latin typeface="Arial" pitchFamily="34" charset="0"/>
                <a:ea typeface="Arial" pitchFamily="34" charset="-122"/>
                <a:cs typeface="Arial" pitchFamily="34" charset="-120"/>
              </a:rPr>
              <a:t>Bloomberg adjusted OHLC for stock/ETF estimates; First Rate minute benchmark. Abnormal-dividend setting remains UNKNOWN.</a:t>
            </a:r>
            <a:endParaRPr lang="en-US" sz="930" dirty="0"/>
          </a:p>
          <a:p>
            <a:pPr marL="152400" indent="-152400">
              <a:buSzPct val="100000"/>
              <a:buChar char="•"/>
            </a:pPr>
            <a:r>
              <a:rPr lang="en-US" sz="930" dirty="0">
                <a:solidFill>
                  <a:srgbClr val="20313F"/>
                </a:solidFill>
                <a:latin typeface="Arial" pitchFamily="34" charset="0"/>
                <a:ea typeface="Arial" pitchFamily="34" charset="-122"/>
                <a:cs typeface="Arial" pitchFamily="34" charset="-120"/>
              </a:rPr>
              <a:t>Futures use individual unadjusted contracts; no continuous / back-adjusted substitution.</a:t>
            </a:r>
            <a:endParaRPr lang="en-US" sz="930" dirty="0"/>
          </a:p>
          <a:p>
            <a:pPr marL="152400" indent="-152400">
              <a:buSzPct val="100000"/>
              <a:buChar char="•"/>
            </a:pPr>
            <a:r>
              <a:rPr lang="en-US" sz="930" dirty="0">
                <a:solidFill>
                  <a:srgbClr val="20313F"/>
                </a:solidFill>
                <a:latin typeface="Arial" pitchFamily="34" charset="0"/>
                <a:ea typeface="Arial" pitchFamily="34" charset="-122"/>
                <a:cs typeface="Arial" pitchFamily="34" charset="-120"/>
              </a:rPr>
              <a:t>Crypto and futures share minute sources between daily OHLC and Roll; crypto formal quote currency remains UNKNOWN.</a:t>
            </a:r>
            <a:endParaRPr lang="en-US" sz="930" dirty="0"/>
          </a:p>
          <a:p>
            <a:pPr marL="152400" indent="-152400">
              <a:buSzPct val="100000"/>
              <a:buChar char="•"/>
            </a:pPr>
            <a:r>
              <a:rPr lang="en-US" sz="930" dirty="0">
                <a:solidFill>
                  <a:srgbClr val="20313F"/>
                </a:solidFill>
                <a:latin typeface="Arial" pitchFamily="34" charset="0"/>
                <a:ea typeface="Arial" pitchFamily="34" charset="-122"/>
                <a:cs typeface="Arial" pitchFamily="34" charset="-120"/>
              </a:rPr>
              <a:t>Liquidity tiers use 2024 turnover, creating look-ahead classification for earlier dates; futures evidence is 2024 only.</a:t>
            </a:r>
            <a:endParaRPr lang="en-US" sz="930" dirty="0"/>
          </a:p>
          <a:p>
            <a:pPr marL="152400" indent="-152400">
              <a:buSzPct val="100000"/>
              <a:buChar char="•"/>
            </a:pPr>
            <a:r>
              <a:rPr lang="en-US" sz="930" dirty="0">
                <a:solidFill>
                  <a:srgbClr val="20313F"/>
                </a:solidFill>
                <a:latin typeface="Arial" pitchFamily="34" charset="0"/>
                <a:ea typeface="Arial" pitchFamily="34" charset="-122"/>
                <a:cs typeface="Arial" pitchFamily="34" charset="-120"/>
              </a:rPr>
              <a:t>IMDX continuity remains uncertified; FX official access remained blocked with no substitute.</a:t>
            </a:r>
            <a:endParaRPr lang="en-US" sz="930" dirty="0"/>
          </a:p>
          <a:p>
            <a:pPr marL="152400" indent="-152400">
              <a:buSzPct val="100000"/>
              <a:buChar char="•"/>
            </a:pPr>
            <a:r>
              <a:rPr lang="en-US" sz="930" dirty="0">
                <a:solidFill>
                  <a:srgbClr val="20313F"/>
                </a:solidFill>
                <a:latin typeface="Arial" pitchFamily="34" charset="0"/>
                <a:ea typeface="Arial" pitchFamily="34" charset="-122"/>
                <a:cs typeface="Arial" pitchFamily="34" charset="-120"/>
              </a:rPr>
              <a:t>Roll is a proxy; common-defined conditioning selects observations. MAE/RMSE ranks are descriptive; HAC only for bias.</a:t>
            </a:r>
            <a:endParaRPr lang="en-US" sz="930" dirty="0"/>
          </a:p>
        </p:txBody>
      </p:sp>
      <p:sp>
        <p:nvSpPr>
          <p:cNvPr id="25" name="Shape 23"/>
          <p:cNvSpPr/>
          <p:nvPr/>
        </p:nvSpPr>
        <p:spPr>
          <a:xfrm>
            <a:off x="804672" y="4690872"/>
            <a:ext cx="4069080" cy="822960"/>
          </a:xfrm>
          <a:prstGeom prst="roundRect">
            <a:avLst>
              <a:gd name="adj" fmla="val 6667"/>
            </a:avLst>
          </a:prstGeom>
          <a:solidFill>
            <a:srgbClr val="F7EEDB"/>
          </a:solidFill>
          <a:ln w="12700">
            <a:solidFill>
              <a:srgbClr val="F7EEDB"/>
            </a:solidFill>
            <a:prstDash val="solid"/>
          </a:ln>
        </p:spPr>
      </p:sp>
      <p:sp>
        <p:nvSpPr>
          <p:cNvPr id="26" name="Text 24"/>
          <p:cNvSpPr/>
          <p:nvPr/>
        </p:nvSpPr>
        <p:spPr>
          <a:xfrm>
            <a:off x="1033272" y="4901184"/>
            <a:ext cx="3611880" cy="384048"/>
          </a:xfrm>
          <a:prstGeom prst="rect">
            <a:avLst/>
          </a:prstGeom>
          <a:noFill/>
          <a:ln/>
        </p:spPr>
        <p:txBody>
          <a:bodyPr wrap="square" lIns="0" tIns="0" rIns="0" bIns="0" rtlCol="0" anchor="ctr">
            <a:normAutofit/>
          </a:bodyPr>
          <a:lstStyle/>
          <a:p>
            <a:pPr algn="ctr" indent="0" marL="0">
              <a:buNone/>
            </a:pPr>
            <a:r>
              <a:rPr lang="en-US" sz="1160" b="1" dirty="0">
                <a:solidFill>
                  <a:srgbClr val="75551E"/>
                </a:solidFill>
                <a:latin typeface="Arial" pitchFamily="34" charset="0"/>
                <a:ea typeface="Arial" pitchFamily="34" charset="-122"/>
                <a:cs typeface="Arial" pitchFamily="34" charset="-120"/>
              </a:rPr>
              <a:t>Not a balanced all-class historical panel.</a:t>
            </a:r>
            <a:endParaRPr lang="en-US" sz="1160" dirty="0"/>
          </a:p>
          <a:p>
            <a:pPr algn="ctr" indent="0" marL="0">
              <a:buNone/>
            </a:pPr>
            <a:r>
              <a:rPr lang="en-US" sz="1160" b="1" dirty="0">
                <a:solidFill>
                  <a:srgbClr val="75551E"/>
                </a:solidFill>
                <a:latin typeface="Arial" pitchFamily="34" charset="0"/>
                <a:ea typeface="Arial" pitchFamily="34" charset="-122"/>
                <a:cs typeface="Arial" pitchFamily="34" charset="-120"/>
              </a:rPr>
              <a:t>Not a claim about true execution cost.</a:t>
            </a:r>
            <a:endParaRPr lang="en-US" sz="1160" dirty="0"/>
          </a:p>
        </p:txBody>
      </p:sp>
      <p:sp>
        <p:nvSpPr>
          <p:cNvPr id="25" name="Slide Number Placeholder 0"/>
          <p:cNvSpPr>
            <a:spLocks noGrp="1"/>
          </p:cNvSpPr>
          <p:nvPr>
            <p:ph type="sldNum" sz="quarter" idx="4294967295"/>
          </p:nvPr>
        </p:nvSpPr>
        <p:spPr>
          <a:xfrm>
            <a:off x="1147572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993"/>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MMF 1941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Daily OHLC Spread Estimator Tracks Realized Intraday Cost?</dc:title>
  <dc:subject>MMF 1941 Project 1 — Daily OHLC spread estimators</dc:subject>
  <dc:creator>Jaime Corzo Galdó</dc:creator>
  <cp:lastModifiedBy>Jaime Corzo Galdó</cp:lastModifiedBy>
  <cp:revision>1</cp:revision>
  <dcterms:created xsi:type="dcterms:W3CDTF">2026-10-17T23:37:57Z</dcterms:created>
  <dcterms:modified xsi:type="dcterms:W3CDTF">2026-10-17T23:37:57Z</dcterms:modified>
</cp:coreProperties>
</file>